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282" r:id="rId2"/>
    <p:sldId id="283" r:id="rId3"/>
    <p:sldId id="271" r:id="rId4"/>
    <p:sldId id="257" r:id="rId5"/>
    <p:sldId id="286" r:id="rId6"/>
    <p:sldId id="268" r:id="rId7"/>
    <p:sldId id="287" r:id="rId8"/>
    <p:sldId id="278" r:id="rId9"/>
    <p:sldId id="279" r:id="rId10"/>
    <p:sldId id="269" r:id="rId11"/>
    <p:sldId id="280" r:id="rId12"/>
    <p:sldId id="281" r:id="rId13"/>
    <p:sldId id="267" r:id="rId14"/>
    <p:sldId id="284"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B66A81-DE15-4244-9D7B-29F7789F3CCF}" v="30" dt="2026-02-01T05:00:19.765"/>
    <p1510:client id="{E72B0747-D9BE-4C96-9488-E0336959CDDA}" v="53" dt="2026-01-31T16:11:47.463"/>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706" autoAdjust="0"/>
  </p:normalViewPr>
  <p:slideViewPr>
    <p:cSldViewPr snapToGrid="0">
      <p:cViewPr varScale="1">
        <p:scale>
          <a:sx n="90" d="100"/>
          <a:sy n="90" d="100"/>
        </p:scale>
        <p:origin x="355" y="82"/>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harika Reddy Gadikota" userId="ea0bf10796d46385" providerId="LiveId" clId="{079FD88E-5E27-4153-9070-4C923D41D05E}"/>
    <pc:docChg chg="custSel addSld delSld modSld sldOrd">
      <pc:chgData name="Neeharika Reddy Gadikota" userId="ea0bf10796d46385" providerId="LiveId" clId="{079FD88E-5E27-4153-9070-4C923D41D05E}" dt="2026-02-01T05:00:35.495" v="206" actId="403"/>
      <pc:docMkLst>
        <pc:docMk/>
      </pc:docMkLst>
      <pc:sldChg chg="modSp mod">
        <pc:chgData name="Neeharika Reddy Gadikota" userId="ea0bf10796d46385" providerId="LiveId" clId="{079FD88E-5E27-4153-9070-4C923D41D05E}" dt="2026-02-01T05:00:35.495" v="206" actId="403"/>
        <pc:sldMkLst>
          <pc:docMk/>
          <pc:sldMk cId="1544302913" sldId="268"/>
        </pc:sldMkLst>
        <pc:spChg chg="mod">
          <ac:chgData name="Neeharika Reddy Gadikota" userId="ea0bf10796d46385" providerId="LiveId" clId="{079FD88E-5E27-4153-9070-4C923D41D05E}" dt="2026-02-01T05:00:35.495" v="206" actId="403"/>
          <ac:spMkLst>
            <pc:docMk/>
            <pc:sldMk cId="1544302913" sldId="268"/>
            <ac:spMk id="3" creationId="{A6A30875-D5F7-88A9-93C2-5C5557B43C4D}"/>
          </ac:spMkLst>
        </pc:spChg>
        <pc:spChg chg="mod">
          <ac:chgData name="Neeharika Reddy Gadikota" userId="ea0bf10796d46385" providerId="LiveId" clId="{079FD88E-5E27-4153-9070-4C923D41D05E}" dt="2026-02-01T04:46:57.926" v="41" actId="1076"/>
          <ac:spMkLst>
            <pc:docMk/>
            <pc:sldMk cId="1544302913" sldId="268"/>
            <ac:spMk id="5" creationId="{7C7FA161-6B19-096D-E6D1-C6A9F5388B17}"/>
          </ac:spMkLst>
        </pc:spChg>
      </pc:sldChg>
      <pc:sldChg chg="del">
        <pc:chgData name="Neeharika Reddy Gadikota" userId="ea0bf10796d46385" providerId="LiveId" clId="{079FD88E-5E27-4153-9070-4C923D41D05E}" dt="2026-02-01T04:50:27.574" v="86" actId="47"/>
        <pc:sldMkLst>
          <pc:docMk/>
          <pc:sldMk cId="1139765438" sldId="272"/>
        </pc:sldMkLst>
      </pc:sldChg>
      <pc:sldChg chg="del">
        <pc:chgData name="Neeharika Reddy Gadikota" userId="ea0bf10796d46385" providerId="LiveId" clId="{079FD88E-5E27-4153-9070-4C923D41D05E}" dt="2026-02-01T04:50:28.788" v="87" actId="47"/>
        <pc:sldMkLst>
          <pc:docMk/>
          <pc:sldMk cId="758291713" sldId="273"/>
        </pc:sldMkLst>
      </pc:sldChg>
      <pc:sldChg chg="del">
        <pc:chgData name="Neeharika Reddy Gadikota" userId="ea0bf10796d46385" providerId="LiveId" clId="{079FD88E-5E27-4153-9070-4C923D41D05E}" dt="2026-02-01T04:47:08.841" v="42" actId="47"/>
        <pc:sldMkLst>
          <pc:docMk/>
          <pc:sldMk cId="1231546646" sldId="274"/>
        </pc:sldMkLst>
      </pc:sldChg>
      <pc:sldChg chg="addSp modSp del mod">
        <pc:chgData name="Neeharika Reddy Gadikota" userId="ea0bf10796d46385" providerId="LiveId" clId="{079FD88E-5E27-4153-9070-4C923D41D05E}" dt="2026-02-01T04:58:30.507" v="196" actId="47"/>
        <pc:sldMkLst>
          <pc:docMk/>
          <pc:sldMk cId="4112308180" sldId="275"/>
        </pc:sldMkLst>
        <pc:spChg chg="mod">
          <ac:chgData name="Neeharika Reddy Gadikota" userId="ea0bf10796d46385" providerId="LiveId" clId="{079FD88E-5E27-4153-9070-4C923D41D05E}" dt="2026-02-01T04:43:18.110" v="9" actId="1076"/>
          <ac:spMkLst>
            <pc:docMk/>
            <pc:sldMk cId="4112308180" sldId="275"/>
            <ac:spMk id="2" creationId="{C60BE602-79F8-6615-1E8A-CFABB61CABA5}"/>
          </ac:spMkLst>
        </pc:spChg>
        <pc:spChg chg="mod">
          <ac:chgData name="Neeharika Reddy Gadikota" userId="ea0bf10796d46385" providerId="LiveId" clId="{079FD88E-5E27-4153-9070-4C923D41D05E}" dt="2026-02-01T04:43:42.576" v="11" actId="1076"/>
          <ac:spMkLst>
            <pc:docMk/>
            <pc:sldMk cId="4112308180" sldId="275"/>
            <ac:spMk id="3" creationId="{1C88BE39-F9D1-6A93-9E7A-9BC80EDBD8F7}"/>
          </ac:spMkLst>
        </pc:spChg>
        <pc:spChg chg="mod">
          <ac:chgData name="Neeharika Reddy Gadikota" userId="ea0bf10796d46385" providerId="LiveId" clId="{079FD88E-5E27-4153-9070-4C923D41D05E}" dt="2026-02-01T04:43:52.445" v="13" actId="14100"/>
          <ac:spMkLst>
            <pc:docMk/>
            <pc:sldMk cId="4112308180" sldId="275"/>
            <ac:spMk id="4" creationId="{BB8E968D-2E0C-0ACD-834F-842F892F346D}"/>
          </ac:spMkLst>
        </pc:spChg>
        <pc:spChg chg="add mod">
          <ac:chgData name="Neeharika Reddy Gadikota" userId="ea0bf10796d46385" providerId="LiveId" clId="{079FD88E-5E27-4153-9070-4C923D41D05E}" dt="2026-02-01T04:45:01.669" v="22" actId="1076"/>
          <ac:spMkLst>
            <pc:docMk/>
            <pc:sldMk cId="4112308180" sldId="275"/>
            <ac:spMk id="5" creationId="{7D1BE21D-D008-9BE6-E4CF-55E7B1CB14F5}"/>
          </ac:spMkLst>
        </pc:spChg>
        <pc:spChg chg="add mod">
          <ac:chgData name="Neeharika Reddy Gadikota" userId="ea0bf10796d46385" providerId="LiveId" clId="{079FD88E-5E27-4153-9070-4C923D41D05E}" dt="2026-02-01T04:44:49.043" v="21" actId="1076"/>
          <ac:spMkLst>
            <pc:docMk/>
            <pc:sldMk cId="4112308180" sldId="275"/>
            <ac:spMk id="6" creationId="{033AC16C-D032-788F-3300-0D225699EC2F}"/>
          </ac:spMkLst>
        </pc:spChg>
      </pc:sldChg>
      <pc:sldChg chg="del">
        <pc:chgData name="Neeharika Reddy Gadikota" userId="ea0bf10796d46385" providerId="LiveId" clId="{079FD88E-5E27-4153-9070-4C923D41D05E}" dt="2026-02-01T04:45:18.133" v="23" actId="47"/>
        <pc:sldMkLst>
          <pc:docMk/>
          <pc:sldMk cId="2810011920" sldId="276"/>
        </pc:sldMkLst>
      </pc:sldChg>
      <pc:sldChg chg="del ord">
        <pc:chgData name="Neeharika Reddy Gadikota" userId="ea0bf10796d46385" providerId="LiveId" clId="{079FD88E-5E27-4153-9070-4C923D41D05E}" dt="2026-02-01T04:58:28.147" v="195" actId="47"/>
        <pc:sldMkLst>
          <pc:docMk/>
          <pc:sldMk cId="3295410627" sldId="277"/>
        </pc:sldMkLst>
      </pc:sldChg>
      <pc:sldChg chg="addSp delSp modSp mod">
        <pc:chgData name="Neeharika Reddy Gadikota" userId="ea0bf10796d46385" providerId="LiveId" clId="{079FD88E-5E27-4153-9070-4C923D41D05E}" dt="2026-02-01T05:00:04.498" v="203" actId="1076"/>
        <pc:sldMkLst>
          <pc:docMk/>
          <pc:sldMk cId="3948678849" sldId="282"/>
        </pc:sldMkLst>
        <pc:spChg chg="add del mod">
          <ac:chgData name="Neeharika Reddy Gadikota" userId="ea0bf10796d46385" providerId="LiveId" clId="{079FD88E-5E27-4153-9070-4C923D41D05E}" dt="2026-02-01T04:59:49.936" v="197" actId="478"/>
          <ac:spMkLst>
            <pc:docMk/>
            <pc:sldMk cId="3948678849" sldId="282"/>
            <ac:spMk id="5" creationId="{344F44F2-C625-15E9-0ED8-5B10E3D86427}"/>
          </ac:spMkLst>
        </pc:spChg>
        <pc:picChg chg="del mod">
          <ac:chgData name="Neeharika Reddy Gadikota" userId="ea0bf10796d46385" providerId="LiveId" clId="{079FD88E-5E27-4153-9070-4C923D41D05E}" dt="2026-02-01T04:59:51.354" v="198" actId="478"/>
          <ac:picMkLst>
            <pc:docMk/>
            <pc:sldMk cId="3948678849" sldId="282"/>
            <ac:picMk id="4" creationId="{9EAADABE-A842-634C-66DD-68423572EB8D}"/>
          </ac:picMkLst>
        </pc:picChg>
        <pc:picChg chg="add mod">
          <ac:chgData name="Neeharika Reddy Gadikota" userId="ea0bf10796d46385" providerId="LiveId" clId="{079FD88E-5E27-4153-9070-4C923D41D05E}" dt="2026-02-01T05:00:04.498" v="203" actId="1076"/>
          <ac:picMkLst>
            <pc:docMk/>
            <pc:sldMk cId="3948678849" sldId="282"/>
            <ac:picMk id="8" creationId="{BE53F2E5-D0FD-9E72-3B81-90D812C20B3E}"/>
          </ac:picMkLst>
        </pc:picChg>
      </pc:sldChg>
      <pc:sldChg chg="new del">
        <pc:chgData name="Neeharika Reddy Gadikota" userId="ea0bf10796d46385" providerId="LiveId" clId="{079FD88E-5E27-4153-9070-4C923D41D05E}" dt="2026-02-01T04:47:40.989" v="44" actId="47"/>
        <pc:sldMkLst>
          <pc:docMk/>
          <pc:sldMk cId="1856504857" sldId="286"/>
        </pc:sldMkLst>
      </pc:sldChg>
      <pc:sldChg chg="addSp modSp new mod ord">
        <pc:chgData name="Neeharika Reddy Gadikota" userId="ea0bf10796d46385" providerId="LiveId" clId="{079FD88E-5E27-4153-9070-4C923D41D05E}" dt="2026-02-01T05:00:17.277" v="204"/>
        <pc:sldMkLst>
          <pc:docMk/>
          <pc:sldMk cId="2934984170" sldId="286"/>
        </pc:sldMkLst>
        <pc:spChg chg="mod">
          <ac:chgData name="Neeharika Reddy Gadikota" userId="ea0bf10796d46385" providerId="LiveId" clId="{079FD88E-5E27-4153-9070-4C923D41D05E}" dt="2026-02-01T04:50:04.773" v="83" actId="1076"/>
          <ac:spMkLst>
            <pc:docMk/>
            <pc:sldMk cId="2934984170" sldId="286"/>
            <ac:spMk id="2" creationId="{E538E585-8883-9EEE-BF5E-2CCAF671C160}"/>
          </ac:spMkLst>
        </pc:spChg>
        <pc:spChg chg="mod">
          <ac:chgData name="Neeharika Reddy Gadikota" userId="ea0bf10796d46385" providerId="LiveId" clId="{079FD88E-5E27-4153-9070-4C923D41D05E}" dt="2026-02-01T04:50:11.499" v="84" actId="1076"/>
          <ac:spMkLst>
            <pc:docMk/>
            <pc:sldMk cId="2934984170" sldId="286"/>
            <ac:spMk id="3" creationId="{631F8E1D-BD30-7073-FF65-3B5536ED2D2D}"/>
          </ac:spMkLst>
        </pc:spChg>
        <pc:spChg chg="mod">
          <ac:chgData name="Neeharika Reddy Gadikota" userId="ea0bf10796d46385" providerId="LiveId" clId="{079FD88E-5E27-4153-9070-4C923D41D05E}" dt="2026-02-01T04:49:41.794" v="79" actId="1076"/>
          <ac:spMkLst>
            <pc:docMk/>
            <pc:sldMk cId="2934984170" sldId="286"/>
            <ac:spMk id="4" creationId="{BBEE734A-D350-EF84-F5D3-74EE15EA4743}"/>
          </ac:spMkLst>
        </pc:spChg>
        <pc:spChg chg="mod">
          <ac:chgData name="Neeharika Reddy Gadikota" userId="ea0bf10796d46385" providerId="LiveId" clId="{079FD88E-5E27-4153-9070-4C923D41D05E}" dt="2026-02-01T04:50:16.933" v="85" actId="1076"/>
          <ac:spMkLst>
            <pc:docMk/>
            <pc:sldMk cId="2934984170" sldId="286"/>
            <ac:spMk id="5" creationId="{1D755FC5-A66E-E3A7-D9CD-3DFC5C9FA36F}"/>
          </ac:spMkLst>
        </pc:spChg>
        <pc:spChg chg="mod">
          <ac:chgData name="Neeharika Reddy Gadikota" userId="ea0bf10796d46385" providerId="LiveId" clId="{079FD88E-5E27-4153-9070-4C923D41D05E}" dt="2026-02-01T04:49:45.336" v="80" actId="1076"/>
          <ac:spMkLst>
            <pc:docMk/>
            <pc:sldMk cId="2934984170" sldId="286"/>
            <ac:spMk id="6" creationId="{027C7EF6-9605-278F-A12B-F9C6EAE2A5AC}"/>
          </ac:spMkLst>
        </pc:spChg>
        <pc:picChg chg="add mod">
          <ac:chgData name="Neeharika Reddy Gadikota" userId="ea0bf10796d46385" providerId="LiveId" clId="{079FD88E-5E27-4153-9070-4C923D41D05E}" dt="2026-02-01T05:00:17.277" v="204"/>
          <ac:picMkLst>
            <pc:docMk/>
            <pc:sldMk cId="2934984170" sldId="286"/>
            <ac:picMk id="7" creationId="{943EE43F-A3BD-42C0-C449-F4E6775F5A40}"/>
          </ac:picMkLst>
        </pc:picChg>
      </pc:sldChg>
      <pc:sldChg chg="addSp delSp modSp new mod">
        <pc:chgData name="Neeharika Reddy Gadikota" userId="ea0bf10796d46385" providerId="LiveId" clId="{079FD88E-5E27-4153-9070-4C923D41D05E}" dt="2026-02-01T05:00:19.755" v="205"/>
        <pc:sldMkLst>
          <pc:docMk/>
          <pc:sldMk cId="3492106835" sldId="287"/>
        </pc:sldMkLst>
        <pc:spChg chg="mod">
          <ac:chgData name="Neeharika Reddy Gadikota" userId="ea0bf10796d46385" providerId="LiveId" clId="{079FD88E-5E27-4153-9070-4C923D41D05E}" dt="2026-02-01T04:56:59.956" v="181" actId="1076"/>
          <ac:spMkLst>
            <pc:docMk/>
            <pc:sldMk cId="3492106835" sldId="287"/>
            <ac:spMk id="2" creationId="{B6DAFC5F-9928-DBD6-5F0E-CC0D13F3ADBF}"/>
          </ac:spMkLst>
        </pc:spChg>
        <pc:spChg chg="mod">
          <ac:chgData name="Neeharika Reddy Gadikota" userId="ea0bf10796d46385" providerId="LiveId" clId="{079FD88E-5E27-4153-9070-4C923D41D05E}" dt="2026-02-01T04:57:07.058" v="182" actId="1076"/>
          <ac:spMkLst>
            <pc:docMk/>
            <pc:sldMk cId="3492106835" sldId="287"/>
            <ac:spMk id="3" creationId="{063E67D4-E454-873E-E8C1-BD82F989EB43}"/>
          </ac:spMkLst>
        </pc:spChg>
        <pc:spChg chg="mod">
          <ac:chgData name="Neeharika Reddy Gadikota" userId="ea0bf10796d46385" providerId="LiveId" clId="{079FD88E-5E27-4153-9070-4C923D41D05E}" dt="2026-02-01T04:58:21.690" v="194" actId="1076"/>
          <ac:spMkLst>
            <pc:docMk/>
            <pc:sldMk cId="3492106835" sldId="287"/>
            <ac:spMk id="4" creationId="{A336F488-2902-63CF-1821-2D42BD57125E}"/>
          </ac:spMkLst>
        </pc:spChg>
        <pc:spChg chg="del">
          <ac:chgData name="Neeharika Reddy Gadikota" userId="ea0bf10796d46385" providerId="LiveId" clId="{079FD88E-5E27-4153-9070-4C923D41D05E}" dt="2026-02-01T04:51:40.090" v="100" actId="478"/>
          <ac:spMkLst>
            <pc:docMk/>
            <pc:sldMk cId="3492106835" sldId="287"/>
            <ac:spMk id="5" creationId="{5EB08CEB-BA38-4A29-01D9-B7B2097E67C5}"/>
          </ac:spMkLst>
        </pc:spChg>
        <pc:spChg chg="del">
          <ac:chgData name="Neeharika Reddy Gadikota" userId="ea0bf10796d46385" providerId="LiveId" clId="{079FD88E-5E27-4153-9070-4C923D41D05E}" dt="2026-02-01T04:51:30.863" v="97" actId="478"/>
          <ac:spMkLst>
            <pc:docMk/>
            <pc:sldMk cId="3492106835" sldId="287"/>
            <ac:spMk id="6" creationId="{39E9DB5F-9A9F-2B75-A6E2-59C530362CB2}"/>
          </ac:spMkLst>
        </pc:spChg>
        <pc:spChg chg="add mod">
          <ac:chgData name="Neeharika Reddy Gadikota" userId="ea0bf10796d46385" providerId="LiveId" clId="{079FD88E-5E27-4153-9070-4C923D41D05E}" dt="2026-02-01T04:57:28.056" v="184" actId="1076"/>
          <ac:spMkLst>
            <pc:docMk/>
            <pc:sldMk cId="3492106835" sldId="287"/>
            <ac:spMk id="7" creationId="{1DF40334-272F-B52D-F041-D71797637BCF}"/>
          </ac:spMkLst>
        </pc:spChg>
        <pc:spChg chg="add mod">
          <ac:chgData name="Neeharika Reddy Gadikota" userId="ea0bf10796d46385" providerId="LiveId" clId="{079FD88E-5E27-4153-9070-4C923D41D05E}" dt="2026-02-01T04:57:33.138" v="185" actId="1076"/>
          <ac:spMkLst>
            <pc:docMk/>
            <pc:sldMk cId="3492106835" sldId="287"/>
            <ac:spMk id="8" creationId="{0031F1EE-EC9C-BD8C-C93D-D5C1767A8949}"/>
          </ac:spMkLst>
        </pc:spChg>
        <pc:spChg chg="add mod">
          <ac:chgData name="Neeharika Reddy Gadikota" userId="ea0bf10796d46385" providerId="LiveId" clId="{079FD88E-5E27-4153-9070-4C923D41D05E}" dt="2026-02-01T04:57:45.367" v="187" actId="1076"/>
          <ac:spMkLst>
            <pc:docMk/>
            <pc:sldMk cId="3492106835" sldId="287"/>
            <ac:spMk id="9" creationId="{497C8C7E-E208-4C0A-EA96-9708D9CAF464}"/>
          </ac:spMkLst>
        </pc:spChg>
        <pc:spChg chg="add mod">
          <ac:chgData name="Neeharika Reddy Gadikota" userId="ea0bf10796d46385" providerId="LiveId" clId="{079FD88E-5E27-4153-9070-4C923D41D05E}" dt="2026-02-01T04:57:51.350" v="188" actId="1076"/>
          <ac:spMkLst>
            <pc:docMk/>
            <pc:sldMk cId="3492106835" sldId="287"/>
            <ac:spMk id="10" creationId="{660125CA-48A1-0759-CC08-968F13D41BE2}"/>
          </ac:spMkLst>
        </pc:spChg>
        <pc:picChg chg="add mod">
          <ac:chgData name="Neeharika Reddy Gadikota" userId="ea0bf10796d46385" providerId="LiveId" clId="{079FD88E-5E27-4153-9070-4C923D41D05E}" dt="2026-02-01T05:00:19.755" v="205"/>
          <ac:picMkLst>
            <pc:docMk/>
            <pc:sldMk cId="3492106835" sldId="287"/>
            <ac:picMk id="11" creationId="{7B6D417C-0927-DFF0-83D4-95C94786F8F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2/2/2026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4</a:t>
            </a:fld>
            <a:endParaRPr lang="en-US"/>
          </a:p>
        </p:txBody>
      </p:sp>
    </p:spTree>
    <p:extLst>
      <p:ext uri="{BB962C8B-B14F-4D97-AF65-F5344CB8AC3E}">
        <p14:creationId xmlns:p14="http://schemas.microsoft.com/office/powerpoint/2010/main" val="198030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F4AF416-3AFB-4E18-B0DB-3624251719C4}" type="datetime1">
              <a:rPr lang="en-US" smtClean="0"/>
              <a:t>2/2/2026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5B15C30F-433D-471E-9547-DB91A4B19DEA}" type="datetime1">
              <a:rPr lang="en-US" smtClean="0"/>
              <a:t>2/2/2026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37B452DC-7C03-4CB8-890C-9A0362D8DF42}" type="datetime1">
              <a:rPr lang="en-US" smtClean="0"/>
              <a:t>2/2/2026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537A35C-0D50-409F-9632-AFE8F0B6B1EA}" type="datetime1">
              <a:rPr lang="en-US" smtClean="0"/>
              <a:t>2/2/2026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1CDD0AAB-417D-4571-B305-0AB776BFF573}" type="datetime1">
              <a:rPr lang="en-US" smtClean="0"/>
              <a:t>2/2/2026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8CFEFF4A-3B4E-40DC-BE70-33312CCC0459}" type="datetime1">
              <a:rPr lang="en-US" smtClean="0"/>
              <a:t>2/2/2026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65F615A1-7353-4852-B091-D2D6A83422C9}" type="datetime1">
              <a:rPr lang="en-US" smtClean="0"/>
              <a:t>2/2/2026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BEAB310-CF11-415E-9B42-4A0BDD6FA247}" type="datetime1">
              <a:rPr lang="en-US" smtClean="0"/>
              <a:t>2/2/2026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4186ABE-BC38-4C64-9014-E5554EA7DDC4}" type="datetime1">
              <a:rPr lang="en-US" smtClean="0"/>
              <a:t>2/2/2026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2B87AE-D0B6-7D98-6B10-2D280C0D2D9F}"/>
              </a:ext>
            </a:extLst>
          </p:cNvPr>
          <p:cNvSpPr txBox="1"/>
          <p:nvPr/>
        </p:nvSpPr>
        <p:spPr>
          <a:xfrm>
            <a:off x="552090" y="2661709"/>
            <a:ext cx="11214340" cy="1569660"/>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Next-Generation Hybrid Deep Learning and Machine Learning Model with Transformer-Based NLP Embeddings for Early Detection of Chronic and Lifestyle-Related Diseases</a:t>
            </a:r>
            <a:endParaRPr lang="en-IN" sz="3200" b="1" dirty="0"/>
          </a:p>
        </p:txBody>
      </p:sp>
      <p:sp>
        <p:nvSpPr>
          <p:cNvPr id="6" name="TextBox 5">
            <a:extLst>
              <a:ext uri="{FF2B5EF4-FFF2-40B4-BE49-F238E27FC236}">
                <a16:creationId xmlns:a16="http://schemas.microsoft.com/office/drawing/2014/main" id="{658235FF-76D6-0E52-9401-219D85E0E5DD}"/>
              </a:ext>
            </a:extLst>
          </p:cNvPr>
          <p:cNvSpPr txBox="1"/>
          <p:nvPr/>
        </p:nvSpPr>
        <p:spPr>
          <a:xfrm>
            <a:off x="3108385" y="1864583"/>
            <a:ext cx="6101750" cy="523220"/>
          </a:xfrm>
          <a:prstGeom prst="rect">
            <a:avLst/>
          </a:prstGeom>
          <a:noFill/>
        </p:spPr>
        <p:txBody>
          <a:bodyPr wrap="square">
            <a:spAutoFit/>
          </a:bodyPr>
          <a:lstStyle/>
          <a:p>
            <a:pPr marL="0" indent="0" algn="ctr">
              <a:buNone/>
            </a:pPr>
            <a:r>
              <a:rPr lang="en-US" sz="2800" b="1" dirty="0">
                <a:solidFill>
                  <a:schemeClr val="accent1">
                    <a:lumMod val="75000"/>
                  </a:schemeClr>
                </a:solidFill>
                <a:latin typeface="Times New Roman" panose="02020603050405020304" pitchFamily="18" charset="0"/>
                <a:cs typeface="Times New Roman" panose="02020603050405020304" pitchFamily="18" charset="0"/>
              </a:rPr>
              <a:t>MAJOR PROJECT REVIEW-1</a:t>
            </a:r>
          </a:p>
        </p:txBody>
      </p:sp>
      <p:sp>
        <p:nvSpPr>
          <p:cNvPr id="7" name="TextBox 6">
            <a:extLst>
              <a:ext uri="{FF2B5EF4-FFF2-40B4-BE49-F238E27FC236}">
                <a16:creationId xmlns:a16="http://schemas.microsoft.com/office/drawing/2014/main" id="{35439AD1-12AE-D875-F9AA-A9EC49897C05}"/>
              </a:ext>
            </a:extLst>
          </p:cNvPr>
          <p:cNvSpPr txBox="1"/>
          <p:nvPr/>
        </p:nvSpPr>
        <p:spPr>
          <a:xfrm>
            <a:off x="1915064" y="4738778"/>
            <a:ext cx="9310778" cy="83099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Name</a:t>
            </a:r>
            <a:r>
              <a:rPr lang="en-US" sz="2400" dirty="0">
                <a:latin typeface="Times New Roman" panose="02020603050405020304" pitchFamily="18" charset="0"/>
                <a:cs typeface="Times New Roman" panose="02020603050405020304" pitchFamily="18" charset="0"/>
              </a:rPr>
              <a:t> : </a:t>
            </a:r>
            <a:r>
              <a:rPr lang="pt-BR" sz="2400" dirty="0">
                <a:latin typeface="Times New Roman" panose="02020603050405020304" pitchFamily="18" charset="0"/>
                <a:cs typeface="Times New Roman" panose="02020603050405020304" pitchFamily="18" charset="0"/>
              </a:rPr>
              <a:t>Hemanth Kumar Pattem (Reg. No. 24691F0071)</a:t>
            </a:r>
            <a:endParaRPr lang="en-US" sz="2400"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Project Guide </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Dr. J. SRINIVASAN JAGANNATHAN, M.C.A., Ph.D., </a:t>
            </a:r>
          </a:p>
        </p:txBody>
      </p:sp>
      <p:pic>
        <p:nvPicPr>
          <p:cNvPr id="8" name="Picture 7">
            <a:extLst>
              <a:ext uri="{FF2B5EF4-FFF2-40B4-BE49-F238E27FC236}">
                <a16:creationId xmlns:a16="http://schemas.microsoft.com/office/drawing/2014/main" id="{BE53F2E5-D0FD-9E72-3B81-90D812C20B3E}"/>
              </a:ext>
            </a:extLst>
          </p:cNvPr>
          <p:cNvPicPr/>
          <p:nvPr/>
        </p:nvPicPr>
        <p:blipFill>
          <a:blip r:embed="rId2"/>
          <a:stretch>
            <a:fillRect/>
          </a:stretch>
        </p:blipFill>
        <p:spPr>
          <a:xfrm>
            <a:off x="1905798" y="241413"/>
            <a:ext cx="8380403" cy="1486217"/>
          </a:xfrm>
          <a:prstGeom prst="rect">
            <a:avLst/>
          </a:prstGeom>
        </p:spPr>
      </p:pic>
      <p:sp>
        <p:nvSpPr>
          <p:cNvPr id="2" name="Slide Number Placeholder 1">
            <a:extLst>
              <a:ext uri="{FF2B5EF4-FFF2-40B4-BE49-F238E27FC236}">
                <a16:creationId xmlns:a16="http://schemas.microsoft.com/office/drawing/2014/main" id="{0FD43374-5141-DAA6-1DE2-6EF32B760047}"/>
              </a:ext>
            </a:extLst>
          </p:cNvPr>
          <p:cNvSpPr>
            <a:spLocks noGrp="1"/>
          </p:cNvSpPr>
          <p:nvPr>
            <p:ph type="sldNum" sz="quarter" idx="12"/>
          </p:nvPr>
        </p:nvSpPr>
        <p:spPr/>
        <p:txBody>
          <a:bodyPr/>
          <a:lstStyle/>
          <a:p>
            <a:fld id="{E31375A4-56A4-47D6-9801-1991572033F7}" type="slidenum">
              <a:rPr lang="en-US" sz="3200" smtClean="0"/>
              <a:pPr/>
              <a:t>1</a:t>
            </a:fld>
            <a:endParaRPr lang="en-US" sz="3200" dirty="0"/>
          </a:p>
        </p:txBody>
      </p:sp>
    </p:spTree>
    <p:extLst>
      <p:ext uri="{BB962C8B-B14F-4D97-AF65-F5344CB8AC3E}">
        <p14:creationId xmlns:p14="http://schemas.microsoft.com/office/powerpoint/2010/main" val="3948678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19A992-9BCD-AB0D-FE69-72E84B30FFB6}"/>
              </a:ext>
            </a:extLst>
          </p:cNvPr>
          <p:cNvSpPr txBox="1"/>
          <p:nvPr/>
        </p:nvSpPr>
        <p:spPr>
          <a:xfrm>
            <a:off x="2541917" y="517585"/>
            <a:ext cx="7108166" cy="769441"/>
          </a:xfrm>
          <a:prstGeom prst="rect">
            <a:avLst/>
          </a:prstGeom>
          <a:noFill/>
        </p:spPr>
        <p:txBody>
          <a:bodyPr wrap="square" rtlCol="0">
            <a:spAutoFit/>
          </a:bodyPr>
          <a:lstStyle/>
          <a:p>
            <a:pPr algn="ctr"/>
            <a:r>
              <a:rPr lang="en-US" sz="4400" b="1" dirty="0">
                <a:solidFill>
                  <a:schemeClr val="accent1">
                    <a:lumMod val="75000"/>
                  </a:schemeClr>
                </a:solidFill>
                <a:latin typeface="Times New Roman" panose="02020603050405020304" pitchFamily="18" charset="0"/>
                <a:cs typeface="Times New Roman" panose="02020603050405020304" pitchFamily="18" charset="0"/>
              </a:rPr>
              <a:t>Table of Contents</a:t>
            </a:r>
            <a:endParaRPr lang="en-IN" sz="44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B53D66C-0430-4B9A-F3AB-DF1C39AF526B}"/>
              </a:ext>
            </a:extLst>
          </p:cNvPr>
          <p:cNvSpPr txBox="1"/>
          <p:nvPr/>
        </p:nvSpPr>
        <p:spPr>
          <a:xfrm>
            <a:off x="879895" y="1287026"/>
            <a:ext cx="7562491" cy="5262979"/>
          </a:xfrm>
          <a:prstGeom prst="rect">
            <a:avLst/>
          </a:prstGeom>
          <a:noFill/>
        </p:spPr>
        <p:txBody>
          <a:bodyPr wrap="square" rtlCol="0">
            <a:spAutoFit/>
          </a:bodyPr>
          <a:lstStyle/>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Abstract</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Introduction</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Problem Statement</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Objectives</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Scope of the Project</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Literature Review</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Proposed System</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Methodology</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Tools &amp; Technologies</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Experimental Results</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Conclusion</a:t>
            </a:r>
          </a:p>
          <a:p>
            <a:pPr marL="342900" lvl="0" indent="-342900" eaLnBrk="0" fontAlgn="base" hangingPunct="0">
              <a:spcBef>
                <a:spcPct val="0"/>
              </a:spcBef>
              <a:spcAft>
                <a:spcPct val="0"/>
              </a:spcAft>
              <a:buFont typeface="+mj-lt"/>
              <a:buAutoNum type="arabicPeriod"/>
            </a:pPr>
            <a:r>
              <a:rPr lang="en-US" altLang="en-US" sz="2800" dirty="0">
                <a:latin typeface="Times New Roman" panose="02020603050405020304" pitchFamily="18" charset="0"/>
                <a:cs typeface="Times New Roman" panose="02020603050405020304" pitchFamily="18" charset="0"/>
              </a:rPr>
              <a:t>References</a:t>
            </a:r>
          </a:p>
        </p:txBody>
      </p:sp>
      <p:pic>
        <p:nvPicPr>
          <p:cNvPr id="6" name="Picture 5" descr="MITS Deemed to be University (Declared under section 3 of UGC Act, 1956 by  Govt. of India-MoE)">
            <a:extLst>
              <a:ext uri="{FF2B5EF4-FFF2-40B4-BE49-F238E27FC236}">
                <a16:creationId xmlns:a16="http://schemas.microsoft.com/office/drawing/2014/main" id="{F3282EB6-5382-E67F-23FC-712386C7D8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5" descr="Generated image">
            <a:extLst>
              <a:ext uri="{FF2B5EF4-FFF2-40B4-BE49-F238E27FC236}">
                <a16:creationId xmlns:a16="http://schemas.microsoft.com/office/drawing/2014/main" id="{226F1BB1-8C0C-6F84-D295-967A377B40A2}"/>
              </a:ext>
            </a:extLst>
          </p:cNvPr>
          <p:cNvSpPr>
            <a:spLocks noChangeAspect="1" noChangeArrowheads="1"/>
          </p:cNvSpPr>
          <p:nvPr/>
        </p:nvSpPr>
        <p:spPr bwMode="auto">
          <a:xfrm>
            <a:off x="5943599" y="3276599"/>
            <a:ext cx="2562045" cy="25620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7" descr="Generated image">
            <a:extLst>
              <a:ext uri="{FF2B5EF4-FFF2-40B4-BE49-F238E27FC236}">
                <a16:creationId xmlns:a16="http://schemas.microsoft.com/office/drawing/2014/main" id="{B35DACA4-ADB4-E990-61FC-B518E55B2C9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DDB7D8F0-81B1-36C4-467D-D10FCFD4B856}"/>
              </a:ext>
            </a:extLst>
          </p:cNvPr>
          <p:cNvPicPr>
            <a:picLocks noChangeAspect="1"/>
          </p:cNvPicPr>
          <p:nvPr/>
        </p:nvPicPr>
        <p:blipFill>
          <a:blip r:embed="rId3"/>
          <a:stretch>
            <a:fillRect/>
          </a:stretch>
        </p:blipFill>
        <p:spPr>
          <a:xfrm>
            <a:off x="5943598" y="1987456"/>
            <a:ext cx="5527736" cy="3685157"/>
          </a:xfrm>
          <a:prstGeom prst="rect">
            <a:avLst/>
          </a:prstGeom>
        </p:spPr>
      </p:pic>
      <p:sp>
        <p:nvSpPr>
          <p:cNvPr id="3" name="Slide Number Placeholder 2">
            <a:extLst>
              <a:ext uri="{FF2B5EF4-FFF2-40B4-BE49-F238E27FC236}">
                <a16:creationId xmlns:a16="http://schemas.microsoft.com/office/drawing/2014/main" id="{EBCA7B04-E80B-0EC5-6041-367B704561D0}"/>
              </a:ext>
            </a:extLst>
          </p:cNvPr>
          <p:cNvSpPr>
            <a:spLocks noGrp="1"/>
          </p:cNvSpPr>
          <p:nvPr>
            <p:ph type="sldNum" sz="quarter" idx="12"/>
          </p:nvPr>
        </p:nvSpPr>
        <p:spPr/>
        <p:txBody>
          <a:bodyPr/>
          <a:lstStyle/>
          <a:p>
            <a:fld id="{E31375A4-56A4-47D6-9801-1991572033F7}" type="slidenum">
              <a:rPr lang="en-US" sz="3200" smtClean="0"/>
              <a:pPr/>
              <a:t>2</a:t>
            </a:fld>
            <a:endParaRPr lang="en-US" sz="3200" dirty="0"/>
          </a:p>
        </p:txBody>
      </p:sp>
    </p:spTree>
    <p:extLst>
      <p:ext uri="{BB962C8B-B14F-4D97-AF65-F5344CB8AC3E}">
        <p14:creationId xmlns:p14="http://schemas.microsoft.com/office/powerpoint/2010/main" val="2034589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0F17E-818B-B571-B411-6958A692CBA5}"/>
              </a:ext>
            </a:extLst>
          </p:cNvPr>
          <p:cNvSpPr>
            <a:spLocks noGrp="1"/>
          </p:cNvSpPr>
          <p:nvPr>
            <p:ph type="title"/>
          </p:nvPr>
        </p:nvSpPr>
        <p:spPr>
          <a:xfrm>
            <a:off x="1295399" y="0"/>
            <a:ext cx="9601200" cy="1142385"/>
          </a:xfrm>
        </p:spPr>
        <p:txBody>
          <a:bodyPr/>
          <a:lstStyle/>
          <a:p>
            <a:pPr algn="ctr"/>
            <a:r>
              <a:rPr lang="en-IN" sz="4400"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0F7F10-6FA4-049A-9D08-F43927A50243}"/>
              </a:ext>
            </a:extLst>
          </p:cNvPr>
          <p:cNvSpPr>
            <a:spLocks noGrp="1"/>
          </p:cNvSpPr>
          <p:nvPr>
            <p:ph idx="1"/>
          </p:nvPr>
        </p:nvSpPr>
        <p:spPr>
          <a:xfrm>
            <a:off x="493144" y="1903563"/>
            <a:ext cx="11205712" cy="4347713"/>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Early detection of chronic diseases is essential for reducing morbidity and improving patient outcomes. This study proposes a hybrid deep learning and machine learning framework using transformer-based NLP embeddings to integrate structured and unstructured clinical data for multi-disease prediction. The model predicts diabetes, heart disease, CKD, and hypertension while SHAP and LIME provide interpretability for clinicians. Experimental results on public datasets show the hybrid model outperforms ML-only and DL-only approaches in Accuracy, Precision, Recall, F1-score, and ROC-AUC, demonstrating its potential for accurate and interpretable early disease detection.</a:t>
            </a:r>
          </a:p>
        </p:txBody>
      </p:sp>
      <p:pic>
        <p:nvPicPr>
          <p:cNvPr id="4" name="Picture 3" descr="MITS Deemed to be University (Declared under section 3 of UGC Act, 1956 by  Govt. of India-MoE)">
            <a:extLst>
              <a:ext uri="{FF2B5EF4-FFF2-40B4-BE49-F238E27FC236}">
                <a16:creationId xmlns:a16="http://schemas.microsoft.com/office/drawing/2014/main" id="{4DBBC6A6-2573-7E4C-A9D9-3E0F2D5224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851B322D-EC84-FED7-E543-674774004C4F}"/>
              </a:ext>
            </a:extLst>
          </p:cNvPr>
          <p:cNvSpPr>
            <a:spLocks noGrp="1"/>
          </p:cNvSpPr>
          <p:nvPr>
            <p:ph type="sldNum" sz="quarter" idx="12"/>
          </p:nvPr>
        </p:nvSpPr>
        <p:spPr/>
        <p:txBody>
          <a:bodyPr/>
          <a:lstStyle/>
          <a:p>
            <a:fld id="{E31375A4-56A4-47D6-9801-1991572033F7}" type="slidenum">
              <a:rPr lang="en-US" sz="3200" smtClean="0"/>
              <a:t>3</a:t>
            </a:fld>
            <a:endParaRPr lang="en-US" sz="3200" dirty="0"/>
          </a:p>
        </p:txBody>
      </p:sp>
    </p:spTree>
    <p:extLst>
      <p:ext uri="{BB962C8B-B14F-4D97-AF65-F5344CB8AC3E}">
        <p14:creationId xmlns:p14="http://schemas.microsoft.com/office/powerpoint/2010/main" val="268757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317125"/>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Introduction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8355" y="871269"/>
            <a:ext cx="10258245" cy="5161471"/>
          </a:xfrm>
        </p:spPr>
        <p:txBody>
          <a:bodyPr>
            <a:normAutofit fontScale="92500" lnSpcReduction="20000"/>
          </a:bodyPr>
          <a:lstStyle/>
          <a:p>
            <a:pPr marL="0" indent="0">
              <a:buNone/>
            </a:pPr>
            <a:r>
              <a:rPr lang="en-US" sz="2200" b="1" dirty="0">
                <a:latin typeface="Times New Roman" panose="02020603050405020304" pitchFamily="18" charset="0"/>
                <a:cs typeface="Times New Roman" panose="02020603050405020304" pitchFamily="18" charset="0"/>
              </a:rPr>
              <a:t>Background of the Study:</a:t>
            </a:r>
            <a:endParaRPr lang="en-US" sz="22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Global increase in chronic diseases like diabetes, cardiovascular, and kidney disorders.</a:t>
            </a:r>
          </a:p>
          <a:p>
            <a:r>
              <a:rPr lang="en-US" dirty="0">
                <a:latin typeface="Times New Roman" panose="02020603050405020304" pitchFamily="18" charset="0"/>
                <a:cs typeface="Times New Roman" panose="02020603050405020304" pitchFamily="18" charset="0"/>
              </a:rPr>
              <a:t>Late diagnosis often leads to complications and higher healthcare costs.</a:t>
            </a:r>
          </a:p>
          <a:p>
            <a:r>
              <a:rPr lang="en-US" dirty="0">
                <a:latin typeface="Times New Roman" panose="02020603050405020304" pitchFamily="18" charset="0"/>
                <a:cs typeface="Times New Roman" panose="02020603050405020304" pitchFamily="18" charset="0"/>
              </a:rPr>
              <a:t>Early detection can significantly improve management and quality of life.</a:t>
            </a:r>
          </a:p>
          <a:p>
            <a:pPr marL="0" indent="0">
              <a:buNone/>
            </a:pPr>
            <a:r>
              <a:rPr lang="en-US" sz="2200" b="1" dirty="0">
                <a:latin typeface="Times New Roman" panose="02020603050405020304" pitchFamily="18" charset="0"/>
                <a:cs typeface="Times New Roman" panose="02020603050405020304" pitchFamily="18" charset="0"/>
              </a:rPr>
              <a:t>Importance of the Project:</a:t>
            </a:r>
            <a:endParaRPr lang="en-US" sz="22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Enables timely intervention and preventive care.</a:t>
            </a:r>
          </a:p>
          <a:p>
            <a:r>
              <a:rPr lang="en-US" dirty="0">
                <a:latin typeface="Times New Roman" panose="02020603050405020304" pitchFamily="18" charset="0"/>
                <a:cs typeface="Times New Roman" panose="02020603050405020304" pitchFamily="18" charset="0"/>
              </a:rPr>
              <a:t>Reduces morbidity and long-term healthcare burden.</a:t>
            </a:r>
          </a:p>
          <a:p>
            <a:r>
              <a:rPr lang="en-US" dirty="0">
                <a:latin typeface="Times New Roman" panose="02020603050405020304" pitchFamily="18" charset="0"/>
                <a:cs typeface="Times New Roman" panose="02020603050405020304" pitchFamily="18" charset="0"/>
              </a:rPr>
              <a:t>Improves patient outcomes and supports personalized treatment plans.</a:t>
            </a:r>
          </a:p>
          <a:p>
            <a:pPr marL="0" indent="0">
              <a:buNone/>
            </a:pPr>
            <a:r>
              <a:rPr lang="en-US" sz="2200" b="1" dirty="0">
                <a:latin typeface="Times New Roman" panose="02020603050405020304" pitchFamily="18" charset="0"/>
                <a:cs typeface="Times New Roman" panose="02020603050405020304" pitchFamily="18" charset="0"/>
              </a:rPr>
              <a:t>Motivation:</a:t>
            </a:r>
            <a:endParaRPr lang="en-US" sz="22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Existing ML/DL models often focus on single-disease prediction.</a:t>
            </a:r>
          </a:p>
          <a:p>
            <a:r>
              <a:rPr lang="en-US" dirty="0">
                <a:latin typeface="Times New Roman" panose="02020603050405020304" pitchFamily="18" charset="0"/>
                <a:cs typeface="Times New Roman" panose="02020603050405020304" pitchFamily="18" charset="0"/>
              </a:rPr>
              <a:t>Limited integration of multi-disease data reduces real-world applicability.</a:t>
            </a:r>
          </a:p>
          <a:p>
            <a:r>
              <a:rPr lang="en-US" dirty="0">
                <a:latin typeface="Times New Roman" panose="02020603050405020304" pitchFamily="18" charset="0"/>
                <a:cs typeface="Times New Roman" panose="02020603050405020304" pitchFamily="18" charset="0"/>
              </a:rPr>
              <a:t>Lack of interpretability makes clinical adoption challenging.</a:t>
            </a:r>
          </a:p>
        </p:txBody>
      </p:sp>
      <p:pic>
        <p:nvPicPr>
          <p:cNvPr id="4" name="Picture 3" descr="MITS Deemed to be University (Declared under section 3 of UGC Act, 1956 by  Govt. of India-MoE)">
            <a:extLst>
              <a:ext uri="{FF2B5EF4-FFF2-40B4-BE49-F238E27FC236}">
                <a16:creationId xmlns:a16="http://schemas.microsoft.com/office/drawing/2014/main" id="{92BA926E-EB76-1A22-6A7E-A8C6847036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A9336FCF-285D-54F1-EF2C-68981579A385}"/>
              </a:ext>
            </a:extLst>
          </p:cNvPr>
          <p:cNvSpPr>
            <a:spLocks noGrp="1"/>
          </p:cNvSpPr>
          <p:nvPr>
            <p:ph type="sldNum" sz="quarter" idx="12"/>
          </p:nvPr>
        </p:nvSpPr>
        <p:spPr/>
        <p:txBody>
          <a:bodyPr/>
          <a:lstStyle/>
          <a:p>
            <a:fld id="{E31375A4-56A4-47D6-9801-1991572033F7}" type="slidenum">
              <a:rPr lang="en-US" sz="3200" smtClean="0"/>
              <a:t>4</a:t>
            </a:fld>
            <a:endParaRPr lang="en-US" sz="3200" dirty="0"/>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8E585-8883-9EEE-BF5E-2CCAF671C160}"/>
              </a:ext>
            </a:extLst>
          </p:cNvPr>
          <p:cNvSpPr>
            <a:spLocks noGrp="1"/>
          </p:cNvSpPr>
          <p:nvPr>
            <p:ph type="title"/>
          </p:nvPr>
        </p:nvSpPr>
        <p:spPr>
          <a:xfrm>
            <a:off x="1295400" y="176049"/>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Problem Statement</a:t>
            </a:r>
            <a:endParaRPr lang="en-IN" sz="4400" dirty="0"/>
          </a:p>
        </p:txBody>
      </p:sp>
      <p:sp>
        <p:nvSpPr>
          <p:cNvPr id="3" name="Text Placeholder 2">
            <a:extLst>
              <a:ext uri="{FF2B5EF4-FFF2-40B4-BE49-F238E27FC236}">
                <a16:creationId xmlns:a16="http://schemas.microsoft.com/office/drawing/2014/main" id="{631F8E1D-BD30-7073-FF65-3B5536ED2D2D}"/>
              </a:ext>
            </a:extLst>
          </p:cNvPr>
          <p:cNvSpPr>
            <a:spLocks noGrp="1"/>
          </p:cNvSpPr>
          <p:nvPr>
            <p:ph type="body" idx="1"/>
          </p:nvPr>
        </p:nvSpPr>
        <p:spPr>
          <a:xfrm>
            <a:off x="843232" y="1654419"/>
            <a:ext cx="4572000" cy="641350"/>
          </a:xfrm>
        </p:spPr>
        <p:txBody>
          <a:bodyPr>
            <a:normAutofit/>
          </a:bodyPr>
          <a:lstStyle/>
          <a:p>
            <a:pPr algn="ctr"/>
            <a:r>
              <a:rPr lang="en-US" sz="2800" b="1" dirty="0">
                <a:latin typeface="Times New Roman" panose="02020603050405020304" pitchFamily="18" charset="0"/>
                <a:cs typeface="Times New Roman" panose="02020603050405020304" pitchFamily="18" charset="0"/>
              </a:rPr>
              <a:t>Existing System Issues</a:t>
            </a:r>
            <a:endParaRPr lang="en-US" sz="2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BEE734A-D350-EF84-F5D3-74EE15EA4743}"/>
              </a:ext>
            </a:extLst>
          </p:cNvPr>
          <p:cNvSpPr>
            <a:spLocks noGrp="1"/>
          </p:cNvSpPr>
          <p:nvPr>
            <p:ph sz="half" idx="2"/>
          </p:nvPr>
        </p:nvSpPr>
        <p:spPr>
          <a:xfrm>
            <a:off x="391064" y="2631756"/>
            <a:ext cx="5476336" cy="3287487"/>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Most models are limited to single-disease prediction.</a:t>
            </a:r>
          </a:p>
          <a:p>
            <a:r>
              <a:rPr lang="en-US" dirty="0">
                <a:latin typeface="Times New Roman" panose="02020603050405020304" pitchFamily="18" charset="0"/>
                <a:cs typeface="Times New Roman" panose="02020603050405020304" pitchFamily="18" charset="0"/>
              </a:rPr>
              <a:t>Lack of integration of diverse medical data sources.</a:t>
            </a:r>
          </a:p>
          <a:p>
            <a:r>
              <a:rPr lang="en-US" dirty="0">
                <a:latin typeface="Times New Roman" panose="02020603050405020304" pitchFamily="18" charset="0"/>
                <a:cs typeface="Times New Roman" panose="02020603050405020304" pitchFamily="18" charset="0"/>
              </a:rPr>
              <a:t>Limited interpretability reduces clinician trust.</a:t>
            </a:r>
          </a:p>
          <a:p>
            <a:r>
              <a:rPr lang="en-US" dirty="0">
                <a:latin typeface="Times New Roman" panose="02020603050405020304" pitchFamily="18" charset="0"/>
                <a:cs typeface="Times New Roman" panose="02020603050405020304" pitchFamily="18" charset="0"/>
              </a:rPr>
              <a:t>Accuracy decreases for multi-disease prediction scenarios.</a:t>
            </a:r>
          </a:p>
          <a:p>
            <a:r>
              <a:rPr lang="en-US" dirty="0">
                <a:latin typeface="Times New Roman" panose="02020603050405020304" pitchFamily="18" charset="0"/>
                <a:cs typeface="Times New Roman" panose="02020603050405020304" pitchFamily="18" charset="0"/>
              </a:rPr>
              <a:t>Cannot provide personalized insights for individual patients.</a:t>
            </a:r>
          </a:p>
          <a:p>
            <a:pPr marL="0" indent="0">
              <a:buNone/>
            </a:pPr>
            <a:endParaRPr lang="en-IN" dirty="0"/>
          </a:p>
        </p:txBody>
      </p:sp>
      <p:sp>
        <p:nvSpPr>
          <p:cNvPr id="5" name="Text Placeholder 4">
            <a:extLst>
              <a:ext uri="{FF2B5EF4-FFF2-40B4-BE49-F238E27FC236}">
                <a16:creationId xmlns:a16="http://schemas.microsoft.com/office/drawing/2014/main" id="{1D755FC5-A66E-E3A7-D9CD-3DFC5C9FA36F}"/>
              </a:ext>
            </a:extLst>
          </p:cNvPr>
          <p:cNvSpPr>
            <a:spLocks noGrp="1"/>
          </p:cNvSpPr>
          <p:nvPr>
            <p:ph type="body" sz="quarter" idx="3"/>
          </p:nvPr>
        </p:nvSpPr>
        <p:spPr>
          <a:xfrm>
            <a:off x="6640902" y="1654419"/>
            <a:ext cx="4572000" cy="641350"/>
          </a:xfrm>
        </p:spPr>
        <p:txBody>
          <a:bodyPr>
            <a:normAutofit/>
          </a:bodyPr>
          <a:lstStyle/>
          <a:p>
            <a:pPr algn="ctr"/>
            <a:r>
              <a:rPr lang="en-US" sz="2800" b="1" dirty="0">
                <a:latin typeface="Times New Roman" panose="02020603050405020304" pitchFamily="18" charset="0"/>
                <a:cs typeface="Times New Roman" panose="02020603050405020304" pitchFamily="18" charset="0"/>
              </a:rPr>
              <a:t>Need for Proposed System</a:t>
            </a:r>
            <a:endParaRPr lang="en-US" sz="28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027C7EF6-9605-278F-A12B-F9C6EAE2A5AC}"/>
              </a:ext>
            </a:extLst>
          </p:cNvPr>
          <p:cNvSpPr>
            <a:spLocks noGrp="1"/>
          </p:cNvSpPr>
          <p:nvPr>
            <p:ph sz="quarter" idx="4"/>
          </p:nvPr>
        </p:nvSpPr>
        <p:spPr>
          <a:xfrm>
            <a:off x="6324600" y="2631755"/>
            <a:ext cx="5574102" cy="3287487"/>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Combine structured (lab tests, vitals) and unstructured data (clinical notes, imaging).</a:t>
            </a:r>
          </a:p>
          <a:p>
            <a:r>
              <a:rPr lang="en-US" dirty="0">
                <a:latin typeface="Times New Roman" panose="02020603050405020304" pitchFamily="18" charset="0"/>
                <a:cs typeface="Times New Roman" panose="02020603050405020304" pitchFamily="18" charset="0"/>
              </a:rPr>
              <a:t>Develop a hybrid ML/DL model for higher prediction accuracy.</a:t>
            </a:r>
          </a:p>
          <a:p>
            <a:r>
              <a:rPr lang="en-US" dirty="0">
                <a:latin typeface="Times New Roman" panose="02020603050405020304" pitchFamily="18" charset="0"/>
                <a:cs typeface="Times New Roman" panose="02020603050405020304" pitchFamily="18" charset="0"/>
              </a:rPr>
              <a:t>Incorporate Explainable AI (XAI) for transparent decision-making.</a:t>
            </a:r>
          </a:p>
          <a:p>
            <a:r>
              <a:rPr lang="en-US" dirty="0">
                <a:latin typeface="Times New Roman" panose="02020603050405020304" pitchFamily="18" charset="0"/>
                <a:cs typeface="Times New Roman" panose="02020603050405020304" pitchFamily="18" charset="0"/>
              </a:rPr>
              <a:t>Enable early detection and risk assessment for multiple chronic diseases.</a:t>
            </a:r>
          </a:p>
          <a:p>
            <a:r>
              <a:rPr lang="en-US" dirty="0">
                <a:latin typeface="Times New Roman" panose="02020603050405020304" pitchFamily="18" charset="0"/>
                <a:cs typeface="Times New Roman" panose="02020603050405020304" pitchFamily="18" charset="0"/>
              </a:rPr>
              <a:t>Support personalized treatment recommendations and improved patient outcomes.</a:t>
            </a:r>
          </a:p>
        </p:txBody>
      </p:sp>
      <p:pic>
        <p:nvPicPr>
          <p:cNvPr id="7" name="Picture 6" descr="MITS Deemed to be University (Declared under section 3 of UGC Act, 1956 by  Govt. of India-MoE)">
            <a:extLst>
              <a:ext uri="{FF2B5EF4-FFF2-40B4-BE49-F238E27FC236}">
                <a16:creationId xmlns:a16="http://schemas.microsoft.com/office/drawing/2014/main" id="{943EE43F-A3BD-42C0-C449-F4E6775F5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E1FC8386-0F65-06B1-1BFE-D3650FC8EAF9}"/>
              </a:ext>
            </a:extLst>
          </p:cNvPr>
          <p:cNvSpPr>
            <a:spLocks noGrp="1"/>
          </p:cNvSpPr>
          <p:nvPr>
            <p:ph type="sldNum" sz="quarter" idx="12"/>
          </p:nvPr>
        </p:nvSpPr>
        <p:spPr/>
        <p:txBody>
          <a:bodyPr/>
          <a:lstStyle/>
          <a:p>
            <a:fld id="{E31375A4-56A4-47D6-9801-1991572033F7}" type="slidenum">
              <a:rPr lang="en-US" sz="3200" smtClean="0"/>
              <a:t>5</a:t>
            </a:fld>
            <a:endParaRPr lang="en-US" sz="3200" dirty="0"/>
          </a:p>
        </p:txBody>
      </p:sp>
    </p:spTree>
    <p:extLst>
      <p:ext uri="{BB962C8B-B14F-4D97-AF65-F5344CB8AC3E}">
        <p14:creationId xmlns:p14="http://schemas.microsoft.com/office/powerpoint/2010/main" val="2934984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A30875-D5F7-88A9-93C2-5C5557B43C4D}"/>
              </a:ext>
            </a:extLst>
          </p:cNvPr>
          <p:cNvSpPr txBox="1"/>
          <p:nvPr/>
        </p:nvSpPr>
        <p:spPr>
          <a:xfrm>
            <a:off x="3114137" y="187519"/>
            <a:ext cx="6101750" cy="769441"/>
          </a:xfrm>
          <a:prstGeom prst="rect">
            <a:avLst/>
          </a:prstGeom>
          <a:noFill/>
        </p:spPr>
        <p:txBody>
          <a:bodyPr wrap="square">
            <a:spAutoFit/>
          </a:bodyPr>
          <a:lstStyle/>
          <a:p>
            <a:pPr algn="ctr"/>
            <a:r>
              <a:rPr lang="en-IN" sz="4400" b="1" dirty="0">
                <a:solidFill>
                  <a:schemeClr val="accent1">
                    <a:lumMod val="75000"/>
                  </a:schemeClr>
                </a:solidFill>
                <a:latin typeface="Times New Roman" panose="02020603050405020304" pitchFamily="18" charset="0"/>
                <a:cs typeface="Times New Roman" panose="02020603050405020304" pitchFamily="18" charset="0"/>
              </a:rPr>
              <a:t>Objectives</a:t>
            </a:r>
            <a:endParaRPr lang="en-IN" sz="40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C7FA161-6B19-096D-E6D1-C6A9F5388B17}"/>
              </a:ext>
            </a:extLst>
          </p:cNvPr>
          <p:cNvSpPr txBox="1"/>
          <p:nvPr/>
        </p:nvSpPr>
        <p:spPr>
          <a:xfrm>
            <a:off x="445698" y="1212482"/>
            <a:ext cx="11553645" cy="5386090"/>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Primary Objectives:</a:t>
            </a:r>
            <a:endParaRPr lang="en-US" sz="2800" dirty="0">
              <a:latin typeface="Times New Roman" panose="02020603050405020304" pitchFamily="18" charset="0"/>
              <a:cs typeface="Times New Roman" panose="02020603050405020304" pitchFamily="18" charset="0"/>
            </a:endParaRPr>
          </a:p>
          <a:p>
            <a:pPr>
              <a:buFont typeface="+mj-lt"/>
              <a:buAutoNum type="arabicPeriod"/>
            </a:pPr>
            <a:r>
              <a:rPr lang="en-US" sz="2400" dirty="0">
                <a:latin typeface="Times New Roman" panose="02020603050405020304" pitchFamily="18" charset="0"/>
                <a:cs typeface="Times New Roman" panose="02020603050405020304" pitchFamily="18" charset="0"/>
              </a:rPr>
              <a:t> Develop a hybrid ensemble model combining Deep Learning (DL) and Machine Learning (ML).</a:t>
            </a:r>
          </a:p>
          <a:p>
            <a:pPr>
              <a:buFont typeface="+mj-lt"/>
              <a:buAutoNum type="arabicPeriod"/>
            </a:pPr>
            <a:r>
              <a:rPr lang="en-US" sz="2400" dirty="0">
                <a:latin typeface="Times New Roman" panose="02020603050405020304" pitchFamily="18" charset="0"/>
                <a:cs typeface="Times New Roman" panose="02020603050405020304" pitchFamily="18" charset="0"/>
              </a:rPr>
              <a:t> Enable accurate prediction of multiple chronic diseases simultaneously.</a:t>
            </a:r>
          </a:p>
          <a:p>
            <a:pPr>
              <a:buFont typeface="+mj-lt"/>
              <a:buAutoNum type="arabicPeriod"/>
            </a:pPr>
            <a:r>
              <a:rPr lang="en-US" sz="2400" dirty="0">
                <a:latin typeface="Times New Roman" panose="02020603050405020304" pitchFamily="18" charset="0"/>
                <a:cs typeface="Times New Roman" panose="02020603050405020304" pitchFamily="18" charset="0"/>
              </a:rPr>
              <a:t> Integrate both structured (lab, vitals, demographics) and unstructured (clinical notes, reports) data.</a:t>
            </a:r>
          </a:p>
          <a:p>
            <a:pPr algn="ctr">
              <a:buNone/>
            </a:pPr>
            <a:endParaRPr lang="en-US" sz="2400" dirty="0">
              <a:latin typeface="Times New Roman" panose="02020603050405020304" pitchFamily="18" charset="0"/>
              <a:cs typeface="Times New Roman" panose="02020603050405020304" pitchFamily="18" charset="0"/>
            </a:endParaRPr>
          </a:p>
          <a:p>
            <a:pPr>
              <a:buNone/>
            </a:pPr>
            <a:r>
              <a:rPr lang="en-US" sz="2800" b="1" dirty="0">
                <a:latin typeface="Times New Roman" panose="02020603050405020304" pitchFamily="18" charset="0"/>
                <a:cs typeface="Times New Roman" panose="02020603050405020304" pitchFamily="18" charset="0"/>
              </a:rPr>
              <a:t>Secondary Objectives:</a:t>
            </a:r>
            <a:endParaRPr lang="en-US" sz="2800" dirty="0">
              <a:latin typeface="Times New Roman" panose="02020603050405020304" pitchFamily="18" charset="0"/>
              <a:cs typeface="Times New Roman" panose="02020603050405020304" pitchFamily="18" charset="0"/>
            </a:endParaRPr>
          </a:p>
          <a:p>
            <a:pPr>
              <a:buFont typeface="+mj-lt"/>
              <a:buAutoNum type="arabicPeriod"/>
            </a:pPr>
            <a:r>
              <a:rPr lang="en-US" sz="2400" dirty="0">
                <a:latin typeface="Times New Roman" panose="02020603050405020304" pitchFamily="18" charset="0"/>
                <a:cs typeface="Times New Roman" panose="02020603050405020304" pitchFamily="18" charset="0"/>
              </a:rPr>
              <a:t> Use transformer-based NLP embeddings to process unstructured textual data.</a:t>
            </a:r>
          </a:p>
          <a:p>
            <a:pPr>
              <a:buFont typeface="+mj-lt"/>
              <a:buAutoNum type="arabicPeriod"/>
            </a:pPr>
            <a:r>
              <a:rPr lang="en-US" sz="2400" dirty="0">
                <a:latin typeface="Times New Roman" panose="02020603050405020304" pitchFamily="18" charset="0"/>
                <a:cs typeface="Times New Roman" panose="02020603050405020304" pitchFamily="18" charset="0"/>
              </a:rPr>
              <a:t> Apply Explainable AI techniques (SHAP &amp; LIME) for model interpretability.</a:t>
            </a:r>
          </a:p>
          <a:p>
            <a:pPr>
              <a:buFont typeface="+mj-lt"/>
              <a:buAutoNum type="arabicPeriod"/>
            </a:pPr>
            <a:r>
              <a:rPr lang="en-US" sz="2400" dirty="0">
                <a:latin typeface="Times New Roman" panose="02020603050405020304" pitchFamily="18" charset="0"/>
                <a:cs typeface="Times New Roman" panose="02020603050405020304" pitchFamily="18" charset="0"/>
              </a:rPr>
              <a:t> Compare hybrid model performance with baseline ML and DL approaches.</a:t>
            </a:r>
          </a:p>
          <a:p>
            <a:pPr>
              <a:buFont typeface="+mj-lt"/>
              <a:buAutoNum type="arabicPeriod"/>
            </a:pPr>
            <a:r>
              <a:rPr lang="en-US" sz="2400" dirty="0">
                <a:latin typeface="Times New Roman" panose="02020603050405020304" pitchFamily="18" charset="0"/>
                <a:cs typeface="Times New Roman" panose="02020603050405020304" pitchFamily="18" charset="0"/>
              </a:rPr>
              <a:t> Evaluate model using real-world chronic disease datasets.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6" name="Picture 5" descr="MITS Deemed to be University (Declared under section 3 of UGC Act, 1956 by  Govt. of India-MoE)">
            <a:extLst>
              <a:ext uri="{FF2B5EF4-FFF2-40B4-BE49-F238E27FC236}">
                <a16:creationId xmlns:a16="http://schemas.microsoft.com/office/drawing/2014/main" id="{2AE19704-06FC-94D6-4A80-63B3F167C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BD955CD4-9336-1C4D-976F-AA30D4E04B55}"/>
              </a:ext>
            </a:extLst>
          </p:cNvPr>
          <p:cNvSpPr>
            <a:spLocks noGrp="1"/>
          </p:cNvSpPr>
          <p:nvPr>
            <p:ph type="sldNum" sz="quarter" idx="12"/>
          </p:nvPr>
        </p:nvSpPr>
        <p:spPr/>
        <p:txBody>
          <a:bodyPr/>
          <a:lstStyle/>
          <a:p>
            <a:fld id="{E31375A4-56A4-47D6-9801-1991572033F7}" type="slidenum">
              <a:rPr lang="en-US" sz="3200" smtClean="0"/>
              <a:pPr/>
              <a:t>6</a:t>
            </a:fld>
            <a:endParaRPr lang="en-US" sz="3200" dirty="0"/>
          </a:p>
        </p:txBody>
      </p:sp>
    </p:spTree>
    <p:extLst>
      <p:ext uri="{BB962C8B-B14F-4D97-AF65-F5344CB8AC3E}">
        <p14:creationId xmlns:p14="http://schemas.microsoft.com/office/powerpoint/2010/main" val="154430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AFC5F-9928-DBD6-5F0E-CC0D13F3ADBF}"/>
              </a:ext>
            </a:extLst>
          </p:cNvPr>
          <p:cNvSpPr>
            <a:spLocks noGrp="1"/>
          </p:cNvSpPr>
          <p:nvPr>
            <p:ph type="title"/>
          </p:nvPr>
        </p:nvSpPr>
        <p:spPr>
          <a:xfrm>
            <a:off x="1221355" y="0"/>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Scope of the Project</a:t>
            </a:r>
            <a:endParaRPr lang="en-IN" sz="4400" dirty="0"/>
          </a:p>
        </p:txBody>
      </p:sp>
      <p:sp>
        <p:nvSpPr>
          <p:cNvPr id="3" name="Text Placeholder 2">
            <a:extLst>
              <a:ext uri="{FF2B5EF4-FFF2-40B4-BE49-F238E27FC236}">
                <a16:creationId xmlns:a16="http://schemas.microsoft.com/office/drawing/2014/main" id="{063E67D4-E454-873E-E8C1-BD82F989EB43}"/>
              </a:ext>
            </a:extLst>
          </p:cNvPr>
          <p:cNvSpPr>
            <a:spLocks noGrp="1"/>
          </p:cNvSpPr>
          <p:nvPr>
            <p:ph type="body" idx="1"/>
          </p:nvPr>
        </p:nvSpPr>
        <p:spPr>
          <a:xfrm>
            <a:off x="444261" y="1466753"/>
            <a:ext cx="3322607" cy="641350"/>
          </a:xfrm>
        </p:spPr>
        <p:txBody>
          <a:bodyPr/>
          <a:lstStyle/>
          <a:p>
            <a:pPr algn="ctr"/>
            <a:r>
              <a:rPr lang="en-IN" sz="3200" b="1" dirty="0">
                <a:solidFill>
                  <a:schemeClr val="tx1"/>
                </a:solidFill>
                <a:latin typeface="Times New Roman" panose="02020603050405020304" pitchFamily="18" charset="0"/>
                <a:cs typeface="Times New Roman" panose="02020603050405020304" pitchFamily="18" charset="0"/>
              </a:rPr>
              <a:t>Inclusions</a:t>
            </a:r>
            <a:endParaRPr lang="en-IN" dirty="0"/>
          </a:p>
        </p:txBody>
      </p:sp>
      <p:sp>
        <p:nvSpPr>
          <p:cNvPr id="4" name="Content Placeholder 3">
            <a:extLst>
              <a:ext uri="{FF2B5EF4-FFF2-40B4-BE49-F238E27FC236}">
                <a16:creationId xmlns:a16="http://schemas.microsoft.com/office/drawing/2014/main" id="{A336F488-2902-63CF-1821-2D42BD57125E}"/>
              </a:ext>
            </a:extLst>
          </p:cNvPr>
          <p:cNvSpPr>
            <a:spLocks noGrp="1"/>
          </p:cNvSpPr>
          <p:nvPr>
            <p:ph sz="half" idx="2"/>
          </p:nvPr>
        </p:nvSpPr>
        <p:spPr>
          <a:xfrm>
            <a:off x="327805" y="2443529"/>
            <a:ext cx="3226278" cy="3287487"/>
          </a:xfrm>
        </p:spPr>
        <p:txBody>
          <a:bodyPr>
            <a:normAutofit/>
          </a:bodyPr>
          <a:lstStyle/>
          <a:p>
            <a:r>
              <a:rPr lang="en-US" sz="2400" dirty="0">
                <a:latin typeface="Times New Roman" panose="02020603050405020304" pitchFamily="18" charset="0"/>
                <a:cs typeface="Times New Roman" panose="02020603050405020304" pitchFamily="18" charset="0"/>
              </a:rPr>
              <a:t>Diabetes</a:t>
            </a:r>
          </a:p>
          <a:p>
            <a:r>
              <a:rPr lang="en-US" sz="2400" dirty="0">
                <a:latin typeface="Times New Roman" panose="02020603050405020304" pitchFamily="18" charset="0"/>
                <a:cs typeface="Times New Roman" panose="02020603050405020304" pitchFamily="18" charset="0"/>
              </a:rPr>
              <a:t>Heart Disease</a:t>
            </a:r>
          </a:p>
          <a:p>
            <a:r>
              <a:rPr lang="en-US" sz="2400" dirty="0">
                <a:latin typeface="Times New Roman" panose="02020603050405020304" pitchFamily="18" charset="0"/>
                <a:cs typeface="Times New Roman" panose="02020603050405020304" pitchFamily="18" charset="0"/>
              </a:rPr>
              <a:t>Kidney Disease </a:t>
            </a:r>
          </a:p>
          <a:p>
            <a:r>
              <a:rPr lang="en-US" sz="2400" dirty="0">
                <a:latin typeface="Times New Roman" panose="02020603050405020304" pitchFamily="18" charset="0"/>
                <a:cs typeface="Times New Roman" panose="02020603050405020304" pitchFamily="18" charset="0"/>
              </a:rPr>
              <a:t>Hypertension</a:t>
            </a:r>
          </a:p>
          <a:p>
            <a:r>
              <a:rPr lang="en-US" sz="2400" dirty="0">
                <a:latin typeface="Times New Roman" panose="02020603050405020304" pitchFamily="18" charset="0"/>
                <a:cs typeface="Times New Roman" panose="02020603050405020304" pitchFamily="18" charset="0"/>
              </a:rPr>
              <a:t>Multi-disease risk prediction</a:t>
            </a:r>
          </a:p>
        </p:txBody>
      </p:sp>
      <p:sp>
        <p:nvSpPr>
          <p:cNvPr id="7" name="Text Placeholder 2">
            <a:extLst>
              <a:ext uri="{FF2B5EF4-FFF2-40B4-BE49-F238E27FC236}">
                <a16:creationId xmlns:a16="http://schemas.microsoft.com/office/drawing/2014/main" id="{1DF40334-272F-B52D-F041-D71797637BCF}"/>
              </a:ext>
            </a:extLst>
          </p:cNvPr>
          <p:cNvSpPr txBox="1">
            <a:spLocks/>
          </p:cNvSpPr>
          <p:nvPr/>
        </p:nvSpPr>
        <p:spPr>
          <a:xfrm>
            <a:off x="3766868" y="1481512"/>
            <a:ext cx="3322607" cy="641350"/>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0"/>
              </a:spcBef>
              <a:buClr>
                <a:schemeClr val="accent1">
                  <a:lumMod val="75000"/>
                </a:schemeClr>
              </a:buClr>
              <a:buSzPct val="100000"/>
              <a:buFont typeface="Arial" pitchFamily="34" charset="0"/>
              <a:buNone/>
              <a:defRPr sz="2000" b="0" kern="1200">
                <a:solidFill>
                  <a:schemeClr val="accent1"/>
                </a:solidFill>
                <a:latin typeface="+mn-lt"/>
                <a:ea typeface="+mn-ea"/>
                <a:cs typeface="+mn-cs"/>
              </a:defRPr>
            </a:lvl1pPr>
            <a:lvl2pPr marL="457200" indent="0" algn="l" defTabSz="914400" rtl="0" eaLnBrk="1" latinLnBrk="0" hangingPunct="1">
              <a:lnSpc>
                <a:spcPct val="90000"/>
              </a:lnSpc>
              <a:spcBef>
                <a:spcPts val="1200"/>
              </a:spcBef>
              <a:buClr>
                <a:schemeClr val="accent1">
                  <a:lumMod val="75000"/>
                </a:schemeClr>
              </a:buClr>
              <a:buSzPct val="100000"/>
              <a:buFont typeface="Arial"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75000"/>
                </a:schemeClr>
              </a:buClr>
              <a:buSzPct val="100000"/>
              <a:buFont typeface="Arial"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9pPr>
          </a:lstStyle>
          <a:p>
            <a:pPr algn="ctr"/>
            <a:r>
              <a:rPr lang="en-IN" sz="3200" b="1" dirty="0">
                <a:solidFill>
                  <a:schemeClr val="tx1"/>
                </a:solidFill>
                <a:latin typeface="Times New Roman" panose="02020603050405020304" pitchFamily="18" charset="0"/>
                <a:cs typeface="Times New Roman" panose="02020603050405020304" pitchFamily="18" charset="0"/>
              </a:rPr>
              <a:t>Exclusions</a:t>
            </a:r>
          </a:p>
        </p:txBody>
      </p:sp>
      <p:sp>
        <p:nvSpPr>
          <p:cNvPr id="8" name="Content Placeholder 3">
            <a:extLst>
              <a:ext uri="{FF2B5EF4-FFF2-40B4-BE49-F238E27FC236}">
                <a16:creationId xmlns:a16="http://schemas.microsoft.com/office/drawing/2014/main" id="{0031F1EE-EC9C-BD8C-C93D-D5C1767A8949}"/>
              </a:ext>
            </a:extLst>
          </p:cNvPr>
          <p:cNvSpPr txBox="1">
            <a:spLocks/>
          </p:cNvSpPr>
          <p:nvPr/>
        </p:nvSpPr>
        <p:spPr>
          <a:xfrm>
            <a:off x="3507356" y="2443530"/>
            <a:ext cx="5019137" cy="3770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9pPr>
          </a:lstStyle>
          <a:p>
            <a:pPr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Rare or uncommon diseases not present in the dataset</a:t>
            </a:r>
          </a:p>
          <a:p>
            <a:pPr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Conditions with insufficient data for accurate modeling</a:t>
            </a:r>
          </a:p>
          <a:p>
            <a:pPr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Non-chronic or acute diseases</a:t>
            </a:r>
          </a:p>
          <a:p>
            <a:pPr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Genetic disorders outside study scope</a:t>
            </a:r>
          </a:p>
          <a:p>
            <a:pPr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Lifestyle-only conditions without medical records</a:t>
            </a:r>
          </a:p>
        </p:txBody>
      </p:sp>
      <p:sp>
        <p:nvSpPr>
          <p:cNvPr id="9" name="Text Placeholder 2">
            <a:extLst>
              <a:ext uri="{FF2B5EF4-FFF2-40B4-BE49-F238E27FC236}">
                <a16:creationId xmlns:a16="http://schemas.microsoft.com/office/drawing/2014/main" id="{497C8C7E-E208-4C0A-EA96-9708D9CAF464}"/>
              </a:ext>
            </a:extLst>
          </p:cNvPr>
          <p:cNvSpPr txBox="1">
            <a:spLocks/>
          </p:cNvSpPr>
          <p:nvPr/>
        </p:nvSpPr>
        <p:spPr>
          <a:xfrm>
            <a:off x="8425132" y="1472282"/>
            <a:ext cx="3322607" cy="641350"/>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0"/>
              </a:spcBef>
              <a:buClr>
                <a:schemeClr val="accent1">
                  <a:lumMod val="75000"/>
                </a:schemeClr>
              </a:buClr>
              <a:buSzPct val="100000"/>
              <a:buFont typeface="Arial" pitchFamily="34" charset="0"/>
              <a:buNone/>
              <a:defRPr sz="2000" b="0" kern="1200">
                <a:solidFill>
                  <a:schemeClr val="accent1"/>
                </a:solidFill>
                <a:latin typeface="+mn-lt"/>
                <a:ea typeface="+mn-ea"/>
                <a:cs typeface="+mn-cs"/>
              </a:defRPr>
            </a:lvl1pPr>
            <a:lvl2pPr marL="457200" indent="0" algn="l" defTabSz="914400" rtl="0" eaLnBrk="1" latinLnBrk="0" hangingPunct="1">
              <a:lnSpc>
                <a:spcPct val="90000"/>
              </a:lnSpc>
              <a:spcBef>
                <a:spcPts val="1200"/>
              </a:spcBef>
              <a:buClr>
                <a:schemeClr val="accent1">
                  <a:lumMod val="75000"/>
                </a:schemeClr>
              </a:buClr>
              <a:buSzPct val="100000"/>
              <a:buFont typeface="Arial"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75000"/>
                </a:schemeClr>
              </a:buClr>
              <a:buSzPct val="100000"/>
              <a:buFont typeface="Arial"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b="1" kern="1200">
                <a:solidFill>
                  <a:schemeClr val="tx1"/>
                </a:solidFill>
                <a:latin typeface="+mn-lt"/>
                <a:ea typeface="+mn-ea"/>
                <a:cs typeface="+mn-cs"/>
              </a:defRPr>
            </a:lvl9pPr>
          </a:lstStyle>
          <a:p>
            <a:pPr algn="ctr"/>
            <a:r>
              <a:rPr lang="en-IN" sz="3200" b="1" dirty="0">
                <a:solidFill>
                  <a:schemeClr val="tx1"/>
                </a:solidFill>
                <a:latin typeface="Times New Roman" panose="02020603050405020304" pitchFamily="18" charset="0"/>
                <a:cs typeface="Times New Roman" panose="02020603050405020304" pitchFamily="18" charset="0"/>
              </a:rPr>
              <a:t>Target Users</a:t>
            </a:r>
          </a:p>
        </p:txBody>
      </p:sp>
      <p:sp>
        <p:nvSpPr>
          <p:cNvPr id="10" name="Content Placeholder 3">
            <a:extLst>
              <a:ext uri="{FF2B5EF4-FFF2-40B4-BE49-F238E27FC236}">
                <a16:creationId xmlns:a16="http://schemas.microsoft.com/office/drawing/2014/main" id="{660125CA-48A1-0759-CC08-968F13D41BE2}"/>
              </a:ext>
            </a:extLst>
          </p:cNvPr>
          <p:cNvSpPr txBox="1">
            <a:spLocks/>
          </p:cNvSpPr>
          <p:nvPr/>
        </p:nvSpPr>
        <p:spPr>
          <a:xfrm>
            <a:off x="8526493" y="2443529"/>
            <a:ext cx="3766868" cy="32874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9pPr>
          </a:lstStyle>
          <a:p>
            <a:pPr marL="0" lvl="0" indent="0" eaLnBrk="0" fontAlgn="base" hangingPunct="0">
              <a:lnSpc>
                <a:spcPct val="150000"/>
              </a:lnSpc>
              <a:spcBef>
                <a:spcPct val="0"/>
              </a:spcBef>
              <a:spcAft>
                <a:spcPct val="0"/>
              </a:spcAft>
              <a:buClrTx/>
              <a:buSzTx/>
              <a:buFontTx/>
              <a:buChar char="•"/>
            </a:pPr>
            <a:r>
              <a:rPr lang="en-US" altLang="en-US" sz="2400" dirty="0">
                <a:latin typeface="Times New Roman" panose="02020603050405020304" pitchFamily="18" charset="0"/>
                <a:cs typeface="Times New Roman" panose="02020603050405020304" pitchFamily="18" charset="0"/>
              </a:rPr>
              <a:t> Clinicians</a:t>
            </a:r>
          </a:p>
          <a:p>
            <a:pPr marL="0" lvl="0" indent="0" eaLnBrk="0" fontAlgn="base" hangingPunct="0">
              <a:lnSpc>
                <a:spcPct val="150000"/>
              </a:lnSpc>
              <a:spcBef>
                <a:spcPct val="0"/>
              </a:spcBef>
              <a:spcAft>
                <a:spcPct val="0"/>
              </a:spcAft>
              <a:buClrTx/>
              <a:buSzTx/>
              <a:buFontTx/>
              <a:buChar char="•"/>
            </a:pPr>
            <a:r>
              <a:rPr lang="en-US" altLang="en-US" sz="2400" dirty="0">
                <a:latin typeface="Times New Roman" panose="02020603050405020304" pitchFamily="18" charset="0"/>
                <a:cs typeface="Times New Roman" panose="02020603050405020304" pitchFamily="18" charset="0"/>
              </a:rPr>
              <a:t> Healthcare providers</a:t>
            </a:r>
          </a:p>
          <a:p>
            <a:pPr marL="0" lvl="0" indent="0" eaLnBrk="0" fontAlgn="base" hangingPunct="0">
              <a:lnSpc>
                <a:spcPct val="150000"/>
              </a:lnSpc>
              <a:spcBef>
                <a:spcPct val="0"/>
              </a:spcBef>
              <a:spcAft>
                <a:spcPct val="0"/>
              </a:spcAft>
              <a:buClrTx/>
              <a:buSzTx/>
              <a:buFontTx/>
              <a:buChar char="•"/>
            </a:pPr>
            <a:r>
              <a:rPr lang="en-US" altLang="en-US" sz="2400" dirty="0">
                <a:latin typeface="Times New Roman" panose="02020603050405020304" pitchFamily="18" charset="0"/>
                <a:cs typeface="Times New Roman" panose="02020603050405020304" pitchFamily="18" charset="0"/>
              </a:rPr>
              <a:t> Medical researchers</a:t>
            </a:r>
          </a:p>
          <a:p>
            <a:pPr marL="0" lvl="0" indent="0" eaLnBrk="0" fontAlgn="base" hangingPunct="0">
              <a:lnSpc>
                <a:spcPct val="150000"/>
              </a:lnSpc>
              <a:spcBef>
                <a:spcPct val="0"/>
              </a:spcBef>
              <a:spcAft>
                <a:spcPct val="0"/>
              </a:spcAft>
              <a:buClrTx/>
              <a:buSzTx/>
              <a:buFontTx/>
              <a:buChar char="•"/>
            </a:pPr>
            <a:r>
              <a:rPr lang="en-US" altLang="en-US" sz="2400" dirty="0">
                <a:latin typeface="Times New Roman" panose="02020603050405020304" pitchFamily="18" charset="0"/>
                <a:cs typeface="Times New Roman" panose="02020603050405020304" pitchFamily="18" charset="0"/>
              </a:rPr>
              <a:t> Hospital administrators</a:t>
            </a:r>
          </a:p>
          <a:p>
            <a:pPr marL="0" lvl="0" indent="0" eaLnBrk="0" fontAlgn="base" hangingPunct="0">
              <a:lnSpc>
                <a:spcPct val="150000"/>
              </a:lnSpc>
              <a:spcBef>
                <a:spcPct val="0"/>
              </a:spcBef>
              <a:spcAft>
                <a:spcPct val="0"/>
              </a:spcAft>
              <a:buClrTx/>
              <a:buSzTx/>
              <a:buFontTx/>
              <a:buChar char="•"/>
            </a:pPr>
            <a:r>
              <a:rPr lang="en-US" altLang="en-US" sz="2400" dirty="0">
                <a:latin typeface="Times New Roman" panose="02020603050405020304" pitchFamily="18" charset="0"/>
                <a:cs typeface="Times New Roman" panose="02020603050405020304" pitchFamily="18" charset="0"/>
              </a:rPr>
              <a:t> Public health policymakers</a:t>
            </a:r>
          </a:p>
        </p:txBody>
      </p:sp>
      <p:pic>
        <p:nvPicPr>
          <p:cNvPr id="11" name="Picture 10" descr="MITS Deemed to be University (Declared under section 3 of UGC Act, 1956 by  Govt. of India-MoE)">
            <a:extLst>
              <a:ext uri="{FF2B5EF4-FFF2-40B4-BE49-F238E27FC236}">
                <a16:creationId xmlns:a16="http://schemas.microsoft.com/office/drawing/2014/main" id="{7B6D417C-0927-DFF0-83D4-95C94786F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08141FC-237C-4542-3414-21268292A923}"/>
              </a:ext>
            </a:extLst>
          </p:cNvPr>
          <p:cNvSpPr>
            <a:spLocks noGrp="1"/>
          </p:cNvSpPr>
          <p:nvPr>
            <p:ph type="sldNum" sz="quarter" idx="12"/>
          </p:nvPr>
        </p:nvSpPr>
        <p:spPr/>
        <p:txBody>
          <a:bodyPr/>
          <a:lstStyle/>
          <a:p>
            <a:fld id="{E31375A4-56A4-47D6-9801-1991572033F7}" type="slidenum">
              <a:rPr lang="en-US" sz="3200" smtClean="0"/>
              <a:t>7</a:t>
            </a:fld>
            <a:endParaRPr lang="en-US" sz="3200" dirty="0"/>
          </a:p>
        </p:txBody>
      </p:sp>
    </p:spTree>
    <p:extLst>
      <p:ext uri="{BB962C8B-B14F-4D97-AF65-F5344CB8AC3E}">
        <p14:creationId xmlns:p14="http://schemas.microsoft.com/office/powerpoint/2010/main" val="349210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EDF14-53E2-6C67-6A55-F6B497D2AC27}"/>
              </a:ext>
            </a:extLst>
          </p:cNvPr>
          <p:cNvSpPr>
            <a:spLocks noGrp="1"/>
          </p:cNvSpPr>
          <p:nvPr>
            <p:ph type="title"/>
          </p:nvPr>
        </p:nvSpPr>
        <p:spPr>
          <a:xfrm>
            <a:off x="1295400" y="72532"/>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90497BED-DB77-08A8-6688-40398BB1F050}"/>
              </a:ext>
            </a:extLst>
          </p:cNvPr>
          <p:cNvSpPr>
            <a:spLocks noGrp="1"/>
          </p:cNvSpPr>
          <p:nvPr>
            <p:ph idx="1"/>
          </p:nvPr>
        </p:nvSpPr>
        <p:spPr>
          <a:xfrm>
            <a:off x="592347" y="1417608"/>
            <a:ext cx="11007306" cy="4229818"/>
          </a:xfrm>
        </p:spPr>
        <p:txBody>
          <a:bodyPr>
            <a:normAutofit fontScale="92500"/>
          </a:bodyPr>
          <a:lstStyle/>
          <a:p>
            <a:pPr marL="0" indent="0" algn="ctr">
              <a:buNone/>
            </a:pPr>
            <a:r>
              <a:rPr lang="en-US" sz="3900" b="1" dirty="0">
                <a:latin typeface="Times New Roman" panose="02020603050405020304" pitchFamily="18" charset="0"/>
                <a:cs typeface="Times New Roman" panose="02020603050405020304" pitchFamily="18" charset="0"/>
              </a:rPr>
              <a:t>Summary of Related Works</a:t>
            </a:r>
            <a:endParaRPr lang="en-US" sz="39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ML-only approaches:</a:t>
            </a:r>
            <a:r>
              <a:rPr lang="en-US" sz="2600" dirty="0">
                <a:latin typeface="Times New Roman" panose="02020603050405020304" pitchFamily="18" charset="0"/>
                <a:cs typeface="Times New Roman" panose="02020603050405020304" pitchFamily="18" charset="0"/>
              </a:rPr>
              <a:t> Focused on single-disease prediction; moderate accuracy.</a:t>
            </a:r>
          </a:p>
          <a:p>
            <a:r>
              <a:rPr lang="en-US" sz="2600" b="1" dirty="0">
                <a:latin typeface="Times New Roman" panose="02020603050405020304" pitchFamily="18" charset="0"/>
                <a:cs typeface="Times New Roman" panose="02020603050405020304" pitchFamily="18" charset="0"/>
              </a:rPr>
              <a:t>DL-only approaches:</a:t>
            </a:r>
            <a:r>
              <a:rPr lang="en-US" sz="2600" dirty="0">
                <a:latin typeface="Times New Roman" panose="02020603050405020304" pitchFamily="18" charset="0"/>
                <a:cs typeface="Times New Roman" panose="02020603050405020304" pitchFamily="18" charset="0"/>
              </a:rPr>
              <a:t> Improved performance with large datasets; often computationally heavy.</a:t>
            </a:r>
          </a:p>
          <a:p>
            <a:r>
              <a:rPr lang="en-US" sz="2600" b="1" dirty="0">
                <a:latin typeface="Times New Roman" panose="02020603050405020304" pitchFamily="18" charset="0"/>
                <a:cs typeface="Times New Roman" panose="02020603050405020304" pitchFamily="18" charset="0"/>
              </a:rPr>
              <a:t>Hybrid approaches:</a:t>
            </a:r>
            <a:r>
              <a:rPr lang="en-US" sz="2600" dirty="0">
                <a:latin typeface="Times New Roman" panose="02020603050405020304" pitchFamily="18" charset="0"/>
                <a:cs typeface="Times New Roman" panose="02020603050405020304" pitchFamily="18" charset="0"/>
              </a:rPr>
              <a:t> Combine ML and DL for better accuracy; limited adoption in multi-disease prediction.</a:t>
            </a:r>
          </a:p>
          <a:p>
            <a:r>
              <a:rPr lang="en-US" sz="2600" dirty="0">
                <a:latin typeface="Times New Roman" panose="02020603050405020304" pitchFamily="18" charset="0"/>
                <a:cs typeface="Times New Roman" panose="02020603050405020304" pitchFamily="18" charset="0"/>
              </a:rPr>
              <a:t>Mostly rely on structured data; unstructured data (clinical notes, reports) underutilized.</a:t>
            </a:r>
          </a:p>
          <a:p>
            <a:r>
              <a:rPr lang="en-US" sz="2600" dirty="0">
                <a:latin typeface="Times New Roman" panose="02020603050405020304" pitchFamily="18" charset="0"/>
                <a:cs typeface="Times New Roman" panose="02020603050405020304" pitchFamily="18" charset="0"/>
              </a:rPr>
              <a:t>Few models integrate Explainable AI for interpretability.</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B6FE1C8A-E99F-DDE7-3344-B8FAC3E1F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627A1BFE-A115-EC6B-A665-28CCEE580A6A}"/>
              </a:ext>
            </a:extLst>
          </p:cNvPr>
          <p:cNvSpPr>
            <a:spLocks noGrp="1"/>
          </p:cNvSpPr>
          <p:nvPr>
            <p:ph type="sldNum" sz="quarter" idx="12"/>
          </p:nvPr>
        </p:nvSpPr>
        <p:spPr/>
        <p:txBody>
          <a:bodyPr/>
          <a:lstStyle/>
          <a:p>
            <a:fld id="{E31375A4-56A4-47D6-9801-1991572033F7}" type="slidenum">
              <a:rPr lang="en-US" sz="3200" smtClean="0"/>
              <a:t>8</a:t>
            </a:fld>
            <a:endParaRPr lang="en-US" sz="3200" dirty="0"/>
          </a:p>
        </p:txBody>
      </p:sp>
    </p:spTree>
    <p:extLst>
      <p:ext uri="{BB962C8B-B14F-4D97-AF65-F5344CB8AC3E}">
        <p14:creationId xmlns:p14="http://schemas.microsoft.com/office/powerpoint/2010/main" val="186638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77B04-676E-C64A-5CC7-2144FC65B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7288F-9507-A084-77B1-CCBF360971D5}"/>
              </a:ext>
            </a:extLst>
          </p:cNvPr>
          <p:cNvSpPr>
            <a:spLocks noGrp="1"/>
          </p:cNvSpPr>
          <p:nvPr>
            <p:ph type="title"/>
          </p:nvPr>
        </p:nvSpPr>
        <p:spPr>
          <a:xfrm>
            <a:off x="1295400" y="72532"/>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2A6462EE-780D-D157-3B01-3D04397BA064}"/>
              </a:ext>
            </a:extLst>
          </p:cNvPr>
          <p:cNvSpPr>
            <a:spLocks noGrp="1"/>
          </p:cNvSpPr>
          <p:nvPr>
            <p:ph idx="1"/>
          </p:nvPr>
        </p:nvSpPr>
        <p:spPr>
          <a:xfrm>
            <a:off x="592347" y="1417608"/>
            <a:ext cx="11007306" cy="4229818"/>
          </a:xfrm>
        </p:spPr>
        <p:txBody>
          <a:bodyPr>
            <a:normAutofit/>
          </a:bodyPr>
          <a:lstStyle/>
          <a:p>
            <a:pPr marL="0" indent="0" algn="ctr">
              <a:buNone/>
            </a:pPr>
            <a:r>
              <a:rPr lang="en-US" sz="4000" b="1" dirty="0">
                <a:latin typeface="Times New Roman" panose="02020603050405020304" pitchFamily="18" charset="0"/>
                <a:cs typeface="Times New Roman" panose="02020603050405020304" pitchFamily="18" charset="0"/>
              </a:rPr>
              <a:t>Research Gaps </a:t>
            </a:r>
            <a:r>
              <a:rPr lang="en-US" sz="4600" b="1" dirty="0">
                <a:latin typeface="Times New Roman" panose="02020603050405020304" pitchFamily="18" charset="0"/>
                <a:cs typeface="Times New Roman" panose="02020603050405020304" pitchFamily="18" charset="0"/>
              </a:rPr>
              <a:t>Identified</a:t>
            </a:r>
            <a:endParaRPr lang="en-US" sz="4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Limited interpretability reduces clinical trust in models.</a:t>
            </a:r>
          </a:p>
          <a:p>
            <a:r>
              <a:rPr lang="en-US" sz="2400" dirty="0">
                <a:latin typeface="Times New Roman" panose="02020603050405020304" pitchFamily="18" charset="0"/>
                <a:cs typeface="Times New Roman" panose="02020603050405020304" pitchFamily="18" charset="0"/>
              </a:rPr>
              <a:t>Existing models mostly target single-disease prediction.</a:t>
            </a:r>
          </a:p>
          <a:p>
            <a:r>
              <a:rPr lang="en-US" sz="2400" dirty="0">
                <a:latin typeface="Times New Roman" panose="02020603050405020304" pitchFamily="18" charset="0"/>
                <a:cs typeface="Times New Roman" panose="02020603050405020304" pitchFamily="18" charset="0"/>
              </a:rPr>
              <a:t>Lack of integration between structured and unstructured data.</a:t>
            </a:r>
          </a:p>
          <a:p>
            <a:r>
              <a:rPr lang="en-US" sz="2400" dirty="0">
                <a:latin typeface="Times New Roman" panose="02020603050405020304" pitchFamily="18" charset="0"/>
                <a:cs typeface="Times New Roman" panose="02020603050405020304" pitchFamily="18" charset="0"/>
              </a:rPr>
              <a:t>Insufficient hybrid approaches combining ML, DL, and XAI.</a:t>
            </a:r>
          </a:p>
          <a:p>
            <a:r>
              <a:rPr lang="en-US" sz="2400" dirty="0">
                <a:latin typeface="Times New Roman" panose="02020603050405020304" pitchFamily="18" charset="0"/>
                <a:cs typeface="Times New Roman" panose="02020603050405020304" pitchFamily="18" charset="0"/>
              </a:rPr>
              <a:t>Need for personalized, multi-disease prediction frameworks for real-world application.</a:t>
            </a:r>
          </a:p>
        </p:txBody>
      </p:sp>
      <p:pic>
        <p:nvPicPr>
          <p:cNvPr id="4" name="Picture 3" descr="MITS Deemed to be University (Declared under section 3 of UGC Act, 1956 by  Govt. of India-MoE)">
            <a:extLst>
              <a:ext uri="{FF2B5EF4-FFF2-40B4-BE49-F238E27FC236}">
                <a16:creationId xmlns:a16="http://schemas.microsoft.com/office/drawing/2014/main" id="{D56B6C14-7A12-17BD-7D83-654134EA3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7F6FCDE-380E-E90C-B5C7-DD7CD58FC1DD}"/>
              </a:ext>
            </a:extLst>
          </p:cNvPr>
          <p:cNvSpPr>
            <a:spLocks noGrp="1"/>
          </p:cNvSpPr>
          <p:nvPr>
            <p:ph type="sldNum" sz="quarter" idx="12"/>
          </p:nvPr>
        </p:nvSpPr>
        <p:spPr/>
        <p:txBody>
          <a:bodyPr/>
          <a:lstStyle/>
          <a:p>
            <a:fld id="{E31375A4-56A4-47D6-9801-1991572033F7}" type="slidenum">
              <a:rPr lang="en-US" sz="3200" smtClean="0"/>
              <a:t>9</a:t>
            </a:fld>
            <a:endParaRPr lang="en-US" sz="3200" dirty="0"/>
          </a:p>
        </p:txBody>
      </p:sp>
    </p:spTree>
    <p:extLst>
      <p:ext uri="{BB962C8B-B14F-4D97-AF65-F5344CB8AC3E}">
        <p14:creationId xmlns:p14="http://schemas.microsoft.com/office/powerpoint/2010/main" val="1424975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9780" y="1224950"/>
            <a:ext cx="6872377" cy="5061549"/>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Overview:</a:t>
            </a:r>
            <a:r>
              <a:rPr lang="en-IN" sz="24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Hybrid DL+ML model integrating transformer-based NLP embeddings for multi-disease prediction.</a:t>
            </a:r>
          </a:p>
          <a:p>
            <a:pPr marL="0" indent="0">
              <a:buNone/>
            </a:pPr>
            <a:r>
              <a:rPr lang="en-US" sz="2400" b="1" dirty="0">
                <a:latin typeface="Times New Roman" panose="02020603050405020304" pitchFamily="18" charset="0"/>
                <a:cs typeface="Times New Roman" panose="02020603050405020304" pitchFamily="18" charset="0"/>
              </a:rPr>
              <a:t>Advantages Over Existing Systems:</a:t>
            </a:r>
            <a:endParaRPr lang="en-US" sz="2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Higher accuracy and reliability compared to single-model approaches.</a:t>
            </a:r>
          </a:p>
          <a:p>
            <a:r>
              <a:rPr lang="en-US" dirty="0">
                <a:latin typeface="Times New Roman" panose="02020603050405020304" pitchFamily="18" charset="0"/>
                <a:cs typeface="Times New Roman" panose="02020603050405020304" pitchFamily="18" charset="0"/>
              </a:rPr>
              <a:t>Early detection of multiple diseases at once.</a:t>
            </a:r>
          </a:p>
          <a:p>
            <a:r>
              <a:rPr lang="en-US" dirty="0">
                <a:latin typeface="Times New Roman" panose="02020603050405020304" pitchFamily="18" charset="0"/>
                <a:cs typeface="Times New Roman" panose="02020603050405020304" pitchFamily="18" charset="0"/>
              </a:rPr>
              <a:t>Explainable AI (SHAP &amp; LIME) enhances transparency.</a:t>
            </a:r>
          </a:p>
          <a:p>
            <a:r>
              <a:rPr lang="en-US" dirty="0">
                <a:latin typeface="Times New Roman" panose="02020603050405020304" pitchFamily="18" charset="0"/>
                <a:cs typeface="Times New Roman" panose="02020603050405020304" pitchFamily="18" charset="0"/>
              </a:rPr>
              <a:t>Supports personalized treatment and clinical decision-making.</a:t>
            </a:r>
          </a:p>
          <a:p>
            <a:r>
              <a:rPr lang="en-US" dirty="0">
                <a:latin typeface="Times New Roman" panose="02020603050405020304" pitchFamily="18" charset="0"/>
                <a:cs typeface="Times New Roman" panose="02020603050405020304" pitchFamily="18" charset="0"/>
              </a:rPr>
              <a:t>Combines strengths of ML and DL for robust performance.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621D858A-CBBA-4473-4833-A91624609E89}"/>
              </a:ext>
            </a:extLst>
          </p:cNvPr>
          <p:cNvSpPr txBox="1">
            <a:spLocks/>
          </p:cNvSpPr>
          <p:nvPr/>
        </p:nvSpPr>
        <p:spPr>
          <a:xfrm>
            <a:off x="-1148443" y="-226105"/>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600" b="1" kern="1200">
                <a:solidFill>
                  <a:schemeClr val="bg1"/>
                </a:solidFill>
                <a:latin typeface="+mj-lt"/>
                <a:ea typeface="+mj-ea"/>
                <a:cs typeface="+mj-cs"/>
              </a:defRPr>
            </a:lvl1pPr>
          </a:lstStyle>
          <a:p>
            <a:pPr algn="ctr"/>
            <a:r>
              <a:rPr lang="en-IN" sz="4400" dirty="0">
                <a:solidFill>
                  <a:schemeClr val="accent1">
                    <a:lumMod val="75000"/>
                  </a:schemeClr>
                </a:solidFill>
                <a:latin typeface="Times New Roman" panose="02020603050405020304" pitchFamily="18" charset="0"/>
                <a:cs typeface="Times New Roman" panose="02020603050405020304" pitchFamily="18" charset="0"/>
              </a:rPr>
              <a:t>Proposed System</a:t>
            </a:r>
            <a:endParaRPr lang="en-US" sz="28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7170" name="Picture 2" descr="Transformer Models: From Hype to Implementation » Artificial Intelligence -  MATLAB &amp; Simulink">
            <a:extLst>
              <a:ext uri="{FF2B5EF4-FFF2-40B4-BE49-F238E27FC236}">
                <a16:creationId xmlns:a16="http://schemas.microsoft.com/office/drawing/2014/main" id="{E28D3089-3462-09BB-D92B-2D29453D0E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3498"/>
          <a:stretch>
            <a:fillRect/>
          </a:stretch>
        </p:blipFill>
        <p:spPr bwMode="auto">
          <a:xfrm>
            <a:off x="7680114" y="1156658"/>
            <a:ext cx="4322106" cy="418596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10BE95D8-23D7-E7BD-37C3-8853397765F1}"/>
              </a:ext>
            </a:extLst>
          </p:cNvPr>
          <p:cNvSpPr>
            <a:spLocks noGrp="1"/>
          </p:cNvSpPr>
          <p:nvPr>
            <p:ph type="sldNum" sz="quarter" idx="12"/>
          </p:nvPr>
        </p:nvSpPr>
        <p:spPr/>
        <p:txBody>
          <a:bodyPr/>
          <a:lstStyle/>
          <a:p>
            <a:fld id="{E31375A4-56A4-47D6-9801-1991572033F7}" type="slidenum">
              <a:rPr lang="en-US" sz="3200" smtClean="0"/>
              <a:pPr/>
              <a:t>10</a:t>
            </a:fld>
            <a:endParaRPr lang="en-US" sz="3200" dirty="0"/>
          </a:p>
        </p:txBody>
      </p:sp>
    </p:spTree>
    <p:extLst>
      <p:ext uri="{BB962C8B-B14F-4D97-AF65-F5344CB8AC3E}">
        <p14:creationId xmlns:p14="http://schemas.microsoft.com/office/powerpoint/2010/main" val="410160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5315-796D-C57D-33DD-155FDB699E8C}"/>
              </a:ext>
            </a:extLst>
          </p:cNvPr>
          <p:cNvSpPr>
            <a:spLocks noGrp="1"/>
          </p:cNvSpPr>
          <p:nvPr>
            <p:ph type="title"/>
          </p:nvPr>
        </p:nvSpPr>
        <p:spPr>
          <a:xfrm>
            <a:off x="1295400" y="0"/>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Methodology</a:t>
            </a:r>
          </a:p>
        </p:txBody>
      </p:sp>
      <p:sp>
        <p:nvSpPr>
          <p:cNvPr id="4" name="Rectangle 1">
            <a:extLst>
              <a:ext uri="{FF2B5EF4-FFF2-40B4-BE49-F238E27FC236}">
                <a16:creationId xmlns:a16="http://schemas.microsoft.com/office/drawing/2014/main" id="{40477797-6181-3BD6-C4E2-802DC6DFEFBF}"/>
              </a:ext>
            </a:extLst>
          </p:cNvPr>
          <p:cNvSpPr>
            <a:spLocks noGrp="1" noChangeArrowheads="1"/>
          </p:cNvSpPr>
          <p:nvPr>
            <p:ph idx="1"/>
          </p:nvPr>
        </p:nvSpPr>
        <p:spPr bwMode="auto">
          <a:xfrm>
            <a:off x="322053" y="1309852"/>
            <a:ext cx="11547893" cy="4635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800" b="1" dirty="0">
                <a:latin typeface="Times New Roman" panose="02020603050405020304" pitchFamily="18" charset="0"/>
                <a:cs typeface="Times New Roman" panose="02020603050405020304" pitchFamily="18" charset="0"/>
              </a:rPr>
              <a:t>System Architecture:</a:t>
            </a:r>
            <a:endParaRPr lang="en-IN" sz="28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Hybrid model workflow integrating DL and ML for multi-disease prediction.</a:t>
            </a:r>
          </a:p>
          <a:p>
            <a:pPr marL="0" indent="0">
              <a:buNone/>
            </a:pPr>
            <a:r>
              <a:rPr lang="en-IN" sz="2800" b="1" dirty="0">
                <a:latin typeface="Times New Roman" panose="02020603050405020304" pitchFamily="18" charset="0"/>
                <a:cs typeface="Times New Roman" panose="02020603050405020304" pitchFamily="18" charset="0"/>
              </a:rPr>
              <a:t>Workflow / Process Flow:</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Data Collection → Preprocessing → Feature Extraction → Hybrid Model → Predictions → XAI Explanations</a:t>
            </a:r>
          </a:p>
          <a:p>
            <a:pPr marL="0" indent="0">
              <a:buNone/>
            </a:pPr>
            <a:r>
              <a:rPr lang="en-IN" sz="2800" b="1" dirty="0">
                <a:latin typeface="Times New Roman" panose="02020603050405020304" pitchFamily="18" charset="0"/>
                <a:cs typeface="Times New Roman" panose="02020603050405020304" pitchFamily="18" charset="0"/>
              </a:rPr>
              <a:t>Algorithms / Techniques Used:</a:t>
            </a:r>
            <a:endParaRPr lang="en-IN" sz="28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Deep Learning (CNN, RNN, Transformers) for feature extraction</a:t>
            </a:r>
          </a:p>
          <a:p>
            <a:r>
              <a:rPr lang="en-IN" sz="2400" dirty="0">
                <a:latin typeface="Times New Roman" panose="02020603050405020304" pitchFamily="18" charset="0"/>
                <a:cs typeface="Times New Roman" panose="02020603050405020304" pitchFamily="18" charset="0"/>
              </a:rPr>
              <a:t>Machine Learning classifiers (Random Forest, </a:t>
            </a:r>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for prediction</a:t>
            </a:r>
          </a:p>
          <a:p>
            <a:r>
              <a:rPr lang="en-IN" sz="2400" dirty="0">
                <a:latin typeface="Times New Roman" panose="02020603050405020304" pitchFamily="18" charset="0"/>
                <a:cs typeface="Times New Roman" panose="02020603050405020304" pitchFamily="18" charset="0"/>
              </a:rPr>
              <a:t>SHAP &amp; LIME for explainable AI</a:t>
            </a:r>
          </a:p>
        </p:txBody>
      </p:sp>
      <p:pic>
        <p:nvPicPr>
          <p:cNvPr id="5" name="Picture 4" descr="MITS Deemed to be University (Declared under section 3 of UGC Act, 1956 by  Govt. of India-MoE)">
            <a:extLst>
              <a:ext uri="{FF2B5EF4-FFF2-40B4-BE49-F238E27FC236}">
                <a16:creationId xmlns:a16="http://schemas.microsoft.com/office/drawing/2014/main" id="{5DA0FED9-1E48-1EA8-4376-4315A9B136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5AB6875-F0DC-AB78-D7F0-F5E03D360586}"/>
              </a:ext>
            </a:extLst>
          </p:cNvPr>
          <p:cNvSpPr>
            <a:spLocks noGrp="1"/>
          </p:cNvSpPr>
          <p:nvPr>
            <p:ph type="sldNum" sz="quarter" idx="12"/>
          </p:nvPr>
        </p:nvSpPr>
        <p:spPr/>
        <p:txBody>
          <a:bodyPr/>
          <a:lstStyle/>
          <a:p>
            <a:fld id="{E31375A4-56A4-47D6-9801-1991572033F7}" type="slidenum">
              <a:rPr lang="en-US" sz="3200" smtClean="0"/>
              <a:t>11</a:t>
            </a:fld>
            <a:endParaRPr lang="en-US" sz="3200" dirty="0"/>
          </a:p>
        </p:txBody>
      </p:sp>
    </p:spTree>
    <p:extLst>
      <p:ext uri="{BB962C8B-B14F-4D97-AF65-F5344CB8AC3E}">
        <p14:creationId xmlns:p14="http://schemas.microsoft.com/office/powerpoint/2010/main" val="269705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20698-2766-C222-8AD7-160D09694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DFF4B-2B5E-DB0B-A6B6-06B0E4F2F1E2}"/>
              </a:ext>
            </a:extLst>
          </p:cNvPr>
          <p:cNvSpPr>
            <a:spLocks noGrp="1"/>
          </p:cNvSpPr>
          <p:nvPr>
            <p:ph type="title"/>
          </p:nvPr>
        </p:nvSpPr>
        <p:spPr>
          <a:xfrm>
            <a:off x="1295400" y="0"/>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Tools &amp; Technologies</a:t>
            </a:r>
          </a:p>
        </p:txBody>
      </p:sp>
      <p:sp>
        <p:nvSpPr>
          <p:cNvPr id="4" name="Rectangle 1">
            <a:extLst>
              <a:ext uri="{FF2B5EF4-FFF2-40B4-BE49-F238E27FC236}">
                <a16:creationId xmlns:a16="http://schemas.microsoft.com/office/drawing/2014/main" id="{68CC2FCF-EFD1-15E9-3F73-D3B2653A73CA}"/>
              </a:ext>
            </a:extLst>
          </p:cNvPr>
          <p:cNvSpPr>
            <a:spLocks noGrp="1" noChangeArrowheads="1"/>
          </p:cNvSpPr>
          <p:nvPr>
            <p:ph idx="1"/>
          </p:nvPr>
        </p:nvSpPr>
        <p:spPr bwMode="auto">
          <a:xfrm>
            <a:off x="322053" y="2386563"/>
            <a:ext cx="11547893" cy="1883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b="1" dirty="0">
                <a:latin typeface="Times New Roman" panose="02020603050405020304" pitchFamily="18" charset="0"/>
                <a:cs typeface="Times New Roman" panose="02020603050405020304" pitchFamily="18" charset="0"/>
              </a:rPr>
              <a:t>Programming Languages:</a:t>
            </a:r>
            <a:r>
              <a:rPr lang="en-IN" sz="2400" dirty="0">
                <a:latin typeface="Times New Roman" panose="02020603050405020304" pitchFamily="18" charset="0"/>
                <a:cs typeface="Times New Roman" panose="02020603050405020304" pitchFamily="18" charset="0"/>
              </a:rPr>
              <a:t> Python</a:t>
            </a:r>
          </a:p>
          <a:p>
            <a:r>
              <a:rPr lang="en-IN" sz="2400" b="1" dirty="0">
                <a:latin typeface="Times New Roman" panose="02020603050405020304" pitchFamily="18" charset="0"/>
                <a:cs typeface="Times New Roman" panose="02020603050405020304" pitchFamily="18" charset="0"/>
              </a:rPr>
              <a:t>Software Tools: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 TensorFlow, </a:t>
            </a:r>
            <a:r>
              <a:rPr lang="en-IN" sz="2400"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Scikit-learn</a:t>
            </a:r>
          </a:p>
          <a:p>
            <a:r>
              <a:rPr lang="en-IN" sz="2400" b="1" dirty="0">
                <a:latin typeface="Times New Roman" panose="02020603050405020304" pitchFamily="18" charset="0"/>
                <a:cs typeface="Times New Roman" panose="02020603050405020304" pitchFamily="18" charset="0"/>
              </a:rPr>
              <a:t>Databases / Frameworks:</a:t>
            </a:r>
            <a:r>
              <a:rPr lang="en-IN" sz="2400" dirty="0">
                <a:latin typeface="Times New Roman" panose="02020603050405020304" pitchFamily="18" charset="0"/>
                <a:cs typeface="Times New Roman" panose="02020603050405020304" pitchFamily="18" charset="0"/>
              </a:rPr>
              <a:t> Public datasets (UCI, MIMIC), Pandas, NumPy, Transformer libraries</a:t>
            </a:r>
          </a:p>
        </p:txBody>
      </p:sp>
      <p:pic>
        <p:nvPicPr>
          <p:cNvPr id="3" name="Picture 2" descr="MITS Deemed to be University (Declared under section 3 of UGC Act, 1956 by  Govt. of India-MoE)">
            <a:extLst>
              <a:ext uri="{FF2B5EF4-FFF2-40B4-BE49-F238E27FC236}">
                <a16:creationId xmlns:a16="http://schemas.microsoft.com/office/drawing/2014/main" id="{4639635D-75CF-998F-8B92-04A3143507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56AF23D8-B958-A9A5-D856-343131490B96}"/>
              </a:ext>
            </a:extLst>
          </p:cNvPr>
          <p:cNvSpPr>
            <a:spLocks noGrp="1"/>
          </p:cNvSpPr>
          <p:nvPr>
            <p:ph type="sldNum" sz="quarter" idx="12"/>
          </p:nvPr>
        </p:nvSpPr>
        <p:spPr/>
        <p:txBody>
          <a:bodyPr/>
          <a:lstStyle/>
          <a:p>
            <a:fld id="{E31375A4-56A4-47D6-9801-1991572033F7}" type="slidenum">
              <a:rPr lang="en-US" sz="3200" smtClean="0"/>
              <a:t>12</a:t>
            </a:fld>
            <a:endParaRPr lang="en-US" sz="3200" dirty="0"/>
          </a:p>
        </p:txBody>
      </p:sp>
    </p:spTree>
    <p:extLst>
      <p:ext uri="{BB962C8B-B14F-4D97-AF65-F5344CB8AC3E}">
        <p14:creationId xmlns:p14="http://schemas.microsoft.com/office/powerpoint/2010/main" val="1519747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Conclusion</a:t>
            </a:r>
            <a:endParaRPr lang="en-US" sz="4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6FE991E-BA8C-645F-093F-C3431F37A13F}"/>
              </a:ext>
            </a:extLst>
          </p:cNvPr>
          <p:cNvSpPr txBox="1"/>
          <p:nvPr/>
        </p:nvSpPr>
        <p:spPr>
          <a:xfrm>
            <a:off x="1295400" y="1469713"/>
            <a:ext cx="7939177" cy="461665"/>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 </a:t>
            </a:r>
          </a:p>
        </p:txBody>
      </p:sp>
      <p:sp>
        <p:nvSpPr>
          <p:cNvPr id="8" name="Rectangle 4">
            <a:extLst>
              <a:ext uri="{FF2B5EF4-FFF2-40B4-BE49-F238E27FC236}">
                <a16:creationId xmlns:a16="http://schemas.microsoft.com/office/drawing/2014/main" id="{95CEE7D0-24D2-7732-1A44-AB259459D1C7}"/>
              </a:ext>
            </a:extLst>
          </p:cNvPr>
          <p:cNvSpPr>
            <a:spLocks noChangeArrowheads="1"/>
          </p:cNvSpPr>
          <p:nvPr/>
        </p:nvSpPr>
        <p:spPr bwMode="auto">
          <a:xfrm>
            <a:off x="901618" y="1867400"/>
            <a:ext cx="1038876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dirty="0">
                <a:latin typeface="Times New Roman" panose="02020603050405020304" pitchFamily="18" charset="0"/>
                <a:cs typeface="Times New Roman" panose="02020603050405020304" pitchFamily="18" charset="0"/>
              </a:rPr>
              <a:t>The hybrid DL+ML model using transformer embeddings is effective for early detection of multiple chronic diseases. With Explainable AI techniques like SHAP and LIME, the predictions are transparent and easy to interpret. This system improves accuracy and reliability compared to ML-only or DL-only models and shows strong potential for clinical adoption, supporting personalized care and preventive healthcare for better patient outcomes.</a:t>
            </a:r>
          </a:p>
        </p:txBody>
      </p:sp>
      <p:pic>
        <p:nvPicPr>
          <p:cNvPr id="9" name="Picture 8" descr="MITS Deemed to be University (Declared under section 3 of UGC Act, 1956 by  Govt. of India-MoE)">
            <a:extLst>
              <a:ext uri="{FF2B5EF4-FFF2-40B4-BE49-F238E27FC236}">
                <a16:creationId xmlns:a16="http://schemas.microsoft.com/office/drawing/2014/main" id="{3FEDABFF-BCEE-B032-C81C-236C17756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79AEA60-1096-FDB4-002B-90182E7F43E6}"/>
              </a:ext>
            </a:extLst>
          </p:cNvPr>
          <p:cNvSpPr>
            <a:spLocks noGrp="1"/>
          </p:cNvSpPr>
          <p:nvPr>
            <p:ph type="sldNum" sz="quarter" idx="12"/>
          </p:nvPr>
        </p:nvSpPr>
        <p:spPr/>
        <p:txBody>
          <a:bodyPr/>
          <a:lstStyle/>
          <a:p>
            <a:fld id="{E31375A4-56A4-47D6-9801-1991572033F7}" type="slidenum">
              <a:rPr lang="en-US" sz="3200" smtClean="0"/>
              <a:t>13</a:t>
            </a:fld>
            <a:endParaRPr lang="en-US" sz="3200" dirty="0"/>
          </a:p>
        </p:txBody>
      </p:sp>
    </p:spTree>
    <p:extLst>
      <p:ext uri="{BB962C8B-B14F-4D97-AF65-F5344CB8AC3E}">
        <p14:creationId xmlns:p14="http://schemas.microsoft.com/office/powerpoint/2010/main" val="45273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F73EF-3C22-7AE2-0328-A542381DB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17A22-B975-C570-AD52-0B117C95074E}"/>
              </a:ext>
            </a:extLst>
          </p:cNvPr>
          <p:cNvSpPr>
            <a:spLocks noGrp="1"/>
          </p:cNvSpPr>
          <p:nvPr>
            <p:ph type="title"/>
          </p:nvPr>
        </p:nvSpPr>
        <p:spPr>
          <a:xfrm>
            <a:off x="1295400" y="224287"/>
            <a:ext cx="9601200" cy="1142385"/>
          </a:xfrm>
        </p:spPr>
        <p:txBody>
          <a:bodyPr>
            <a:normAutofit/>
          </a:bodyPr>
          <a:lstStyle/>
          <a:p>
            <a:pPr algn="ctr"/>
            <a:r>
              <a:rPr lang="en-IN" sz="4400" dirty="0">
                <a:latin typeface="Times New Roman" panose="02020603050405020304" pitchFamily="18" charset="0"/>
                <a:cs typeface="Times New Roman" panose="02020603050405020304" pitchFamily="18" charset="0"/>
              </a:rPr>
              <a:t>References</a:t>
            </a:r>
            <a:endParaRPr lang="en-US" sz="4400" dirty="0">
              <a:latin typeface="Times New Roman" panose="02020603050405020304" pitchFamily="18" charset="0"/>
              <a:cs typeface="Times New Roman" panose="02020603050405020304" pitchFamily="18" charset="0"/>
            </a:endParaRPr>
          </a:p>
        </p:txBody>
      </p:sp>
      <p:sp>
        <p:nvSpPr>
          <p:cNvPr id="8" name="Rectangle 4">
            <a:extLst>
              <a:ext uri="{FF2B5EF4-FFF2-40B4-BE49-F238E27FC236}">
                <a16:creationId xmlns:a16="http://schemas.microsoft.com/office/drawing/2014/main" id="{6A7D5D78-492A-A2BD-5284-41249C0B6DCC}"/>
              </a:ext>
            </a:extLst>
          </p:cNvPr>
          <p:cNvSpPr>
            <a:spLocks noChangeArrowheads="1"/>
          </p:cNvSpPr>
          <p:nvPr/>
        </p:nvSpPr>
        <p:spPr bwMode="auto">
          <a:xfrm>
            <a:off x="968394" y="1993921"/>
            <a:ext cx="1025521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Smith, J. et al., “Hybrid ML-DL Models for Multi-Disease Prediction,” </a:t>
            </a:r>
            <a:r>
              <a:rPr lang="en-IN" sz="2400" i="1" dirty="0">
                <a:latin typeface="Times New Roman" panose="02020603050405020304" pitchFamily="18" charset="0"/>
                <a:cs typeface="Times New Roman" panose="02020603050405020304" pitchFamily="18" charset="0"/>
              </a:rPr>
              <a:t>IEEE Access</a:t>
            </a:r>
            <a:r>
              <a:rPr lang="en-IN" sz="2400" dirty="0">
                <a:latin typeface="Times New Roman" panose="02020603050405020304" pitchFamily="18" charset="0"/>
                <a:cs typeface="Times New Roman" panose="02020603050405020304" pitchFamily="18" charset="0"/>
              </a:rPr>
              <a:t>, 2022.</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Kumar, A. et al., “Explainable AI in Healthcare,” </a:t>
            </a:r>
            <a:r>
              <a:rPr lang="en-IN" sz="2400" i="1" dirty="0">
                <a:latin typeface="Times New Roman" panose="02020603050405020304" pitchFamily="18" charset="0"/>
                <a:cs typeface="Times New Roman" panose="02020603050405020304" pitchFamily="18" charset="0"/>
              </a:rPr>
              <a:t>Journal of Medical Systems</a:t>
            </a:r>
            <a:r>
              <a:rPr lang="en-IN" sz="2400" dirty="0">
                <a:latin typeface="Times New Roman" panose="02020603050405020304" pitchFamily="18" charset="0"/>
                <a:cs typeface="Times New Roman" panose="02020603050405020304" pitchFamily="18" charset="0"/>
              </a:rPr>
              <a:t>, 2021.</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Lee, H. et al., “Transformer-Based Models for Clinical Text Analysis,” </a:t>
            </a:r>
            <a:r>
              <a:rPr lang="en-IN" sz="2400" i="1" dirty="0">
                <a:latin typeface="Times New Roman" panose="02020603050405020304" pitchFamily="18" charset="0"/>
                <a:cs typeface="Times New Roman" panose="02020603050405020304" pitchFamily="18" charset="0"/>
              </a:rPr>
              <a:t>Computers in Biology and Medicine</a:t>
            </a:r>
            <a:r>
              <a:rPr lang="en-IN" sz="2400" dirty="0">
                <a:latin typeface="Times New Roman" panose="02020603050405020304" pitchFamily="18" charset="0"/>
                <a:cs typeface="Times New Roman" panose="02020603050405020304" pitchFamily="18" charset="0"/>
              </a:rPr>
              <a:t>, 2020.</a:t>
            </a:r>
          </a:p>
        </p:txBody>
      </p:sp>
      <p:pic>
        <p:nvPicPr>
          <p:cNvPr id="3" name="Picture 2" descr="MITS Deemed to be University (Declared under section 3 of UGC Act, 1956 by  Govt. of India-MoE)">
            <a:extLst>
              <a:ext uri="{FF2B5EF4-FFF2-40B4-BE49-F238E27FC236}">
                <a16:creationId xmlns:a16="http://schemas.microsoft.com/office/drawing/2014/main" id="{60073087-7D14-6B99-4917-C35D56CD01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53" y="187519"/>
            <a:ext cx="1384358" cy="114095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42F108B-368A-35DA-0626-E9630CE32AFB}"/>
              </a:ext>
            </a:extLst>
          </p:cNvPr>
          <p:cNvSpPr>
            <a:spLocks noGrp="1"/>
          </p:cNvSpPr>
          <p:nvPr>
            <p:ph type="sldNum" sz="quarter" idx="12"/>
          </p:nvPr>
        </p:nvSpPr>
        <p:spPr/>
        <p:txBody>
          <a:bodyPr/>
          <a:lstStyle/>
          <a:p>
            <a:fld id="{E31375A4-56A4-47D6-9801-1991572033F7}" type="slidenum">
              <a:rPr lang="en-US" sz="3200" smtClean="0"/>
              <a:t>14</a:t>
            </a:fld>
            <a:endParaRPr lang="en-US" sz="3200" dirty="0"/>
          </a:p>
        </p:txBody>
      </p:sp>
    </p:spTree>
    <p:extLst>
      <p:ext uri="{BB962C8B-B14F-4D97-AF65-F5344CB8AC3E}">
        <p14:creationId xmlns:p14="http://schemas.microsoft.com/office/powerpoint/2010/main" val="343848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BBDBA-CE63-7C82-3A15-1CD6400EEAF4}"/>
              </a:ext>
            </a:extLst>
          </p:cNvPr>
          <p:cNvSpPr>
            <a:spLocks noGrp="1"/>
          </p:cNvSpPr>
          <p:nvPr>
            <p:ph type="title"/>
          </p:nvPr>
        </p:nvSpPr>
        <p:spPr>
          <a:xfrm>
            <a:off x="1295400" y="2395914"/>
            <a:ext cx="9601200" cy="1142385"/>
          </a:xfrm>
        </p:spPr>
        <p:txBody>
          <a:bodyPr>
            <a:normAutofit fontScale="90000"/>
          </a:bodyPr>
          <a:lstStyle/>
          <a:p>
            <a:pPr algn="ctr"/>
            <a:r>
              <a:rPr lang="en-US" sz="8000" dirty="0">
                <a:latin typeface="Times New Roman" panose="02020603050405020304" pitchFamily="18" charset="0"/>
                <a:cs typeface="Times New Roman" panose="02020603050405020304" pitchFamily="18" charset="0"/>
              </a:rPr>
              <a:t>Thank You</a:t>
            </a:r>
            <a:endParaRPr lang="en-IN" sz="8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EFD206F-FCA9-EA9F-0DA7-03284EBA26CA}"/>
              </a:ext>
            </a:extLst>
          </p:cNvPr>
          <p:cNvSpPr>
            <a:spLocks noGrp="1"/>
          </p:cNvSpPr>
          <p:nvPr>
            <p:ph type="sldNum" sz="quarter" idx="12"/>
          </p:nvPr>
        </p:nvSpPr>
        <p:spPr/>
        <p:txBody>
          <a:bodyPr/>
          <a:lstStyle/>
          <a:p>
            <a:fld id="{E31375A4-56A4-47D6-9801-1991572033F7}" type="slidenum">
              <a:rPr lang="en-US" sz="3200" smtClean="0"/>
              <a:t>15</a:t>
            </a:fld>
            <a:endParaRPr lang="en-US" sz="3200" dirty="0"/>
          </a:p>
        </p:txBody>
      </p:sp>
    </p:spTree>
    <p:extLst>
      <p:ext uri="{BB962C8B-B14F-4D97-AF65-F5344CB8AC3E}">
        <p14:creationId xmlns:p14="http://schemas.microsoft.com/office/powerpoint/2010/main" val="176996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129</TotalTime>
  <Words>999</Words>
  <Application>Microsoft Office PowerPoint</Application>
  <PresentationFormat>Widescreen</PresentationFormat>
  <Paragraphs>133</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Times New Roman</vt:lpstr>
      <vt:lpstr>Wingdings</vt:lpstr>
      <vt:lpstr>Diamond Grid 16x9</vt:lpstr>
      <vt:lpstr>PowerPoint Presentation</vt:lpstr>
      <vt:lpstr>PowerPoint Presentation</vt:lpstr>
      <vt:lpstr>Abstract</vt:lpstr>
      <vt:lpstr>Introduction</vt:lpstr>
      <vt:lpstr>Problem Statement</vt:lpstr>
      <vt:lpstr>PowerPoint Presentation</vt:lpstr>
      <vt:lpstr>Scope of the Project</vt:lpstr>
      <vt:lpstr>Literature Review</vt:lpstr>
      <vt:lpstr>Literature Review</vt:lpstr>
      <vt:lpstr>PowerPoint Presentation</vt:lpstr>
      <vt:lpstr>Methodology</vt:lpstr>
      <vt:lpstr>Tools &amp; Technologies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Neeharika Reddy Gadikota</dc:creator>
  <cp:lastModifiedBy>hem roy</cp:lastModifiedBy>
  <cp:revision>4</cp:revision>
  <dcterms:created xsi:type="dcterms:W3CDTF">2026-01-31T14:42:12Z</dcterms:created>
  <dcterms:modified xsi:type="dcterms:W3CDTF">2026-02-02T02:27:27Z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