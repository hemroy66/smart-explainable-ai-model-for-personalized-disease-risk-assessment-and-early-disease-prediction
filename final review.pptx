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77" r:id="rId3"/>
    <p:sldId id="257" r:id="rId4"/>
    <p:sldId id="258" r:id="rId5"/>
    <p:sldId id="259" r:id="rId6"/>
    <p:sldId id="260" r:id="rId7"/>
    <p:sldId id="261" r:id="rId8"/>
    <p:sldId id="262"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E51B6-E97C-476C-879D-F98EB0CF6156}" v="115" dt="2026-05-23T12:28:59.206"/>
  </p1510:revLst>
</p1510:revInfo>
</file>

<file path=ppt/tableStyles.xml><?xml version="1.0" encoding="utf-8"?>
<a:tblStyleLst xmlns:a="http://schemas.openxmlformats.org/drawingml/2006/main" def="{5C22544A-7EE6-4342-B048-85BDC9FD1C3A}">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03851-CF53-4718-8246-80342D43B34F}"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A3082-CBC6-4990-B307-28538A255BEB}" type="slidenum">
              <a:rPr lang="en-IN" smtClean="0"/>
              <a:t>‹#›</a:t>
            </a:fld>
            <a:endParaRPr lang="en-IN"/>
          </a:p>
        </p:txBody>
      </p:sp>
    </p:spTree>
    <p:extLst>
      <p:ext uri="{BB962C8B-B14F-4D97-AF65-F5344CB8AC3E}">
        <p14:creationId xmlns:p14="http://schemas.microsoft.com/office/powerpoint/2010/main" val="238831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4E9B-582E-D5CA-8410-15CDE05AD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62C56D-6A10-5009-8164-97B5F5AF4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567C20-6088-3E82-D5CB-CCF2C079F514}"/>
              </a:ext>
            </a:extLst>
          </p:cNvPr>
          <p:cNvSpPr>
            <a:spLocks noGrp="1"/>
          </p:cNvSpPr>
          <p:nvPr>
            <p:ph type="dt" sz="half" idx="10"/>
          </p:nvPr>
        </p:nvSpPr>
        <p:spPr/>
        <p:txBody>
          <a:bodyPr/>
          <a:lstStyle/>
          <a:p>
            <a:fld id="{76421DC9-4F98-487A-9158-B433895F878B}" type="datetime1">
              <a:rPr lang="en-IN" smtClean="0"/>
              <a:t>25-05-2026</a:t>
            </a:fld>
            <a:endParaRPr lang="en-IN"/>
          </a:p>
        </p:txBody>
      </p:sp>
      <p:sp>
        <p:nvSpPr>
          <p:cNvPr id="5" name="Footer Placeholder 4">
            <a:extLst>
              <a:ext uri="{FF2B5EF4-FFF2-40B4-BE49-F238E27FC236}">
                <a16:creationId xmlns:a16="http://schemas.microsoft.com/office/drawing/2014/main" id="{0F8AED3A-C1B8-68A0-3E56-B3C435A78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62DD0-8544-C434-E7A4-23FAFF80900E}"/>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9255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49D62-EBEE-383F-2C80-BD804368FC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E90FBC-2E45-B66E-950B-AD750BA583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E6ECF-E771-8EC9-438D-ECC4DDE21AE6}"/>
              </a:ext>
            </a:extLst>
          </p:cNvPr>
          <p:cNvSpPr>
            <a:spLocks noGrp="1"/>
          </p:cNvSpPr>
          <p:nvPr>
            <p:ph type="dt" sz="half" idx="10"/>
          </p:nvPr>
        </p:nvSpPr>
        <p:spPr/>
        <p:txBody>
          <a:bodyPr/>
          <a:lstStyle/>
          <a:p>
            <a:fld id="{F5B87351-D98D-4169-87F7-5DE3FD14378B}" type="datetime1">
              <a:rPr lang="en-IN" smtClean="0"/>
              <a:t>25-05-2026</a:t>
            </a:fld>
            <a:endParaRPr lang="en-IN"/>
          </a:p>
        </p:txBody>
      </p:sp>
      <p:sp>
        <p:nvSpPr>
          <p:cNvPr id="5" name="Footer Placeholder 4">
            <a:extLst>
              <a:ext uri="{FF2B5EF4-FFF2-40B4-BE49-F238E27FC236}">
                <a16:creationId xmlns:a16="http://schemas.microsoft.com/office/drawing/2014/main" id="{591CCC11-E5B6-AEB2-6CE4-516B270F77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8B5F0-64A4-F5C6-A032-DB89F6BDB378}"/>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1105944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26B4-2205-60F0-782A-0A1213F1ED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A00E51-2609-F676-7009-16A8D31F6B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63002B-7DE3-A35B-66C6-68DB8C602771}"/>
              </a:ext>
            </a:extLst>
          </p:cNvPr>
          <p:cNvSpPr>
            <a:spLocks noGrp="1"/>
          </p:cNvSpPr>
          <p:nvPr>
            <p:ph type="dt" sz="half" idx="10"/>
          </p:nvPr>
        </p:nvSpPr>
        <p:spPr/>
        <p:txBody>
          <a:bodyPr/>
          <a:lstStyle/>
          <a:p>
            <a:fld id="{5D9C7953-3F82-4527-9105-F6D41465F02B}" type="datetime1">
              <a:rPr lang="en-IN" smtClean="0"/>
              <a:t>25-05-2026</a:t>
            </a:fld>
            <a:endParaRPr lang="en-IN"/>
          </a:p>
        </p:txBody>
      </p:sp>
      <p:sp>
        <p:nvSpPr>
          <p:cNvPr id="5" name="Footer Placeholder 4">
            <a:extLst>
              <a:ext uri="{FF2B5EF4-FFF2-40B4-BE49-F238E27FC236}">
                <a16:creationId xmlns:a16="http://schemas.microsoft.com/office/drawing/2014/main" id="{30558FBB-EE48-F3C6-5204-8A926D76D0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55C7FC-7B0C-65CD-D17F-027341816975}"/>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3124272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A930-CCCA-5A80-2E4C-A58DA88D14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F42B44-8775-2857-A32A-66C76A5AE4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955982-C61B-F524-03F6-6F95CA5BE3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C530A5-DCB1-1340-90E3-9859DA83FCCF}"/>
              </a:ext>
            </a:extLst>
          </p:cNvPr>
          <p:cNvSpPr>
            <a:spLocks noGrp="1"/>
          </p:cNvSpPr>
          <p:nvPr>
            <p:ph type="dt" sz="half" idx="10"/>
          </p:nvPr>
        </p:nvSpPr>
        <p:spPr/>
        <p:txBody>
          <a:bodyPr/>
          <a:lstStyle/>
          <a:p>
            <a:fld id="{984FE258-B5C0-4501-9924-30CB1C96648E}" type="datetime1">
              <a:rPr lang="en-IN" smtClean="0"/>
              <a:t>25-05-2026</a:t>
            </a:fld>
            <a:endParaRPr lang="en-IN"/>
          </a:p>
        </p:txBody>
      </p:sp>
      <p:sp>
        <p:nvSpPr>
          <p:cNvPr id="6" name="Footer Placeholder 5">
            <a:extLst>
              <a:ext uri="{FF2B5EF4-FFF2-40B4-BE49-F238E27FC236}">
                <a16:creationId xmlns:a16="http://schemas.microsoft.com/office/drawing/2014/main" id="{4CCDF31E-19FE-14E3-2812-6BAF4C677E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FE74EC-68A6-88A7-CBF2-EA6658EE7E44}"/>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2720189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8D64-665E-5D91-9261-827DF3FE6C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9C8325-9022-2B00-9FBD-D439C078E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46D58-913F-DF5E-84C1-EC5AFB0179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6E1227-5EE9-E6F8-F495-FEA4A3401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636C42-D556-B17F-81E9-A8DCF64F76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BF578D-D2D0-B237-B144-F34C432CA0D4}"/>
              </a:ext>
            </a:extLst>
          </p:cNvPr>
          <p:cNvSpPr>
            <a:spLocks noGrp="1"/>
          </p:cNvSpPr>
          <p:nvPr>
            <p:ph type="dt" sz="half" idx="10"/>
          </p:nvPr>
        </p:nvSpPr>
        <p:spPr/>
        <p:txBody>
          <a:bodyPr/>
          <a:lstStyle/>
          <a:p>
            <a:fld id="{0DCAE061-C464-4DD2-85E5-B24B617274D3}" type="datetime1">
              <a:rPr lang="en-IN" smtClean="0"/>
              <a:t>25-05-2026</a:t>
            </a:fld>
            <a:endParaRPr lang="en-IN"/>
          </a:p>
        </p:txBody>
      </p:sp>
      <p:sp>
        <p:nvSpPr>
          <p:cNvPr id="8" name="Footer Placeholder 7">
            <a:extLst>
              <a:ext uri="{FF2B5EF4-FFF2-40B4-BE49-F238E27FC236}">
                <a16:creationId xmlns:a16="http://schemas.microsoft.com/office/drawing/2014/main" id="{1E399F59-B6A6-4FED-ECC0-868389FFBF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CD7BA5-4775-A45B-895A-EFF266769BE7}"/>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3398216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81F6-D8CC-10E6-64C4-E09D3226FA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75B92E-DE1D-BBDE-B614-2E23F91EBE73}"/>
              </a:ext>
            </a:extLst>
          </p:cNvPr>
          <p:cNvSpPr>
            <a:spLocks noGrp="1"/>
          </p:cNvSpPr>
          <p:nvPr>
            <p:ph type="dt" sz="half" idx="10"/>
          </p:nvPr>
        </p:nvSpPr>
        <p:spPr/>
        <p:txBody>
          <a:bodyPr/>
          <a:lstStyle/>
          <a:p>
            <a:fld id="{D66CB766-9999-43D7-9DE4-9F8278B57DDB}" type="datetime1">
              <a:rPr lang="en-IN" smtClean="0"/>
              <a:t>25-05-2026</a:t>
            </a:fld>
            <a:endParaRPr lang="en-IN"/>
          </a:p>
        </p:txBody>
      </p:sp>
      <p:sp>
        <p:nvSpPr>
          <p:cNvPr id="4" name="Footer Placeholder 3">
            <a:extLst>
              <a:ext uri="{FF2B5EF4-FFF2-40B4-BE49-F238E27FC236}">
                <a16:creationId xmlns:a16="http://schemas.microsoft.com/office/drawing/2014/main" id="{77499B2E-A2D8-DC80-E64E-995DB21DFF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247F06-9B90-CBA0-F6A6-1F5F52FA69D7}"/>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1686143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99006-1BFE-D39D-46A8-493EB3C00FED}"/>
              </a:ext>
            </a:extLst>
          </p:cNvPr>
          <p:cNvSpPr>
            <a:spLocks noGrp="1"/>
          </p:cNvSpPr>
          <p:nvPr>
            <p:ph type="dt" sz="half" idx="10"/>
          </p:nvPr>
        </p:nvSpPr>
        <p:spPr/>
        <p:txBody>
          <a:bodyPr/>
          <a:lstStyle/>
          <a:p>
            <a:fld id="{D196EE6C-358D-4D94-9300-AAF0C2C9420C}" type="datetime1">
              <a:rPr lang="en-IN" smtClean="0"/>
              <a:t>25-05-2026</a:t>
            </a:fld>
            <a:endParaRPr lang="en-IN"/>
          </a:p>
        </p:txBody>
      </p:sp>
      <p:sp>
        <p:nvSpPr>
          <p:cNvPr id="3" name="Footer Placeholder 2">
            <a:extLst>
              <a:ext uri="{FF2B5EF4-FFF2-40B4-BE49-F238E27FC236}">
                <a16:creationId xmlns:a16="http://schemas.microsoft.com/office/drawing/2014/main" id="{689964FC-6012-D778-13EA-FFEF20EC7A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459AE5-32B1-3DDE-DCF7-9B349242CC86}"/>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559968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27BF-9E80-3F32-F980-30EA0924D9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593BD1-5CFB-F526-7B26-356F5B12E1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CC8DFA-56F3-8265-271E-7343E4224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45D1B-6C73-CFA4-3F92-D8DFBED8DD63}"/>
              </a:ext>
            </a:extLst>
          </p:cNvPr>
          <p:cNvSpPr>
            <a:spLocks noGrp="1"/>
          </p:cNvSpPr>
          <p:nvPr>
            <p:ph type="dt" sz="half" idx="10"/>
          </p:nvPr>
        </p:nvSpPr>
        <p:spPr/>
        <p:txBody>
          <a:bodyPr/>
          <a:lstStyle/>
          <a:p>
            <a:fld id="{26A9EF69-5611-4A06-8FDD-4F421393802B}" type="datetime1">
              <a:rPr lang="en-IN" smtClean="0"/>
              <a:t>25-05-2026</a:t>
            </a:fld>
            <a:endParaRPr lang="en-IN"/>
          </a:p>
        </p:txBody>
      </p:sp>
      <p:sp>
        <p:nvSpPr>
          <p:cNvPr id="6" name="Footer Placeholder 5">
            <a:extLst>
              <a:ext uri="{FF2B5EF4-FFF2-40B4-BE49-F238E27FC236}">
                <a16:creationId xmlns:a16="http://schemas.microsoft.com/office/drawing/2014/main" id="{35EEC806-CE3F-5C3F-7B29-383A11B39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00C14-49E1-737E-02ED-AE292A6F2B18}"/>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3281567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4EEE7-3B50-2667-C549-7A8A9A4BA4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5DBC7D-23D8-69C0-6B6F-E20325AA57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8493E6-DBA5-7345-4033-4E3702688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06C90D-CF08-CDB8-A784-EC060F5208F3}"/>
              </a:ext>
            </a:extLst>
          </p:cNvPr>
          <p:cNvSpPr>
            <a:spLocks noGrp="1"/>
          </p:cNvSpPr>
          <p:nvPr>
            <p:ph type="dt" sz="half" idx="10"/>
          </p:nvPr>
        </p:nvSpPr>
        <p:spPr/>
        <p:txBody>
          <a:bodyPr/>
          <a:lstStyle/>
          <a:p>
            <a:fld id="{8A44FF97-D557-481A-B308-274F95346504}" type="datetime1">
              <a:rPr lang="en-IN" smtClean="0"/>
              <a:t>25-05-2026</a:t>
            </a:fld>
            <a:endParaRPr lang="en-IN"/>
          </a:p>
        </p:txBody>
      </p:sp>
      <p:sp>
        <p:nvSpPr>
          <p:cNvPr id="6" name="Footer Placeholder 5">
            <a:extLst>
              <a:ext uri="{FF2B5EF4-FFF2-40B4-BE49-F238E27FC236}">
                <a16:creationId xmlns:a16="http://schemas.microsoft.com/office/drawing/2014/main" id="{4FD554A1-E949-02FC-601A-6AA44D1DE6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92E63C-7CF9-F752-648A-09123B79067E}"/>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48986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6137-67A8-F842-65EF-218B539B40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8B5EA7-6857-82F1-712F-8688D582D7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2B637A-DE7C-BF1C-55B7-05E4457D178E}"/>
              </a:ext>
            </a:extLst>
          </p:cNvPr>
          <p:cNvSpPr>
            <a:spLocks noGrp="1"/>
          </p:cNvSpPr>
          <p:nvPr>
            <p:ph type="dt" sz="half" idx="10"/>
          </p:nvPr>
        </p:nvSpPr>
        <p:spPr/>
        <p:txBody>
          <a:bodyPr/>
          <a:lstStyle/>
          <a:p>
            <a:fld id="{BFDB4D17-57EC-478A-8497-5D755D91034B}" type="datetime1">
              <a:rPr lang="en-IN" smtClean="0"/>
              <a:t>25-05-2026</a:t>
            </a:fld>
            <a:endParaRPr lang="en-IN"/>
          </a:p>
        </p:txBody>
      </p:sp>
      <p:sp>
        <p:nvSpPr>
          <p:cNvPr id="5" name="Footer Placeholder 4">
            <a:extLst>
              <a:ext uri="{FF2B5EF4-FFF2-40B4-BE49-F238E27FC236}">
                <a16:creationId xmlns:a16="http://schemas.microsoft.com/office/drawing/2014/main" id="{67B8E10A-3FDB-2EAF-2889-67C96111C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07BC75-7054-6970-44A4-BE77AB9C00EB}"/>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76515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A06AC1-9E01-DD5C-39CC-9B93B8271B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1708AE-5A72-2244-8C1D-1AFA3C774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BDD60E-BE54-A6AD-9290-957D87E137CE}"/>
              </a:ext>
            </a:extLst>
          </p:cNvPr>
          <p:cNvSpPr>
            <a:spLocks noGrp="1"/>
          </p:cNvSpPr>
          <p:nvPr>
            <p:ph type="dt" sz="half" idx="10"/>
          </p:nvPr>
        </p:nvSpPr>
        <p:spPr/>
        <p:txBody>
          <a:bodyPr/>
          <a:lstStyle/>
          <a:p>
            <a:fld id="{7F520160-3F1C-4F21-A0C0-3C6707449A6C}" type="datetime1">
              <a:rPr lang="en-IN" smtClean="0"/>
              <a:t>25-05-2026</a:t>
            </a:fld>
            <a:endParaRPr lang="en-IN"/>
          </a:p>
        </p:txBody>
      </p:sp>
      <p:sp>
        <p:nvSpPr>
          <p:cNvPr id="5" name="Footer Placeholder 4">
            <a:extLst>
              <a:ext uri="{FF2B5EF4-FFF2-40B4-BE49-F238E27FC236}">
                <a16:creationId xmlns:a16="http://schemas.microsoft.com/office/drawing/2014/main" id="{3D4E0188-DCCA-7A5B-1F37-CBD0BFB31F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FF0560-F415-AF3B-5B8F-95350D34BC8A}"/>
              </a:ext>
            </a:extLst>
          </p:cNvPr>
          <p:cNvSpPr>
            <a:spLocks noGrp="1"/>
          </p:cNvSpPr>
          <p:nvPr>
            <p:ph type="sldNum" sz="quarter" idx="12"/>
          </p:nvPr>
        </p:nvSpPr>
        <p:spPr/>
        <p:txBody>
          <a:bodyPr/>
          <a:lstStyle/>
          <a:p>
            <a:fld id="{DE67F00B-5383-4745-B5A5-E8CB0C832AB5}" type="slidenum">
              <a:rPr lang="en-IN" smtClean="0"/>
              <a:t>‹#›</a:t>
            </a:fld>
            <a:endParaRPr lang="en-IN"/>
          </a:p>
        </p:txBody>
      </p:sp>
    </p:spTree>
    <p:extLst>
      <p:ext uri="{BB962C8B-B14F-4D97-AF65-F5344CB8AC3E}">
        <p14:creationId xmlns:p14="http://schemas.microsoft.com/office/powerpoint/2010/main" val="2513543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FC044-2079-680D-5581-1E5D57C57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DA75FC-5AE9-FC32-1CEE-FAC3617D38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C21843-70B3-5B6C-2955-CEE745174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8C2D95-D72D-43BB-A9C8-BFEB48DCB9F2}" type="datetime1">
              <a:rPr lang="en-IN" smtClean="0"/>
              <a:t>25-05-2026</a:t>
            </a:fld>
            <a:endParaRPr lang="en-IN"/>
          </a:p>
        </p:txBody>
      </p:sp>
      <p:sp>
        <p:nvSpPr>
          <p:cNvPr id="5" name="Footer Placeholder 4">
            <a:extLst>
              <a:ext uri="{FF2B5EF4-FFF2-40B4-BE49-F238E27FC236}">
                <a16:creationId xmlns:a16="http://schemas.microsoft.com/office/drawing/2014/main" id="{A114208F-5C93-F6FA-96D6-EB572B1E8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6A98DF2-CF04-2AB7-A450-382B2B3BAE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7F00B-5383-4745-B5A5-E8CB0C832AB5}" type="slidenum">
              <a:rPr lang="en-IN" smtClean="0"/>
              <a:t>‹#›</a:t>
            </a:fld>
            <a:endParaRPr lang="en-IN"/>
          </a:p>
        </p:txBody>
      </p:sp>
    </p:spTree>
    <p:extLst>
      <p:ext uri="{BB962C8B-B14F-4D97-AF65-F5344CB8AC3E}">
        <p14:creationId xmlns:p14="http://schemas.microsoft.com/office/powerpoint/2010/main" val="819393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2FCC51-D337-D231-D428-AEE927A08DEA}"/>
              </a:ext>
            </a:extLst>
          </p:cNvPr>
          <p:cNvPicPr/>
          <p:nvPr/>
        </p:nvPicPr>
        <p:blipFill>
          <a:blip r:embed="rId2"/>
          <a:stretch>
            <a:fillRect/>
          </a:stretch>
        </p:blipFill>
        <p:spPr>
          <a:xfrm>
            <a:off x="1224950" y="178687"/>
            <a:ext cx="9684589" cy="1662300"/>
          </a:xfrm>
          <a:prstGeom prst="rect">
            <a:avLst/>
          </a:prstGeom>
        </p:spPr>
      </p:pic>
      <p:sp>
        <p:nvSpPr>
          <p:cNvPr id="5" name="TextBox 4">
            <a:extLst>
              <a:ext uri="{FF2B5EF4-FFF2-40B4-BE49-F238E27FC236}">
                <a16:creationId xmlns:a16="http://schemas.microsoft.com/office/drawing/2014/main" id="{6711BDEF-B057-0548-D811-DA4F03BE4BD7}"/>
              </a:ext>
            </a:extLst>
          </p:cNvPr>
          <p:cNvSpPr txBox="1"/>
          <p:nvPr/>
        </p:nvSpPr>
        <p:spPr>
          <a:xfrm>
            <a:off x="1382191" y="2246835"/>
            <a:ext cx="9370105" cy="646331"/>
          </a:xfrm>
          <a:prstGeom prst="rect">
            <a:avLst/>
          </a:prstGeom>
          <a:noFill/>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MAJOR PROJECT REVIEW - </a:t>
            </a:r>
            <a:r>
              <a:rPr lang="en-IN" sz="3600" b="1" dirty="0">
                <a:solidFill>
                  <a:srgbClr val="C00000"/>
                </a:solidFill>
                <a:latin typeface="Times New Roman" panose="02020603050405020304" pitchFamily="18" charset="0"/>
                <a:cs typeface="Times New Roman" panose="02020603050405020304" pitchFamily="18" charset="0"/>
              </a:rPr>
              <a:t>EXTERNAL</a:t>
            </a:r>
          </a:p>
        </p:txBody>
      </p:sp>
      <p:sp>
        <p:nvSpPr>
          <p:cNvPr id="6" name="Google Shape;303;p41">
            <a:extLst>
              <a:ext uri="{FF2B5EF4-FFF2-40B4-BE49-F238E27FC236}">
                <a16:creationId xmlns:a16="http://schemas.microsoft.com/office/drawing/2014/main" id="{BE5C2A39-3966-9D45-A085-18DF7DFE3357}"/>
              </a:ext>
            </a:extLst>
          </p:cNvPr>
          <p:cNvSpPr txBox="1">
            <a:spLocks/>
          </p:cNvSpPr>
          <p:nvPr/>
        </p:nvSpPr>
        <p:spPr>
          <a:xfrm>
            <a:off x="353683" y="3194349"/>
            <a:ext cx="11484634" cy="1236452"/>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latin typeface="Times New Roman" panose="02020603050405020304" pitchFamily="18" charset="0"/>
                <a:cs typeface="Times New Roman" panose="02020603050405020304" pitchFamily="18" charset="0"/>
              </a:rPr>
              <a:t>Smart Explainable AI Model for Personalized Disease Risk Assessment and Early Disease Prediction</a:t>
            </a:r>
          </a:p>
        </p:txBody>
      </p:sp>
      <p:sp>
        <p:nvSpPr>
          <p:cNvPr id="7" name="TextBox 6">
            <a:extLst>
              <a:ext uri="{FF2B5EF4-FFF2-40B4-BE49-F238E27FC236}">
                <a16:creationId xmlns:a16="http://schemas.microsoft.com/office/drawing/2014/main" id="{F80793D1-FFB2-F99E-863E-4D2600E8AE7E}"/>
              </a:ext>
            </a:extLst>
          </p:cNvPr>
          <p:cNvSpPr txBox="1"/>
          <p:nvPr/>
        </p:nvSpPr>
        <p:spPr>
          <a:xfrm>
            <a:off x="766959" y="4836649"/>
            <a:ext cx="10600570"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Name</a:t>
            </a:r>
            <a:r>
              <a:rPr lang="en-US" sz="2800" dirty="0">
                <a:latin typeface="Times New Roman" panose="02020603050405020304" pitchFamily="18" charset="0"/>
                <a:cs typeface="Times New Roman" panose="02020603050405020304" pitchFamily="18" charset="0"/>
              </a:rPr>
              <a:t> : </a:t>
            </a:r>
            <a:r>
              <a:rPr lang="pt-BR" sz="2800" dirty="0">
                <a:latin typeface="Times New Roman" panose="02020603050405020304" pitchFamily="18" charset="0"/>
                <a:cs typeface="Times New Roman" panose="02020603050405020304" pitchFamily="18" charset="0"/>
              </a:rPr>
              <a:t>Hemanth Kumar Pattem (Reg. No. 24691F0071)</a:t>
            </a:r>
            <a:endParaRPr lang="en-US" sz="2800"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Project Guide </a:t>
            </a:r>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Dr.  SRINIVASAN JAGANNATHAN, M.C.A., Ph.D., </a:t>
            </a:r>
          </a:p>
        </p:txBody>
      </p:sp>
      <p:sp>
        <p:nvSpPr>
          <p:cNvPr id="2" name="Slide Number Placeholder 1">
            <a:extLst>
              <a:ext uri="{FF2B5EF4-FFF2-40B4-BE49-F238E27FC236}">
                <a16:creationId xmlns:a16="http://schemas.microsoft.com/office/drawing/2014/main" id="{B43A889B-2686-D0EA-E171-8EF81F65F850}"/>
              </a:ext>
            </a:extLst>
          </p:cNvPr>
          <p:cNvSpPr>
            <a:spLocks noGrp="1"/>
          </p:cNvSpPr>
          <p:nvPr>
            <p:ph type="sldNum" sz="quarter" idx="12"/>
          </p:nvPr>
        </p:nvSpPr>
        <p:spPr/>
        <p:txBody>
          <a:bodyPr/>
          <a:lstStyle/>
          <a:p>
            <a:fld id="{DE67F00B-5383-4745-B5A5-E8CB0C832AB5}" type="slidenum">
              <a:rPr lang="en-IN" smtClean="0"/>
              <a:t>1</a:t>
            </a:fld>
            <a:endParaRPr lang="en-IN"/>
          </a:p>
        </p:txBody>
      </p:sp>
    </p:spTree>
    <p:extLst>
      <p:ext uri="{BB962C8B-B14F-4D97-AF65-F5344CB8AC3E}">
        <p14:creationId xmlns:p14="http://schemas.microsoft.com/office/powerpoint/2010/main" val="3505494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8E39-44FB-07BB-3D3C-A18E5551A7B2}"/>
              </a:ext>
            </a:extLst>
          </p:cNvPr>
          <p:cNvSpPr>
            <a:spLocks noGrp="1"/>
          </p:cNvSpPr>
          <p:nvPr>
            <p:ph type="title"/>
          </p:nvPr>
        </p:nvSpPr>
        <p:spPr>
          <a:xfrm>
            <a:off x="918135" y="242046"/>
            <a:ext cx="10355729" cy="877981"/>
          </a:xfrm>
        </p:spPr>
        <p:txBody>
          <a:bodyPr/>
          <a:lstStyle/>
          <a:p>
            <a:pPr algn="ctr"/>
            <a:r>
              <a:rPr lang="en-US" b="1" dirty="0">
                <a:latin typeface="Times New Roman" panose="02020603050405020304" pitchFamily="18" charset="0"/>
                <a:cs typeface="Times New Roman" panose="02020603050405020304" pitchFamily="18" charset="0"/>
              </a:rPr>
              <a:t>Table of 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D27E7C-C60E-9942-1B60-BB54BFF2F3F4}"/>
              </a:ext>
            </a:extLst>
          </p:cNvPr>
          <p:cNvSpPr>
            <a:spLocks noGrp="1"/>
          </p:cNvSpPr>
          <p:nvPr>
            <p:ph idx="1"/>
          </p:nvPr>
        </p:nvSpPr>
        <p:spPr>
          <a:xfrm>
            <a:off x="838199" y="1120027"/>
            <a:ext cx="10515600" cy="5292725"/>
          </a:xfrm>
        </p:spPr>
        <p:txBody>
          <a:bodyPr>
            <a:normAutofit fontScale="55000" lnSpcReduction="20000"/>
          </a:bodyPr>
          <a:lstStyle/>
          <a:p>
            <a:pPr fontAlgn="base"/>
            <a:r>
              <a:rPr lang="en-IN" sz="4200" dirty="0">
                <a:latin typeface="Times New Roman" panose="02020603050405020304" pitchFamily="18" charset="0"/>
                <a:cs typeface="Times New Roman" panose="02020603050405020304" pitchFamily="18" charset="0"/>
              </a:rPr>
              <a:t>Abstract</a:t>
            </a:r>
          </a:p>
          <a:p>
            <a:pPr fontAlgn="base"/>
            <a:r>
              <a:rPr lang="en-IN" sz="4200" dirty="0">
                <a:latin typeface="Times New Roman" panose="02020603050405020304" pitchFamily="18" charset="0"/>
                <a:cs typeface="Times New Roman" panose="02020603050405020304" pitchFamily="18" charset="0"/>
              </a:rPr>
              <a:t>Introduction</a:t>
            </a:r>
          </a:p>
          <a:p>
            <a:pPr fontAlgn="base"/>
            <a:r>
              <a:rPr lang="en-IN" sz="4200" dirty="0">
                <a:latin typeface="Times New Roman" panose="02020603050405020304" pitchFamily="18" charset="0"/>
                <a:cs typeface="Times New Roman" panose="02020603050405020304" pitchFamily="18" charset="0"/>
              </a:rPr>
              <a:t>Problem Statement</a:t>
            </a:r>
          </a:p>
          <a:p>
            <a:pPr fontAlgn="base"/>
            <a:r>
              <a:rPr lang="en-IN" sz="4200" dirty="0">
                <a:latin typeface="Times New Roman" panose="02020603050405020304" pitchFamily="18" charset="0"/>
                <a:cs typeface="Times New Roman" panose="02020603050405020304" pitchFamily="18" charset="0"/>
              </a:rPr>
              <a:t>Objectives</a:t>
            </a:r>
          </a:p>
          <a:p>
            <a:pPr fontAlgn="base"/>
            <a:r>
              <a:rPr lang="en-IN" sz="4200" dirty="0">
                <a:latin typeface="Times New Roman" panose="02020603050405020304" pitchFamily="18" charset="0"/>
                <a:cs typeface="Times New Roman" panose="02020603050405020304" pitchFamily="18" charset="0"/>
              </a:rPr>
              <a:t>Literature Review</a:t>
            </a:r>
          </a:p>
          <a:p>
            <a:pPr fontAlgn="base"/>
            <a:r>
              <a:rPr lang="en-IN" sz="4200" dirty="0">
                <a:latin typeface="Times New Roman" panose="02020603050405020304" pitchFamily="18" charset="0"/>
                <a:cs typeface="Times New Roman" panose="02020603050405020304" pitchFamily="18" charset="0"/>
              </a:rPr>
              <a:t>Proposed System</a:t>
            </a:r>
          </a:p>
          <a:p>
            <a:pPr fontAlgn="base"/>
            <a:r>
              <a:rPr lang="en-IN" sz="4200" dirty="0">
                <a:latin typeface="Times New Roman" panose="02020603050405020304" pitchFamily="18" charset="0"/>
                <a:cs typeface="Times New Roman" panose="02020603050405020304" pitchFamily="18" charset="0"/>
              </a:rPr>
              <a:t>Methodology</a:t>
            </a:r>
          </a:p>
          <a:p>
            <a:pPr fontAlgn="base"/>
            <a:r>
              <a:rPr lang="en-IN" sz="4200" dirty="0">
                <a:latin typeface="Times New Roman" panose="02020603050405020304" pitchFamily="18" charset="0"/>
                <a:cs typeface="Times New Roman" panose="02020603050405020304" pitchFamily="18" charset="0"/>
              </a:rPr>
              <a:t>Overall Architecture diag.</a:t>
            </a:r>
          </a:p>
          <a:p>
            <a:pPr fontAlgn="base"/>
            <a:r>
              <a:rPr lang="en-IN" sz="4200" dirty="0">
                <a:latin typeface="Times New Roman" panose="02020603050405020304" pitchFamily="18" charset="0"/>
                <a:cs typeface="Times New Roman" panose="02020603050405020304" pitchFamily="18" charset="0"/>
              </a:rPr>
              <a:t>Modules</a:t>
            </a:r>
          </a:p>
          <a:p>
            <a:pPr fontAlgn="base"/>
            <a:r>
              <a:rPr lang="en-IN" sz="4200" dirty="0">
                <a:latin typeface="Times New Roman" panose="02020603050405020304" pitchFamily="18" charset="0"/>
                <a:cs typeface="Times New Roman" panose="02020603050405020304" pitchFamily="18" charset="0"/>
              </a:rPr>
              <a:t>Implementation</a:t>
            </a:r>
          </a:p>
          <a:p>
            <a:pPr fontAlgn="base"/>
            <a:r>
              <a:rPr lang="en-IN" sz="4200" dirty="0">
                <a:latin typeface="Times New Roman" panose="02020603050405020304" pitchFamily="18" charset="0"/>
                <a:cs typeface="Times New Roman" panose="02020603050405020304" pitchFamily="18" charset="0"/>
              </a:rPr>
              <a:t>Experimental Results</a:t>
            </a:r>
          </a:p>
          <a:p>
            <a:pPr fontAlgn="base"/>
            <a:r>
              <a:rPr lang="en-IN" sz="4200" dirty="0">
                <a:latin typeface="Times New Roman" panose="02020603050405020304" pitchFamily="18" charset="0"/>
                <a:cs typeface="Times New Roman" panose="02020603050405020304" pitchFamily="18" charset="0"/>
              </a:rPr>
              <a:t>Conclusion</a:t>
            </a:r>
          </a:p>
          <a:p>
            <a:pPr fontAlgn="base"/>
            <a:r>
              <a:rPr lang="en-IN" sz="4200" dirty="0">
                <a:latin typeface="Times New Roman" panose="02020603050405020304" pitchFamily="18" charset="0"/>
                <a:cs typeface="Times New Roman" panose="02020603050405020304" pitchFamily="18" charset="0"/>
              </a:rPr>
              <a:t>Future Scope</a:t>
            </a:r>
          </a:p>
          <a:p>
            <a:pPr fontAlgn="base"/>
            <a:r>
              <a:rPr lang="en-IN" sz="4200" dirty="0">
                <a:latin typeface="Times New Roman" panose="02020603050405020304" pitchFamily="18" charset="0"/>
                <a:cs typeface="Times New Roman" panose="02020603050405020304" pitchFamily="18" charset="0"/>
              </a:rPr>
              <a:t>References</a:t>
            </a:r>
          </a:p>
          <a:p>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CCE956F-0183-FEA5-DFC4-38517C3EE0F9}"/>
              </a:ext>
            </a:extLst>
          </p:cNvPr>
          <p:cNvSpPr txBox="1"/>
          <p:nvPr/>
        </p:nvSpPr>
        <p:spPr>
          <a:xfrm>
            <a:off x="3048000" y="3245828"/>
            <a:ext cx="6096000" cy="369332"/>
          </a:xfrm>
          <a:prstGeom prst="rect">
            <a:avLst/>
          </a:prstGeom>
          <a:noFill/>
        </p:spPr>
        <p:txBody>
          <a:bodyPr wrap="square">
            <a:spAutoFit/>
          </a:bodyPr>
          <a:lstStyle/>
          <a:p>
            <a:endParaRPr lang="en-IN" dirty="0"/>
          </a:p>
        </p:txBody>
      </p:sp>
      <p:pic>
        <p:nvPicPr>
          <p:cNvPr id="8" name="Picture 7">
            <a:extLst>
              <a:ext uri="{FF2B5EF4-FFF2-40B4-BE49-F238E27FC236}">
                <a16:creationId xmlns:a16="http://schemas.microsoft.com/office/drawing/2014/main" id="{878062FC-873B-D730-B1F1-BFCC0351D21A}"/>
              </a:ext>
            </a:extLst>
          </p:cNvPr>
          <p:cNvPicPr>
            <a:picLocks noChangeAspect="1"/>
          </p:cNvPicPr>
          <p:nvPr/>
        </p:nvPicPr>
        <p:blipFill>
          <a:blip r:embed="rId2"/>
          <a:stretch>
            <a:fillRect/>
          </a:stretch>
        </p:blipFill>
        <p:spPr>
          <a:xfrm>
            <a:off x="4998047" y="1792941"/>
            <a:ext cx="6673999" cy="4153647"/>
          </a:xfrm>
          <a:prstGeom prst="rect">
            <a:avLst/>
          </a:prstGeom>
        </p:spPr>
      </p:pic>
      <p:pic>
        <p:nvPicPr>
          <p:cNvPr id="9" name="Picture 8" descr="MITS Deemed to be University (Declared under section 3 of UGC Act, 1956 by  Govt. of India-MoE)">
            <a:extLst>
              <a:ext uri="{FF2B5EF4-FFF2-40B4-BE49-F238E27FC236}">
                <a16:creationId xmlns:a16="http://schemas.microsoft.com/office/drawing/2014/main" id="{F415493F-B44C-481B-3769-E9B34F19C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E0B6148-D41D-3684-F5C5-3AC718718A7A}"/>
              </a:ext>
            </a:extLst>
          </p:cNvPr>
          <p:cNvSpPr>
            <a:spLocks noGrp="1"/>
          </p:cNvSpPr>
          <p:nvPr>
            <p:ph type="sldNum" sz="quarter" idx="12"/>
          </p:nvPr>
        </p:nvSpPr>
        <p:spPr/>
        <p:txBody>
          <a:bodyPr/>
          <a:lstStyle/>
          <a:p>
            <a:fld id="{DE67F00B-5383-4745-B5A5-E8CB0C832AB5}" type="slidenum">
              <a:rPr lang="en-IN" smtClean="0"/>
              <a:t>2</a:t>
            </a:fld>
            <a:endParaRPr lang="en-IN"/>
          </a:p>
        </p:txBody>
      </p:sp>
    </p:spTree>
    <p:extLst>
      <p:ext uri="{BB962C8B-B14F-4D97-AF65-F5344CB8AC3E}">
        <p14:creationId xmlns:p14="http://schemas.microsoft.com/office/powerpoint/2010/main" val="207533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5FF19-D126-B31E-E023-BC6AA13FC502}"/>
              </a:ext>
            </a:extLst>
          </p:cNvPr>
          <p:cNvSpPr>
            <a:spLocks noGrp="1"/>
          </p:cNvSpPr>
          <p:nvPr>
            <p:ph type="title"/>
          </p:nvPr>
        </p:nvSpPr>
        <p:spPr>
          <a:xfrm>
            <a:off x="1319841" y="422635"/>
            <a:ext cx="9552317" cy="1112867"/>
          </a:xfrm>
        </p:spPr>
        <p:txBody>
          <a:bodyPr/>
          <a:lstStyle/>
          <a:p>
            <a:pPr algn="ctr"/>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4F89E03A-3B98-B5BE-7B56-2D166D9EB451}"/>
              </a:ext>
            </a:extLst>
          </p:cNvPr>
          <p:cNvSpPr>
            <a:spLocks noGrp="1"/>
          </p:cNvSpPr>
          <p:nvPr>
            <p:ph idx="1"/>
          </p:nvPr>
        </p:nvSpPr>
        <p:spPr>
          <a:xfrm>
            <a:off x="448572" y="1900387"/>
            <a:ext cx="11294853" cy="446015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Artificial Intelligence (AI) in healthcare enables personalized risk assessment and early disease prediction. However, many existing systems focus on a single disease and lack explainability. This study proposes an Adaptive Explainable AI Framework for predicting diabetes, heart disease, and breast cancer using structured Electronic Health Records (EHR) and benchmark datasets such as Pima Indians Diabetes, Cleveland Heart Disease, and Wisconsin Breast Cancer datasets. A hybrid stacking ensemble combining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Logistic Regression with a Logistic Regression meta-learner is used to improve prediction accuracy, robustness, and generalization. To ensure transparency and trust, Explainable AI (XAI) techniques including SHAP and LIME are integrated for global and local interpretability. The framework identifies key risk factors such as glucose, BMI, and age for diabetes, and </a:t>
            </a:r>
            <a:r>
              <a:rPr lang="en-US" sz="2400" dirty="0" err="1">
                <a:latin typeface="Times New Roman" panose="02020603050405020304" pitchFamily="18" charset="0"/>
                <a:cs typeface="Times New Roman" panose="02020603050405020304" pitchFamily="18" charset="0"/>
              </a:rPr>
              <a:t>area_worst</a:t>
            </a:r>
            <a:r>
              <a:rPr lang="en-US" sz="2400" dirty="0">
                <a:latin typeface="Times New Roman" panose="02020603050405020304" pitchFamily="18" charset="0"/>
                <a:cs typeface="Times New Roman" panose="02020603050405020304" pitchFamily="18" charset="0"/>
              </a:rPr>
              <a:t>, concave </a:t>
            </a:r>
            <a:r>
              <a:rPr lang="en-US" sz="2400" dirty="0" err="1">
                <a:latin typeface="Times New Roman" panose="02020603050405020304" pitchFamily="18" charset="0"/>
                <a:cs typeface="Times New Roman" panose="02020603050405020304" pitchFamily="18" charset="0"/>
              </a:rPr>
              <a:t>points_worst</a:t>
            </a:r>
            <a:r>
              <a:rPr lang="en-US" sz="2400" dirty="0">
                <a:latin typeface="Times New Roman" panose="02020603050405020304" pitchFamily="18" charset="0"/>
                <a:cs typeface="Times New Roman" panose="02020603050405020304" pitchFamily="18" charset="0"/>
              </a:rPr>
              <a:t>, and concave </a:t>
            </a:r>
            <a:r>
              <a:rPr lang="en-US" sz="2400" dirty="0" err="1">
                <a:latin typeface="Times New Roman" panose="02020603050405020304" pitchFamily="18" charset="0"/>
                <a:cs typeface="Times New Roman" panose="02020603050405020304" pitchFamily="18" charset="0"/>
              </a:rPr>
              <a:t>points_mean</a:t>
            </a:r>
            <a:r>
              <a:rPr lang="en-US" sz="2400" dirty="0">
                <a:latin typeface="Times New Roman" panose="02020603050405020304" pitchFamily="18" charset="0"/>
                <a:cs typeface="Times New Roman" panose="02020603050405020304" pitchFamily="18" charset="0"/>
              </a:rPr>
              <a:t> for breast cancer, enabling reliable and interpretable healthcare predictions.</a:t>
            </a: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1D129633-7F97-5702-93F6-43BC49E48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9B5ADC1E-4078-769D-1EB0-22ADC562B326}"/>
              </a:ext>
            </a:extLst>
          </p:cNvPr>
          <p:cNvSpPr>
            <a:spLocks noGrp="1"/>
          </p:cNvSpPr>
          <p:nvPr>
            <p:ph type="sldNum" sz="quarter" idx="12"/>
          </p:nvPr>
        </p:nvSpPr>
        <p:spPr/>
        <p:txBody>
          <a:bodyPr/>
          <a:lstStyle/>
          <a:p>
            <a:fld id="{DE67F00B-5383-4745-B5A5-E8CB0C832AB5}" type="slidenum">
              <a:rPr lang="en-IN" smtClean="0"/>
              <a:t>3</a:t>
            </a:fld>
            <a:endParaRPr lang="en-IN"/>
          </a:p>
        </p:txBody>
      </p:sp>
    </p:spTree>
    <p:extLst>
      <p:ext uri="{BB962C8B-B14F-4D97-AF65-F5344CB8AC3E}">
        <p14:creationId xmlns:p14="http://schemas.microsoft.com/office/powerpoint/2010/main" val="2692319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82D9-DB04-D661-FBFF-3949D70E5342}"/>
              </a:ext>
            </a:extLst>
          </p:cNvPr>
          <p:cNvSpPr>
            <a:spLocks noGrp="1"/>
          </p:cNvSpPr>
          <p:nvPr>
            <p:ph type="title"/>
          </p:nvPr>
        </p:nvSpPr>
        <p:spPr>
          <a:xfrm>
            <a:off x="838200" y="365126"/>
            <a:ext cx="10515600" cy="762060"/>
          </a:xfrm>
        </p:spPr>
        <p:txBody>
          <a:bodyPr/>
          <a:lstStyle/>
          <a:p>
            <a:pPr algn="ctr"/>
            <a:r>
              <a:rPr lang="en-IN" b="1" dirty="0">
                <a:latin typeface="Times New Roman" panose="02020603050405020304" pitchFamily="18" charset="0"/>
                <a:cs typeface="Times New Roman" panose="02020603050405020304" pitchFamily="18" charset="0"/>
              </a:rPr>
              <a:t>Introduction</a:t>
            </a:r>
          </a:p>
        </p:txBody>
      </p:sp>
      <p:grpSp>
        <p:nvGrpSpPr>
          <p:cNvPr id="7" name="Group 6">
            <a:extLst>
              <a:ext uri="{FF2B5EF4-FFF2-40B4-BE49-F238E27FC236}">
                <a16:creationId xmlns:a16="http://schemas.microsoft.com/office/drawing/2014/main" id="{087C7DAA-95A7-3574-A2BE-16B2426BFD8A}"/>
              </a:ext>
            </a:extLst>
          </p:cNvPr>
          <p:cNvGrpSpPr/>
          <p:nvPr/>
        </p:nvGrpSpPr>
        <p:grpSpPr>
          <a:xfrm>
            <a:off x="363516" y="1318403"/>
            <a:ext cx="5603639" cy="2534729"/>
            <a:chOff x="5178595" y="0"/>
            <a:chExt cx="4789227" cy="4025662"/>
          </a:xfrm>
          <a:solidFill>
            <a:schemeClr val="bg2">
              <a:lumMod val="90000"/>
            </a:schemeClr>
          </a:solidFill>
        </p:grpSpPr>
        <p:sp>
          <p:nvSpPr>
            <p:cNvPr id="8" name="Rectangle 7">
              <a:extLst>
                <a:ext uri="{FF2B5EF4-FFF2-40B4-BE49-F238E27FC236}">
                  <a16:creationId xmlns:a16="http://schemas.microsoft.com/office/drawing/2014/main" id="{C3F023FF-AB86-9DA6-3413-181C03453575}"/>
                </a:ext>
              </a:extLst>
            </p:cNvPr>
            <p:cNvSpPr/>
            <p:nvPr/>
          </p:nvSpPr>
          <p:spPr>
            <a:xfrm>
              <a:off x="5178595" y="0"/>
              <a:ext cx="4789227" cy="4025660"/>
            </a:xfrm>
            <a:prstGeom prst="rect">
              <a:avLst/>
            </a:prstGeom>
            <a:grpFill/>
          </p:spPr>
          <p:style>
            <a:lnRef idx="2">
              <a:schemeClr val="dk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a:lstStyle/>
            <a:p>
              <a:endParaRPr lang="en-IN" dirty="0">
                <a:solidFill>
                  <a:schemeClr val="bg1"/>
                </a:solidFill>
              </a:endParaRPr>
            </a:p>
          </p:txBody>
        </p:sp>
        <p:sp>
          <p:nvSpPr>
            <p:cNvPr id="9" name="TextBox 8">
              <a:extLst>
                <a:ext uri="{FF2B5EF4-FFF2-40B4-BE49-F238E27FC236}">
                  <a16:creationId xmlns:a16="http://schemas.microsoft.com/office/drawing/2014/main" id="{9412F135-9E14-42DB-9066-EA89BD33D1A9}"/>
                </a:ext>
              </a:extLst>
            </p:cNvPr>
            <p:cNvSpPr txBox="1"/>
            <p:nvPr/>
          </p:nvSpPr>
          <p:spPr>
            <a:xfrm>
              <a:off x="5178595" y="1306571"/>
              <a:ext cx="4789227" cy="271909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73069" tIns="0" rIns="473069" bIns="330200" numCol="1" spcCol="1270" anchor="t" anchorCtr="0">
              <a:noAutofit/>
            </a:bodyPr>
            <a:lstStyle/>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Early disease prediction </a:t>
              </a:r>
            </a:p>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Personalized treatment </a:t>
              </a:r>
            </a:p>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Clinical decision support</a:t>
              </a:r>
            </a:p>
          </p:txBody>
        </p:sp>
      </p:grpSp>
      <p:sp>
        <p:nvSpPr>
          <p:cNvPr id="24" name="TextBox 23">
            <a:extLst>
              <a:ext uri="{FF2B5EF4-FFF2-40B4-BE49-F238E27FC236}">
                <a16:creationId xmlns:a16="http://schemas.microsoft.com/office/drawing/2014/main" id="{89E14160-5235-BE53-A1E5-C2EA69E47E4D}"/>
              </a:ext>
            </a:extLst>
          </p:cNvPr>
          <p:cNvSpPr txBox="1"/>
          <p:nvPr/>
        </p:nvSpPr>
        <p:spPr>
          <a:xfrm>
            <a:off x="148413" y="1416206"/>
            <a:ext cx="6096000"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AI supports</a:t>
            </a:r>
          </a:p>
        </p:txBody>
      </p:sp>
      <p:grpSp>
        <p:nvGrpSpPr>
          <p:cNvPr id="25" name="Group 24">
            <a:extLst>
              <a:ext uri="{FF2B5EF4-FFF2-40B4-BE49-F238E27FC236}">
                <a16:creationId xmlns:a16="http://schemas.microsoft.com/office/drawing/2014/main" id="{610071C3-66F3-3962-7510-492318CF2982}"/>
              </a:ext>
            </a:extLst>
          </p:cNvPr>
          <p:cNvGrpSpPr/>
          <p:nvPr/>
        </p:nvGrpSpPr>
        <p:grpSpPr>
          <a:xfrm>
            <a:off x="6377797" y="1318402"/>
            <a:ext cx="5603639" cy="2534729"/>
            <a:chOff x="5178595" y="0"/>
            <a:chExt cx="4789227" cy="4025662"/>
          </a:xfrm>
          <a:solidFill>
            <a:schemeClr val="bg2">
              <a:lumMod val="90000"/>
            </a:schemeClr>
          </a:solidFill>
        </p:grpSpPr>
        <p:sp>
          <p:nvSpPr>
            <p:cNvPr id="26" name="Rectangle 25">
              <a:extLst>
                <a:ext uri="{FF2B5EF4-FFF2-40B4-BE49-F238E27FC236}">
                  <a16:creationId xmlns:a16="http://schemas.microsoft.com/office/drawing/2014/main" id="{DB58C683-60BF-D598-5E27-1680BA1A6E57}"/>
                </a:ext>
              </a:extLst>
            </p:cNvPr>
            <p:cNvSpPr/>
            <p:nvPr/>
          </p:nvSpPr>
          <p:spPr>
            <a:xfrm>
              <a:off x="5178595" y="0"/>
              <a:ext cx="4789227" cy="4025660"/>
            </a:xfrm>
            <a:prstGeom prst="rect">
              <a:avLst/>
            </a:prstGeom>
            <a:grpFill/>
          </p:spPr>
          <p:style>
            <a:lnRef idx="2">
              <a:schemeClr val="dk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a:lstStyle/>
            <a:p>
              <a:endParaRPr lang="en-IN" dirty="0">
                <a:solidFill>
                  <a:schemeClr val="bg1"/>
                </a:solidFill>
              </a:endParaRPr>
            </a:p>
          </p:txBody>
        </p:sp>
        <p:sp>
          <p:nvSpPr>
            <p:cNvPr id="27" name="TextBox 26">
              <a:extLst>
                <a:ext uri="{FF2B5EF4-FFF2-40B4-BE49-F238E27FC236}">
                  <a16:creationId xmlns:a16="http://schemas.microsoft.com/office/drawing/2014/main" id="{A286DC63-177D-2779-03B7-8C1E466A6EBA}"/>
                </a:ext>
              </a:extLst>
            </p:cNvPr>
            <p:cNvSpPr txBox="1"/>
            <p:nvPr/>
          </p:nvSpPr>
          <p:spPr>
            <a:xfrm>
              <a:off x="5178595" y="1306571"/>
              <a:ext cx="4789227" cy="271909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73069" tIns="0" rIns="473069" bIns="330200" numCol="1" spcCol="1270" anchor="t" anchorCtr="0">
              <a:noAutofit/>
            </a:bodyPr>
            <a:lstStyle/>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Are reactive </a:t>
              </a:r>
            </a:p>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Lack personalization </a:t>
              </a:r>
            </a:p>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Have limited explainability </a:t>
              </a:r>
            </a:p>
          </p:txBody>
        </p:sp>
      </p:grpSp>
      <p:sp>
        <p:nvSpPr>
          <p:cNvPr id="30" name="TextBox 29">
            <a:extLst>
              <a:ext uri="{FF2B5EF4-FFF2-40B4-BE49-F238E27FC236}">
                <a16:creationId xmlns:a16="http://schemas.microsoft.com/office/drawing/2014/main" id="{E87B01C3-E1DE-4AF8-F3C6-1AC478C00520}"/>
              </a:ext>
            </a:extLst>
          </p:cNvPr>
          <p:cNvSpPr txBox="1"/>
          <p:nvPr/>
        </p:nvSpPr>
        <p:spPr>
          <a:xfrm>
            <a:off x="6029864" y="1437351"/>
            <a:ext cx="6096000"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Traditional systems</a:t>
            </a:r>
            <a:endParaRPr lang="en-US" sz="3200" b="1" dirty="0">
              <a:latin typeface="Times New Roman" panose="02020603050405020304" pitchFamily="18" charset="0"/>
              <a:cs typeface="Times New Roman" panose="02020603050405020304" pitchFamily="18" charset="0"/>
            </a:endParaRPr>
          </a:p>
        </p:txBody>
      </p:sp>
      <p:grpSp>
        <p:nvGrpSpPr>
          <p:cNvPr id="31" name="Group 30">
            <a:extLst>
              <a:ext uri="{FF2B5EF4-FFF2-40B4-BE49-F238E27FC236}">
                <a16:creationId xmlns:a16="http://schemas.microsoft.com/office/drawing/2014/main" id="{3EA081F4-1F32-A1B6-A959-ADF7F95ACFC3}"/>
              </a:ext>
            </a:extLst>
          </p:cNvPr>
          <p:cNvGrpSpPr/>
          <p:nvPr/>
        </p:nvGrpSpPr>
        <p:grpSpPr>
          <a:xfrm>
            <a:off x="363517" y="4104736"/>
            <a:ext cx="5603640" cy="2534729"/>
            <a:chOff x="5178595" y="0"/>
            <a:chExt cx="4789227" cy="4025662"/>
          </a:xfrm>
          <a:solidFill>
            <a:schemeClr val="bg2">
              <a:lumMod val="90000"/>
            </a:schemeClr>
          </a:solidFill>
        </p:grpSpPr>
        <p:sp>
          <p:nvSpPr>
            <p:cNvPr id="32" name="Rectangle 31">
              <a:extLst>
                <a:ext uri="{FF2B5EF4-FFF2-40B4-BE49-F238E27FC236}">
                  <a16:creationId xmlns:a16="http://schemas.microsoft.com/office/drawing/2014/main" id="{B9A2A8CD-C839-D665-1AC8-C2A0CFCD614E}"/>
                </a:ext>
              </a:extLst>
            </p:cNvPr>
            <p:cNvSpPr/>
            <p:nvPr/>
          </p:nvSpPr>
          <p:spPr>
            <a:xfrm>
              <a:off x="5178595" y="0"/>
              <a:ext cx="4789227" cy="4025660"/>
            </a:xfrm>
            <a:prstGeom prst="rect">
              <a:avLst/>
            </a:prstGeom>
            <a:grpFill/>
          </p:spPr>
          <p:style>
            <a:lnRef idx="2">
              <a:schemeClr val="dk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a:lstStyle/>
            <a:p>
              <a:endParaRPr lang="en-IN" dirty="0">
                <a:solidFill>
                  <a:schemeClr val="bg1"/>
                </a:solidFill>
              </a:endParaRPr>
            </a:p>
          </p:txBody>
        </p:sp>
        <p:sp>
          <p:nvSpPr>
            <p:cNvPr id="33" name="TextBox 32">
              <a:extLst>
                <a:ext uri="{FF2B5EF4-FFF2-40B4-BE49-F238E27FC236}">
                  <a16:creationId xmlns:a16="http://schemas.microsoft.com/office/drawing/2014/main" id="{7477D5D1-B146-9FFD-D5AD-2C7E2DCBB420}"/>
                </a:ext>
              </a:extLst>
            </p:cNvPr>
            <p:cNvSpPr txBox="1"/>
            <p:nvPr/>
          </p:nvSpPr>
          <p:spPr>
            <a:xfrm>
              <a:off x="5178595" y="1306571"/>
              <a:ext cx="4789227" cy="271909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73069" tIns="0" rIns="473069" bIns="330200" numCol="1" spcCol="1270" anchor="t" anchorCtr="0">
              <a:noAutofit/>
            </a:bodyPr>
            <a:lstStyle/>
            <a:p>
              <a:pPr marL="457200" indent="-457200">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Transparency </a:t>
              </a:r>
            </a:p>
            <a:p>
              <a:pPr marL="457200" indent="-457200">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Trust </a:t>
              </a:r>
            </a:p>
            <a:p>
              <a:pPr marL="457200" indent="-457200">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Clinical adoption</a:t>
              </a:r>
              <a:endParaRPr lang="en-US" sz="2800" dirty="0">
                <a:solidFill>
                  <a:schemeClr val="tx1"/>
                </a:solidFill>
                <a:latin typeface="Times New Roman" panose="02020603050405020304" pitchFamily="18" charset="0"/>
                <a:cs typeface="Times New Roman" panose="02020603050405020304" pitchFamily="18" charset="0"/>
              </a:endParaRPr>
            </a:p>
          </p:txBody>
        </p:sp>
      </p:grpSp>
      <p:sp>
        <p:nvSpPr>
          <p:cNvPr id="34" name="TextBox 33">
            <a:extLst>
              <a:ext uri="{FF2B5EF4-FFF2-40B4-BE49-F238E27FC236}">
                <a16:creationId xmlns:a16="http://schemas.microsoft.com/office/drawing/2014/main" id="{706A78E3-1A1D-BBE6-A6E2-2794B74ADBBD}"/>
              </a:ext>
            </a:extLst>
          </p:cNvPr>
          <p:cNvSpPr txBox="1"/>
          <p:nvPr/>
        </p:nvSpPr>
        <p:spPr>
          <a:xfrm>
            <a:off x="148412" y="4194430"/>
            <a:ext cx="6033851"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Explainable AI (XAI) improves</a:t>
            </a:r>
            <a:endParaRPr lang="en-US" sz="3200" b="1" dirty="0">
              <a:latin typeface="Times New Roman" panose="02020603050405020304" pitchFamily="18" charset="0"/>
              <a:cs typeface="Times New Roman" panose="02020603050405020304" pitchFamily="18" charset="0"/>
            </a:endParaRPr>
          </a:p>
        </p:txBody>
      </p:sp>
      <p:grpSp>
        <p:nvGrpSpPr>
          <p:cNvPr id="35" name="Group 34">
            <a:extLst>
              <a:ext uri="{FF2B5EF4-FFF2-40B4-BE49-F238E27FC236}">
                <a16:creationId xmlns:a16="http://schemas.microsoft.com/office/drawing/2014/main" id="{7CC39C4A-51AB-EC46-047B-F02B84291C52}"/>
              </a:ext>
            </a:extLst>
          </p:cNvPr>
          <p:cNvGrpSpPr/>
          <p:nvPr/>
        </p:nvGrpSpPr>
        <p:grpSpPr>
          <a:xfrm>
            <a:off x="6377797" y="4153284"/>
            <a:ext cx="5603640" cy="2534729"/>
            <a:chOff x="5178595" y="0"/>
            <a:chExt cx="4789227" cy="4025662"/>
          </a:xfrm>
          <a:solidFill>
            <a:schemeClr val="bg2">
              <a:lumMod val="90000"/>
            </a:schemeClr>
          </a:solidFill>
        </p:grpSpPr>
        <p:sp>
          <p:nvSpPr>
            <p:cNvPr id="36" name="Rectangle 35">
              <a:extLst>
                <a:ext uri="{FF2B5EF4-FFF2-40B4-BE49-F238E27FC236}">
                  <a16:creationId xmlns:a16="http://schemas.microsoft.com/office/drawing/2014/main" id="{87C0E0EC-F439-74EC-76AF-FBC833633E2B}"/>
                </a:ext>
              </a:extLst>
            </p:cNvPr>
            <p:cNvSpPr/>
            <p:nvPr/>
          </p:nvSpPr>
          <p:spPr>
            <a:xfrm>
              <a:off x="5178595" y="0"/>
              <a:ext cx="4789227" cy="4025660"/>
            </a:xfrm>
            <a:prstGeom prst="rect">
              <a:avLst/>
            </a:prstGeom>
            <a:grpFill/>
          </p:spPr>
          <p:style>
            <a:lnRef idx="2">
              <a:schemeClr val="dk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a:lstStyle/>
            <a:p>
              <a:endParaRPr lang="en-IN" dirty="0">
                <a:solidFill>
                  <a:schemeClr val="bg1"/>
                </a:solidFill>
              </a:endParaRPr>
            </a:p>
          </p:txBody>
        </p:sp>
        <p:sp>
          <p:nvSpPr>
            <p:cNvPr id="37" name="TextBox 36">
              <a:extLst>
                <a:ext uri="{FF2B5EF4-FFF2-40B4-BE49-F238E27FC236}">
                  <a16:creationId xmlns:a16="http://schemas.microsoft.com/office/drawing/2014/main" id="{0D61A01C-203B-774D-9B8D-9178C70A2111}"/>
                </a:ext>
              </a:extLst>
            </p:cNvPr>
            <p:cNvSpPr txBox="1"/>
            <p:nvPr/>
          </p:nvSpPr>
          <p:spPr>
            <a:xfrm>
              <a:off x="5178595" y="1306571"/>
              <a:ext cx="4789227" cy="271909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73069" tIns="0" rIns="473069" bIns="330200" numCol="1" spcCol="1270" anchor="t" anchorCtr="0">
              <a:noAutofit/>
            </a:bodyPr>
            <a:lstStyle/>
            <a:p>
              <a:pPr marL="800100" lvl="1" indent="-342900">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Multi-disease prediction </a:t>
              </a:r>
            </a:p>
            <a:p>
              <a:pPr marL="800100" lvl="1" indent="-342900">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Explainable AI </a:t>
              </a:r>
            </a:p>
            <a:p>
              <a:pPr marL="800100" lvl="1" indent="-342900">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Personalized recommendations </a:t>
              </a:r>
            </a:p>
          </p:txBody>
        </p:sp>
      </p:grpSp>
      <p:sp>
        <p:nvSpPr>
          <p:cNvPr id="38" name="TextBox 37">
            <a:extLst>
              <a:ext uri="{FF2B5EF4-FFF2-40B4-BE49-F238E27FC236}">
                <a16:creationId xmlns:a16="http://schemas.microsoft.com/office/drawing/2014/main" id="{02A953C3-65AC-A5A9-3D59-8CF4BC775402}"/>
              </a:ext>
            </a:extLst>
          </p:cNvPr>
          <p:cNvSpPr txBox="1"/>
          <p:nvPr/>
        </p:nvSpPr>
        <p:spPr>
          <a:xfrm>
            <a:off x="6182262" y="4213074"/>
            <a:ext cx="6033851"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Proposed framework combines</a:t>
            </a:r>
            <a:endParaRPr lang="en-US" sz="3200" b="1" dirty="0">
              <a:latin typeface="Times New Roman" panose="02020603050405020304" pitchFamily="18" charset="0"/>
              <a:cs typeface="Times New Roman" panose="02020603050405020304" pitchFamily="18" charset="0"/>
            </a:endParaRPr>
          </a:p>
        </p:txBody>
      </p:sp>
      <p:pic>
        <p:nvPicPr>
          <p:cNvPr id="39" name="Picture 38" descr="MITS Deemed to be University (Declared under section 3 of UGC Act, 1956 by  Govt. of India-MoE)">
            <a:extLst>
              <a:ext uri="{FF2B5EF4-FFF2-40B4-BE49-F238E27FC236}">
                <a16:creationId xmlns:a16="http://schemas.microsoft.com/office/drawing/2014/main" id="{686C6A53-9959-4917-EC8C-9988629F6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0BBADC09-8939-13F6-CB1C-E6E5CA2F4276}"/>
              </a:ext>
            </a:extLst>
          </p:cNvPr>
          <p:cNvSpPr>
            <a:spLocks noGrp="1"/>
          </p:cNvSpPr>
          <p:nvPr>
            <p:ph type="sldNum" sz="quarter" idx="12"/>
          </p:nvPr>
        </p:nvSpPr>
        <p:spPr/>
        <p:txBody>
          <a:bodyPr/>
          <a:lstStyle/>
          <a:p>
            <a:fld id="{DE67F00B-5383-4745-B5A5-E8CB0C832AB5}" type="slidenum">
              <a:rPr lang="en-IN" smtClean="0"/>
              <a:t>4</a:t>
            </a:fld>
            <a:endParaRPr lang="en-IN"/>
          </a:p>
        </p:txBody>
      </p:sp>
    </p:spTree>
    <p:extLst>
      <p:ext uri="{BB962C8B-B14F-4D97-AF65-F5344CB8AC3E}">
        <p14:creationId xmlns:p14="http://schemas.microsoft.com/office/powerpoint/2010/main" val="1379600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9BB17-1B2F-A40E-308F-C7485C42D33F}"/>
              </a:ext>
            </a:extLst>
          </p:cNvPr>
          <p:cNvSpPr>
            <a:spLocks noGrp="1"/>
          </p:cNvSpPr>
          <p:nvPr>
            <p:ph type="title"/>
          </p:nvPr>
        </p:nvSpPr>
        <p:spPr>
          <a:xfrm>
            <a:off x="838200" y="77578"/>
            <a:ext cx="10515600" cy="1325563"/>
          </a:xfrm>
        </p:spPr>
        <p:txBody>
          <a:bodyPr/>
          <a:lstStyle/>
          <a:p>
            <a:pPr algn="ctr"/>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04B34802-F6D1-122F-24EF-B19BBB956A39}"/>
              </a:ext>
            </a:extLst>
          </p:cNvPr>
          <p:cNvSpPr>
            <a:spLocks noGrp="1"/>
          </p:cNvSpPr>
          <p:nvPr>
            <p:ph idx="1"/>
          </p:nvPr>
        </p:nvSpPr>
        <p:spPr>
          <a:xfrm>
            <a:off x="838200" y="1524000"/>
            <a:ext cx="10515600" cy="4652963"/>
          </a:xfrm>
        </p:spPr>
        <p:txBody>
          <a:bodyPr>
            <a:normAutofit lnSpcReduction="10000"/>
          </a:bodyPr>
          <a:lstStyle/>
          <a:p>
            <a:pPr marL="0" indent="0" algn="ctr">
              <a:buNone/>
            </a:pPr>
            <a:r>
              <a:rPr lang="en-US" sz="3200" b="1" u="sng" dirty="0">
                <a:solidFill>
                  <a:srgbClr val="0070C0"/>
                </a:solidFill>
                <a:latin typeface="Times New Roman" panose="02020603050405020304" pitchFamily="18" charset="0"/>
                <a:cs typeface="Times New Roman" panose="02020603050405020304" pitchFamily="18" charset="0"/>
              </a:rPr>
              <a:t>Existing Challenges</a:t>
            </a:r>
          </a:p>
          <a:p>
            <a:pPr marL="0" indent="0" algn="ctr">
              <a:buNone/>
            </a:pPr>
            <a:endParaRPr lang="en-US"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Most healthcare AI systems predict only one disease at a time. </a:t>
            </a:r>
          </a:p>
          <a:p>
            <a:r>
              <a:rPr lang="en-US" sz="2400" dirty="0">
                <a:latin typeface="Times New Roman" panose="02020603050405020304" pitchFamily="18" charset="0"/>
                <a:cs typeface="Times New Roman" panose="02020603050405020304" pitchFamily="18" charset="0"/>
              </a:rPr>
              <a:t>Existing systems mainly depend on structured clinical data only. </a:t>
            </a:r>
          </a:p>
          <a:p>
            <a:r>
              <a:rPr lang="en-US" sz="2400" dirty="0">
                <a:latin typeface="Times New Roman" panose="02020603050405020304" pitchFamily="18" charset="0"/>
                <a:cs typeface="Times New Roman" panose="02020603050405020304" pitchFamily="18" charset="0"/>
              </a:rPr>
              <a:t>Many models operate as “Black Box” systems. </a:t>
            </a:r>
          </a:p>
          <a:p>
            <a:r>
              <a:rPr lang="en-US" sz="2400" dirty="0">
                <a:latin typeface="Times New Roman" panose="02020603050405020304" pitchFamily="18" charset="0"/>
                <a:cs typeface="Times New Roman" panose="02020603050405020304" pitchFamily="18" charset="0"/>
              </a:rPr>
              <a:t>Lack of: </a:t>
            </a:r>
          </a:p>
          <a:p>
            <a:pPr lvl="1"/>
            <a:r>
              <a:rPr lang="en-US" dirty="0">
                <a:latin typeface="Times New Roman" panose="02020603050405020304" pitchFamily="18" charset="0"/>
                <a:cs typeface="Times New Roman" panose="02020603050405020304" pitchFamily="18" charset="0"/>
              </a:rPr>
              <a:t>Transparency </a:t>
            </a:r>
          </a:p>
          <a:p>
            <a:pPr lvl="1"/>
            <a:r>
              <a:rPr lang="en-US" dirty="0">
                <a:latin typeface="Times New Roman" panose="02020603050405020304" pitchFamily="18" charset="0"/>
                <a:cs typeface="Times New Roman" panose="02020603050405020304" pitchFamily="18" charset="0"/>
              </a:rPr>
              <a:t>Interpretability </a:t>
            </a:r>
          </a:p>
          <a:p>
            <a:pPr lvl="1"/>
            <a:r>
              <a:rPr lang="en-US" dirty="0">
                <a:latin typeface="Times New Roman" panose="02020603050405020304" pitchFamily="18" charset="0"/>
                <a:cs typeface="Times New Roman" panose="02020603050405020304" pitchFamily="18" charset="0"/>
              </a:rPr>
              <a:t>Personalized recommendations </a:t>
            </a:r>
          </a:p>
          <a:p>
            <a:pPr lvl="1"/>
            <a:r>
              <a:rPr lang="en-US" dirty="0">
                <a:latin typeface="Times New Roman" panose="02020603050405020304" pitchFamily="18" charset="0"/>
                <a:cs typeface="Times New Roman" panose="02020603050405020304" pitchFamily="18" charset="0"/>
              </a:rPr>
              <a:t>Multi-disease integration </a:t>
            </a:r>
          </a:p>
          <a:p>
            <a:r>
              <a:rPr lang="en-US" sz="2400" dirty="0">
                <a:latin typeface="Times New Roman" panose="02020603050405020304" pitchFamily="18" charset="0"/>
                <a:cs typeface="Times New Roman" panose="02020603050405020304" pitchFamily="18" charset="0"/>
              </a:rPr>
              <a:t>Difficult to apply in real-world clinical environments. </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715D6638-0159-5908-D1A9-C360AC164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E10F7AA-72D8-ECC8-DCCD-36403152A3BA}"/>
              </a:ext>
            </a:extLst>
          </p:cNvPr>
          <p:cNvSpPr>
            <a:spLocks noGrp="1"/>
          </p:cNvSpPr>
          <p:nvPr>
            <p:ph type="sldNum" sz="quarter" idx="12"/>
          </p:nvPr>
        </p:nvSpPr>
        <p:spPr/>
        <p:txBody>
          <a:bodyPr/>
          <a:lstStyle/>
          <a:p>
            <a:fld id="{DE67F00B-5383-4745-B5A5-E8CB0C832AB5}" type="slidenum">
              <a:rPr lang="en-IN" smtClean="0"/>
              <a:t>5</a:t>
            </a:fld>
            <a:endParaRPr lang="en-IN"/>
          </a:p>
        </p:txBody>
      </p:sp>
    </p:spTree>
    <p:extLst>
      <p:ext uri="{BB962C8B-B14F-4D97-AF65-F5344CB8AC3E}">
        <p14:creationId xmlns:p14="http://schemas.microsoft.com/office/powerpoint/2010/main" val="111136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A74AA-F733-CCB0-B735-7DFB23A01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5007B-61FF-A263-A550-D61EC2440761}"/>
              </a:ext>
            </a:extLst>
          </p:cNvPr>
          <p:cNvSpPr>
            <a:spLocks noGrp="1"/>
          </p:cNvSpPr>
          <p:nvPr>
            <p:ph type="title"/>
          </p:nvPr>
        </p:nvSpPr>
        <p:spPr>
          <a:xfrm>
            <a:off x="838200" y="77578"/>
            <a:ext cx="10515600" cy="1325563"/>
          </a:xfrm>
        </p:spPr>
        <p:txBody>
          <a:bodyPr/>
          <a:lstStyle/>
          <a:p>
            <a:pPr algn="ctr"/>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6D18BCAF-402B-3936-2817-7444581BB013}"/>
              </a:ext>
            </a:extLst>
          </p:cNvPr>
          <p:cNvSpPr>
            <a:spLocks noGrp="1"/>
          </p:cNvSpPr>
          <p:nvPr>
            <p:ph idx="1"/>
          </p:nvPr>
        </p:nvSpPr>
        <p:spPr>
          <a:xfrm>
            <a:off x="838200" y="1524000"/>
            <a:ext cx="10515600" cy="4652963"/>
          </a:xfrm>
        </p:spPr>
        <p:txBody>
          <a:bodyPr>
            <a:normAutofit/>
          </a:bodyPr>
          <a:lstStyle/>
          <a:p>
            <a:pPr marL="0" indent="0" algn="ctr">
              <a:buNone/>
            </a:pPr>
            <a:r>
              <a:rPr lang="en-US" sz="3200" b="1" u="sng" dirty="0">
                <a:solidFill>
                  <a:srgbClr val="0070C0"/>
                </a:solidFill>
                <a:latin typeface="Times New Roman" panose="02020603050405020304" pitchFamily="18" charset="0"/>
                <a:cs typeface="Times New Roman" panose="02020603050405020304" pitchFamily="18" charset="0"/>
              </a:rPr>
              <a:t>Research Gap</a:t>
            </a:r>
          </a:p>
          <a:p>
            <a:pPr marL="0" indent="0" algn="ctr">
              <a:buNone/>
            </a:pPr>
            <a:endParaRPr lang="en-US" sz="3200" b="1" u="sng"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There is a need for a:</a:t>
            </a:r>
          </a:p>
          <a:p>
            <a:r>
              <a:rPr lang="en-US" dirty="0">
                <a:latin typeface="Times New Roman" panose="02020603050405020304" pitchFamily="18" charset="0"/>
                <a:cs typeface="Times New Roman" panose="02020603050405020304" pitchFamily="18" charset="0"/>
              </a:rPr>
              <a:t>Unified multi-disease prediction system </a:t>
            </a:r>
          </a:p>
          <a:p>
            <a:r>
              <a:rPr lang="en-US" dirty="0">
                <a:latin typeface="Times New Roman" panose="02020603050405020304" pitchFamily="18" charset="0"/>
                <a:cs typeface="Times New Roman" panose="02020603050405020304" pitchFamily="18" charset="0"/>
              </a:rPr>
              <a:t>Explainable and trustworthy AI framework </a:t>
            </a:r>
          </a:p>
          <a:p>
            <a:r>
              <a:rPr lang="en-US" dirty="0">
                <a:latin typeface="Times New Roman" panose="02020603050405020304" pitchFamily="18" charset="0"/>
                <a:cs typeface="Times New Roman" panose="02020603050405020304" pitchFamily="18" charset="0"/>
              </a:rPr>
              <a:t>Personalized healthcare recommendation system </a:t>
            </a:r>
          </a:p>
          <a:p>
            <a:r>
              <a:rPr lang="en-US" dirty="0">
                <a:latin typeface="Times New Roman" panose="02020603050405020304" pitchFamily="18" charset="0"/>
                <a:cs typeface="Times New Roman" panose="02020603050405020304" pitchFamily="18" charset="0"/>
              </a:rPr>
              <a:t>Clinically applicable intelligent healthcare solution </a:t>
            </a:r>
          </a:p>
        </p:txBody>
      </p:sp>
      <p:pic>
        <p:nvPicPr>
          <p:cNvPr id="4" name="Picture 3" descr="MITS Deemed to be University (Declared under section 3 of UGC Act, 1956 by  Govt. of India-MoE)">
            <a:extLst>
              <a:ext uri="{FF2B5EF4-FFF2-40B4-BE49-F238E27FC236}">
                <a16:creationId xmlns:a16="http://schemas.microsoft.com/office/drawing/2014/main" id="{D02A617D-C876-A798-5B19-B1C08ABA5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A3265A6-2271-D790-9010-81B3653EBCA3}"/>
              </a:ext>
            </a:extLst>
          </p:cNvPr>
          <p:cNvSpPr>
            <a:spLocks noGrp="1"/>
          </p:cNvSpPr>
          <p:nvPr>
            <p:ph type="sldNum" sz="quarter" idx="12"/>
          </p:nvPr>
        </p:nvSpPr>
        <p:spPr/>
        <p:txBody>
          <a:bodyPr/>
          <a:lstStyle/>
          <a:p>
            <a:fld id="{DE67F00B-5383-4745-B5A5-E8CB0C832AB5}" type="slidenum">
              <a:rPr lang="en-IN" smtClean="0"/>
              <a:t>6</a:t>
            </a:fld>
            <a:endParaRPr lang="en-IN"/>
          </a:p>
        </p:txBody>
      </p:sp>
    </p:spTree>
    <p:extLst>
      <p:ext uri="{BB962C8B-B14F-4D97-AF65-F5344CB8AC3E}">
        <p14:creationId xmlns:p14="http://schemas.microsoft.com/office/powerpoint/2010/main" val="342816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A8E1-1A3A-D27C-2641-9F510B52EE4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BB5905BC-3257-846C-5541-6D24C95678D4}"/>
              </a:ext>
            </a:extLst>
          </p:cNvPr>
          <p:cNvSpPr>
            <a:spLocks noGrp="1"/>
          </p:cNvSpPr>
          <p:nvPr>
            <p:ph idx="1"/>
          </p:nvPr>
        </p:nvSpPr>
        <p:spPr>
          <a:xfrm>
            <a:off x="838200" y="2072916"/>
            <a:ext cx="10515600" cy="4351338"/>
          </a:xfrm>
        </p:spPr>
        <p:txBody>
          <a:bodyPr>
            <a:normAutofit/>
          </a:bodyPr>
          <a:lstStyle/>
          <a:p>
            <a:r>
              <a:rPr lang="en-US" dirty="0">
                <a:latin typeface="Times New Roman" panose="02020603050405020304" pitchFamily="18" charset="0"/>
                <a:cs typeface="Times New Roman" panose="02020603050405020304" pitchFamily="18" charset="0"/>
              </a:rPr>
              <a:t>Develop a unified multi-disease prediction system</a:t>
            </a:r>
          </a:p>
          <a:p>
            <a:r>
              <a:rPr lang="en-US" dirty="0">
                <a:latin typeface="Times New Roman" panose="02020603050405020304" pitchFamily="18" charset="0"/>
                <a:cs typeface="Times New Roman" panose="02020603050405020304" pitchFamily="18" charset="0"/>
              </a:rPr>
              <a:t>Use ensemble models for better accuracy</a:t>
            </a:r>
          </a:p>
          <a:p>
            <a:r>
              <a:rPr lang="en-US" dirty="0">
                <a:latin typeface="Times New Roman" panose="02020603050405020304" pitchFamily="18" charset="0"/>
                <a:cs typeface="Times New Roman" panose="02020603050405020304" pitchFamily="18" charset="0"/>
              </a:rPr>
              <a:t>Apply SHAP and LIME for explainability</a:t>
            </a:r>
          </a:p>
          <a:p>
            <a:r>
              <a:rPr lang="en-US" dirty="0">
                <a:latin typeface="Times New Roman" panose="02020603050405020304" pitchFamily="18" charset="0"/>
                <a:cs typeface="Times New Roman" panose="02020603050405020304" pitchFamily="18" charset="0"/>
              </a:rPr>
              <a:t>Identify important clinical risk factors</a:t>
            </a:r>
          </a:p>
          <a:p>
            <a:r>
              <a:rPr lang="en-US" dirty="0">
                <a:latin typeface="Times New Roman" panose="02020603050405020304" pitchFamily="18" charset="0"/>
                <a:cs typeface="Times New Roman" panose="02020603050405020304" pitchFamily="18" charset="0"/>
              </a:rPr>
              <a:t>Provide personalized healthcare recommendations</a:t>
            </a:r>
          </a:p>
        </p:txBody>
      </p:sp>
      <p:pic>
        <p:nvPicPr>
          <p:cNvPr id="4" name="Picture 3" descr="MITS Deemed to be University (Declared under section 3 of UGC Act, 1956 by  Govt. of India-MoE)">
            <a:extLst>
              <a:ext uri="{FF2B5EF4-FFF2-40B4-BE49-F238E27FC236}">
                <a16:creationId xmlns:a16="http://schemas.microsoft.com/office/drawing/2014/main" id="{6A34DFF1-CB20-403E-6CF0-38D3C56E6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E386FAD-846B-3505-EB31-88A3B124589F}"/>
              </a:ext>
            </a:extLst>
          </p:cNvPr>
          <p:cNvSpPr>
            <a:spLocks noGrp="1"/>
          </p:cNvSpPr>
          <p:nvPr>
            <p:ph type="sldNum" sz="quarter" idx="12"/>
          </p:nvPr>
        </p:nvSpPr>
        <p:spPr/>
        <p:txBody>
          <a:bodyPr/>
          <a:lstStyle/>
          <a:p>
            <a:fld id="{DE67F00B-5383-4745-B5A5-E8CB0C832AB5}" type="slidenum">
              <a:rPr lang="en-IN" smtClean="0"/>
              <a:t>7</a:t>
            </a:fld>
            <a:endParaRPr lang="en-IN"/>
          </a:p>
        </p:txBody>
      </p:sp>
    </p:spTree>
    <p:extLst>
      <p:ext uri="{BB962C8B-B14F-4D97-AF65-F5344CB8AC3E}">
        <p14:creationId xmlns:p14="http://schemas.microsoft.com/office/powerpoint/2010/main" val="235820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6D3A1-8733-857F-F3C7-B1C515DED8CF}"/>
              </a:ext>
            </a:extLst>
          </p:cNvPr>
          <p:cNvSpPr>
            <a:spLocks noGrp="1"/>
          </p:cNvSpPr>
          <p:nvPr>
            <p:ph type="title"/>
          </p:nvPr>
        </p:nvSpPr>
        <p:spPr>
          <a:xfrm>
            <a:off x="893553" y="365125"/>
            <a:ext cx="10404894" cy="1026603"/>
          </a:xfrm>
        </p:spPr>
        <p:txBody>
          <a:bodyPr/>
          <a:lstStyle/>
          <a:p>
            <a:pPr algn="ctr"/>
            <a:r>
              <a:rPr lang="en-IN" b="1" dirty="0">
                <a:latin typeface="Times New Roman" panose="02020603050405020304" pitchFamily="18" charset="0"/>
                <a:cs typeface="Times New Roman" panose="02020603050405020304" pitchFamily="18" charset="0"/>
              </a:rPr>
              <a:t>Literature Review</a:t>
            </a:r>
            <a:endParaRPr lang="en-IN"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3AC7D44C-39C8-0FB4-343A-6B0898502A59}"/>
              </a:ext>
            </a:extLst>
          </p:cNvPr>
          <p:cNvGraphicFramePr>
            <a:graphicFrameLocks noGrp="1"/>
          </p:cNvGraphicFramePr>
          <p:nvPr>
            <p:ph idx="1"/>
            <p:extLst>
              <p:ext uri="{D42A27DB-BD31-4B8C-83A1-F6EECF244321}">
                <p14:modId xmlns:p14="http://schemas.microsoft.com/office/powerpoint/2010/main" val="1022980687"/>
              </p:ext>
            </p:extLst>
          </p:nvPr>
        </p:nvGraphicFramePr>
        <p:xfrm>
          <a:off x="893553" y="1375596"/>
          <a:ext cx="10404895" cy="4779388"/>
        </p:xfrm>
        <a:graphic>
          <a:graphicData uri="http://schemas.openxmlformats.org/drawingml/2006/table">
            <a:tbl>
              <a:tblPr/>
              <a:tblGrid>
                <a:gridCol w="2080979">
                  <a:extLst>
                    <a:ext uri="{9D8B030D-6E8A-4147-A177-3AD203B41FA5}">
                      <a16:colId xmlns:a16="http://schemas.microsoft.com/office/drawing/2014/main" val="3271991240"/>
                    </a:ext>
                  </a:extLst>
                </a:gridCol>
                <a:gridCol w="2080979">
                  <a:extLst>
                    <a:ext uri="{9D8B030D-6E8A-4147-A177-3AD203B41FA5}">
                      <a16:colId xmlns:a16="http://schemas.microsoft.com/office/drawing/2014/main" val="2339060151"/>
                    </a:ext>
                  </a:extLst>
                </a:gridCol>
                <a:gridCol w="2080979">
                  <a:extLst>
                    <a:ext uri="{9D8B030D-6E8A-4147-A177-3AD203B41FA5}">
                      <a16:colId xmlns:a16="http://schemas.microsoft.com/office/drawing/2014/main" val="3362245159"/>
                    </a:ext>
                  </a:extLst>
                </a:gridCol>
                <a:gridCol w="2080979">
                  <a:extLst>
                    <a:ext uri="{9D8B030D-6E8A-4147-A177-3AD203B41FA5}">
                      <a16:colId xmlns:a16="http://schemas.microsoft.com/office/drawing/2014/main" val="1628949516"/>
                    </a:ext>
                  </a:extLst>
                </a:gridCol>
                <a:gridCol w="2080979">
                  <a:extLst>
                    <a:ext uri="{9D8B030D-6E8A-4147-A177-3AD203B41FA5}">
                      <a16:colId xmlns:a16="http://schemas.microsoft.com/office/drawing/2014/main" val="361556672"/>
                    </a:ext>
                  </a:extLst>
                </a:gridCol>
              </a:tblGrid>
              <a:tr h="638338">
                <a:tc>
                  <a:txBody>
                    <a:bodyPr/>
                    <a:lstStyle/>
                    <a:p>
                      <a:pPr>
                        <a:buNone/>
                      </a:pPr>
                      <a:r>
                        <a:rPr lang="en-IN" sz="1100"/>
                        <a:t>S.No</a:t>
                      </a:r>
                    </a:p>
                  </a:txBody>
                  <a:tcPr marL="55214" marR="55214" marT="27607" marB="27607" anchor="ctr">
                    <a:lnL>
                      <a:noFill/>
                    </a:lnL>
                    <a:lnR>
                      <a:noFill/>
                    </a:lnR>
                    <a:lnT>
                      <a:noFill/>
                    </a:lnT>
                    <a:lnB>
                      <a:noFill/>
                    </a:lnB>
                    <a:noFill/>
                  </a:tcPr>
                </a:tc>
                <a:tc>
                  <a:txBody>
                    <a:bodyPr/>
                    <a:lstStyle/>
                    <a:p>
                      <a:pPr>
                        <a:buNone/>
                      </a:pPr>
                      <a:r>
                        <a:rPr lang="en-IN" sz="1100"/>
                        <a:t>Research Paper / Author</a:t>
                      </a:r>
                    </a:p>
                  </a:txBody>
                  <a:tcPr marL="55214" marR="55214" marT="27607" marB="27607" anchor="ctr">
                    <a:lnL>
                      <a:noFill/>
                    </a:lnL>
                    <a:lnR>
                      <a:noFill/>
                    </a:lnR>
                    <a:lnT>
                      <a:noFill/>
                    </a:lnT>
                    <a:lnB>
                      <a:noFill/>
                    </a:lnB>
                    <a:noFill/>
                  </a:tcPr>
                </a:tc>
                <a:tc>
                  <a:txBody>
                    <a:bodyPr/>
                    <a:lstStyle/>
                    <a:p>
                      <a:pPr>
                        <a:buNone/>
                      </a:pPr>
                      <a:r>
                        <a:rPr lang="en-IN" sz="1100"/>
                        <a:t>Methodology Used</a:t>
                      </a:r>
                    </a:p>
                  </a:txBody>
                  <a:tcPr marL="55214" marR="55214" marT="27607" marB="27607" anchor="ctr">
                    <a:lnL>
                      <a:noFill/>
                    </a:lnL>
                    <a:lnR>
                      <a:noFill/>
                    </a:lnR>
                    <a:lnT>
                      <a:noFill/>
                    </a:lnT>
                    <a:lnB>
                      <a:noFill/>
                    </a:lnB>
                    <a:noFill/>
                  </a:tcPr>
                </a:tc>
                <a:tc>
                  <a:txBody>
                    <a:bodyPr/>
                    <a:lstStyle/>
                    <a:p>
                      <a:pPr>
                        <a:buNone/>
                      </a:pPr>
                      <a:r>
                        <a:rPr lang="en-IN" sz="1100"/>
                        <a:t>Merits</a:t>
                      </a:r>
                    </a:p>
                  </a:txBody>
                  <a:tcPr marL="55214" marR="55214" marT="27607" marB="27607" anchor="ctr">
                    <a:lnL>
                      <a:noFill/>
                    </a:lnL>
                    <a:lnR>
                      <a:noFill/>
                    </a:lnR>
                    <a:lnT>
                      <a:noFill/>
                    </a:lnT>
                    <a:lnB>
                      <a:noFill/>
                    </a:lnB>
                    <a:noFill/>
                  </a:tcPr>
                </a:tc>
                <a:tc>
                  <a:txBody>
                    <a:bodyPr/>
                    <a:lstStyle/>
                    <a:p>
                      <a:pPr>
                        <a:buNone/>
                      </a:pPr>
                      <a:r>
                        <a:rPr lang="en-IN" sz="1100"/>
                        <a:t>Demerits</a:t>
                      </a:r>
                    </a:p>
                  </a:txBody>
                  <a:tcPr marL="55214" marR="55214" marT="27607" marB="27607" anchor="ctr">
                    <a:lnL>
                      <a:noFill/>
                    </a:lnL>
                    <a:lnR>
                      <a:noFill/>
                    </a:lnR>
                    <a:lnT>
                      <a:noFill/>
                    </a:lnT>
                    <a:lnB>
                      <a:noFill/>
                    </a:lnB>
                    <a:noFill/>
                  </a:tcPr>
                </a:tc>
                <a:extLst>
                  <a:ext uri="{0D108BD9-81ED-4DB2-BD59-A6C34878D82A}">
                    <a16:rowId xmlns:a16="http://schemas.microsoft.com/office/drawing/2014/main" val="3586720554"/>
                  </a:ext>
                </a:extLst>
              </a:tr>
              <a:tr h="1380350">
                <a:tc>
                  <a:txBody>
                    <a:bodyPr/>
                    <a:lstStyle/>
                    <a:p>
                      <a:pPr>
                        <a:buNone/>
                      </a:pPr>
                      <a:r>
                        <a:rPr lang="en-IN" sz="1100"/>
                        <a:t>1</a:t>
                      </a:r>
                    </a:p>
                  </a:txBody>
                  <a:tcPr marL="55214" marR="55214" marT="27607" marB="27607" anchor="ctr">
                    <a:lnL>
                      <a:noFill/>
                    </a:lnL>
                    <a:lnR>
                      <a:noFill/>
                    </a:lnR>
                    <a:lnT>
                      <a:noFill/>
                    </a:lnT>
                    <a:lnB>
                      <a:noFill/>
                    </a:lnB>
                    <a:noFill/>
                  </a:tcPr>
                </a:tc>
                <a:tc>
                  <a:txBody>
                    <a:bodyPr/>
                    <a:lstStyle/>
                    <a:p>
                      <a:pPr>
                        <a:buNone/>
                      </a:pPr>
                      <a:r>
                        <a:rPr lang="en-US" sz="1100"/>
                        <a:t>G. Mandala et al. – </a:t>
                      </a:r>
                      <a:r>
                        <a:rPr lang="en-US" sz="1100" i="1"/>
                        <a:t>AI and ML in Healthcare: Redefining Diagnostics, Treatment, and Personalized Medicine</a:t>
                      </a:r>
                      <a:endParaRPr lang="en-US" sz="1100"/>
                    </a:p>
                  </a:txBody>
                  <a:tcPr marL="55214" marR="55214" marT="27607" marB="27607" anchor="ctr">
                    <a:lnL>
                      <a:noFill/>
                    </a:lnL>
                    <a:lnR>
                      <a:noFill/>
                    </a:lnR>
                    <a:lnT>
                      <a:noFill/>
                    </a:lnT>
                    <a:lnB>
                      <a:noFill/>
                    </a:lnB>
                    <a:noFill/>
                  </a:tcPr>
                </a:tc>
                <a:tc>
                  <a:txBody>
                    <a:bodyPr/>
                    <a:lstStyle/>
                    <a:p>
                      <a:pPr>
                        <a:buNone/>
                      </a:pPr>
                      <a:r>
                        <a:rPr lang="en-US" sz="1100"/>
                        <a:t>Used AI and Machine Learning models for disease diagnosis and personalized healthcare prediction</a:t>
                      </a:r>
                    </a:p>
                  </a:txBody>
                  <a:tcPr marL="55214" marR="55214" marT="27607" marB="27607" anchor="ctr">
                    <a:lnL>
                      <a:noFill/>
                    </a:lnL>
                    <a:lnR>
                      <a:noFill/>
                    </a:lnR>
                    <a:lnT>
                      <a:noFill/>
                    </a:lnT>
                    <a:lnB>
                      <a:noFill/>
                    </a:lnB>
                    <a:noFill/>
                  </a:tcPr>
                </a:tc>
                <a:tc>
                  <a:txBody>
                    <a:bodyPr/>
                    <a:lstStyle/>
                    <a:p>
                      <a:pPr>
                        <a:buNone/>
                      </a:pPr>
                      <a:r>
                        <a:rPr lang="en-US" sz="1100"/>
                        <a:t>Improved diagnostic accuracy and healthcare automation</a:t>
                      </a:r>
                    </a:p>
                  </a:txBody>
                  <a:tcPr marL="55214" marR="55214" marT="27607" marB="27607" anchor="ctr">
                    <a:lnL>
                      <a:noFill/>
                    </a:lnL>
                    <a:lnR>
                      <a:noFill/>
                    </a:lnR>
                    <a:lnT>
                      <a:noFill/>
                    </a:lnT>
                    <a:lnB>
                      <a:noFill/>
                    </a:lnB>
                    <a:noFill/>
                  </a:tcPr>
                </a:tc>
                <a:tc>
                  <a:txBody>
                    <a:bodyPr/>
                    <a:lstStyle/>
                    <a:p>
                      <a:pPr>
                        <a:buNone/>
                      </a:pPr>
                      <a:r>
                        <a:rPr lang="en-US" sz="1100"/>
                        <a:t>Limited explainability and mostly theoretical analysis</a:t>
                      </a:r>
                    </a:p>
                  </a:txBody>
                  <a:tcPr marL="55214" marR="55214" marT="27607" marB="27607" anchor="ctr">
                    <a:lnL>
                      <a:noFill/>
                    </a:lnL>
                    <a:lnR>
                      <a:noFill/>
                    </a:lnR>
                    <a:lnT>
                      <a:noFill/>
                    </a:lnT>
                    <a:lnB>
                      <a:noFill/>
                    </a:lnB>
                    <a:noFill/>
                  </a:tcPr>
                </a:tc>
                <a:extLst>
                  <a:ext uri="{0D108BD9-81ED-4DB2-BD59-A6C34878D82A}">
                    <a16:rowId xmlns:a16="http://schemas.microsoft.com/office/drawing/2014/main" val="4207638790"/>
                  </a:ext>
                </a:extLst>
              </a:tr>
              <a:tr h="1380350">
                <a:tc>
                  <a:txBody>
                    <a:bodyPr/>
                    <a:lstStyle/>
                    <a:p>
                      <a:pPr>
                        <a:buNone/>
                      </a:pPr>
                      <a:r>
                        <a:rPr lang="en-IN" sz="1100"/>
                        <a:t>2</a:t>
                      </a:r>
                    </a:p>
                  </a:txBody>
                  <a:tcPr marL="55214" marR="55214" marT="27607" marB="27607" anchor="ctr">
                    <a:lnL>
                      <a:noFill/>
                    </a:lnL>
                    <a:lnR>
                      <a:noFill/>
                    </a:lnR>
                    <a:lnT>
                      <a:noFill/>
                    </a:lnT>
                    <a:lnB>
                      <a:noFill/>
                    </a:lnB>
                    <a:noFill/>
                  </a:tcPr>
                </a:tc>
                <a:tc>
                  <a:txBody>
                    <a:bodyPr/>
                    <a:lstStyle/>
                    <a:p>
                      <a:pPr>
                        <a:buNone/>
                      </a:pPr>
                      <a:r>
                        <a:rPr lang="en-US" sz="1100"/>
                        <a:t>E. C. Chianumba et al. – </a:t>
                      </a:r>
                      <a:r>
                        <a:rPr lang="en-US" sz="1100" i="1"/>
                        <a:t>Exploring the Role of AI and ML in Improving Healthcare Diagnostics and Personalized Medicine</a:t>
                      </a:r>
                      <a:endParaRPr lang="en-US" sz="1100"/>
                    </a:p>
                  </a:txBody>
                  <a:tcPr marL="55214" marR="55214" marT="27607" marB="27607" anchor="ctr">
                    <a:lnL>
                      <a:noFill/>
                    </a:lnL>
                    <a:lnR>
                      <a:noFill/>
                    </a:lnR>
                    <a:lnT>
                      <a:noFill/>
                    </a:lnT>
                    <a:lnB>
                      <a:noFill/>
                    </a:lnB>
                    <a:noFill/>
                  </a:tcPr>
                </a:tc>
                <a:tc>
                  <a:txBody>
                    <a:bodyPr/>
                    <a:lstStyle/>
                    <a:p>
                      <a:pPr>
                        <a:buNone/>
                      </a:pPr>
                      <a:r>
                        <a:rPr lang="en-US" sz="1100"/>
                        <a:t>Applied Machine Learning techniques for healthcare diagnostics and personalized treatment recommendations</a:t>
                      </a:r>
                    </a:p>
                  </a:txBody>
                  <a:tcPr marL="55214" marR="55214" marT="27607" marB="27607" anchor="ctr">
                    <a:lnL>
                      <a:noFill/>
                    </a:lnL>
                    <a:lnR>
                      <a:noFill/>
                    </a:lnR>
                    <a:lnT>
                      <a:noFill/>
                    </a:lnT>
                    <a:lnB>
                      <a:noFill/>
                    </a:lnB>
                    <a:noFill/>
                  </a:tcPr>
                </a:tc>
                <a:tc>
                  <a:txBody>
                    <a:bodyPr/>
                    <a:lstStyle/>
                    <a:p>
                      <a:pPr>
                        <a:buNone/>
                      </a:pPr>
                      <a:r>
                        <a:rPr lang="en-US" sz="1100"/>
                        <a:t>Enhanced clinical decision support and prediction efficiency</a:t>
                      </a:r>
                    </a:p>
                  </a:txBody>
                  <a:tcPr marL="55214" marR="55214" marT="27607" marB="27607" anchor="ctr">
                    <a:lnL>
                      <a:noFill/>
                    </a:lnL>
                    <a:lnR>
                      <a:noFill/>
                    </a:lnR>
                    <a:lnT>
                      <a:noFill/>
                    </a:lnT>
                    <a:lnB>
                      <a:noFill/>
                    </a:lnB>
                    <a:noFill/>
                  </a:tcPr>
                </a:tc>
                <a:tc>
                  <a:txBody>
                    <a:bodyPr/>
                    <a:lstStyle/>
                    <a:p>
                      <a:pPr>
                        <a:buNone/>
                      </a:pPr>
                      <a:r>
                        <a:rPr lang="en-US" sz="1100"/>
                        <a:t>Focused mainly on diagnosis, less emphasis on explainability</a:t>
                      </a:r>
                    </a:p>
                  </a:txBody>
                  <a:tcPr marL="55214" marR="55214" marT="27607" marB="27607" anchor="ctr">
                    <a:lnL>
                      <a:noFill/>
                    </a:lnL>
                    <a:lnR>
                      <a:noFill/>
                    </a:lnR>
                    <a:lnT>
                      <a:noFill/>
                    </a:lnT>
                    <a:lnB>
                      <a:noFill/>
                    </a:lnB>
                    <a:noFill/>
                  </a:tcPr>
                </a:tc>
                <a:extLst>
                  <a:ext uri="{0D108BD9-81ED-4DB2-BD59-A6C34878D82A}">
                    <a16:rowId xmlns:a16="http://schemas.microsoft.com/office/drawing/2014/main" val="2617799622"/>
                  </a:ext>
                </a:extLst>
              </a:tr>
              <a:tr h="1380350">
                <a:tc>
                  <a:txBody>
                    <a:bodyPr/>
                    <a:lstStyle/>
                    <a:p>
                      <a:pPr>
                        <a:buNone/>
                      </a:pPr>
                      <a:r>
                        <a:rPr lang="en-IN" sz="1100"/>
                        <a:t>3</a:t>
                      </a:r>
                    </a:p>
                  </a:txBody>
                  <a:tcPr marL="55214" marR="55214" marT="27607" marB="27607" anchor="ctr">
                    <a:lnL>
                      <a:noFill/>
                    </a:lnL>
                    <a:lnR>
                      <a:noFill/>
                    </a:lnR>
                    <a:lnT>
                      <a:noFill/>
                    </a:lnT>
                    <a:lnB>
                      <a:noFill/>
                    </a:lnB>
                    <a:noFill/>
                  </a:tcPr>
                </a:tc>
                <a:tc>
                  <a:txBody>
                    <a:bodyPr/>
                    <a:lstStyle/>
                    <a:p>
                      <a:pPr>
                        <a:buNone/>
                      </a:pPr>
                      <a:r>
                        <a:rPr lang="en-US" sz="1100"/>
                        <a:t>E. U. Alum and O. P.-C. Ugwu – </a:t>
                      </a:r>
                      <a:r>
                        <a:rPr lang="en-US" sz="1100" i="1"/>
                        <a:t>Artificial Intelligence in Personalized Medicine: Transforming Diagnosis and Treatment</a:t>
                      </a:r>
                      <a:endParaRPr lang="en-US" sz="1100"/>
                    </a:p>
                  </a:txBody>
                  <a:tcPr marL="55214" marR="55214" marT="27607" marB="27607" anchor="ctr">
                    <a:lnL>
                      <a:noFill/>
                    </a:lnL>
                    <a:lnR>
                      <a:noFill/>
                    </a:lnR>
                    <a:lnT>
                      <a:noFill/>
                    </a:lnT>
                    <a:lnB>
                      <a:noFill/>
                    </a:lnB>
                    <a:noFill/>
                  </a:tcPr>
                </a:tc>
                <a:tc>
                  <a:txBody>
                    <a:bodyPr/>
                    <a:lstStyle/>
                    <a:p>
                      <a:pPr>
                        <a:buNone/>
                      </a:pPr>
                      <a:r>
                        <a:rPr lang="en-US" sz="1100"/>
                        <a:t>Used AI-driven personalized medicine systems for treatment optimization</a:t>
                      </a:r>
                    </a:p>
                  </a:txBody>
                  <a:tcPr marL="55214" marR="55214" marT="27607" marB="27607" anchor="ctr">
                    <a:lnL>
                      <a:noFill/>
                    </a:lnL>
                    <a:lnR>
                      <a:noFill/>
                    </a:lnR>
                    <a:lnT>
                      <a:noFill/>
                    </a:lnT>
                    <a:lnB>
                      <a:noFill/>
                    </a:lnB>
                    <a:noFill/>
                  </a:tcPr>
                </a:tc>
                <a:tc>
                  <a:txBody>
                    <a:bodyPr/>
                    <a:lstStyle/>
                    <a:p>
                      <a:pPr>
                        <a:buNone/>
                      </a:pPr>
                      <a:r>
                        <a:rPr lang="en-IN" sz="1100"/>
                        <a:t>Improved patient-specific healthcare recommendations</a:t>
                      </a:r>
                    </a:p>
                  </a:txBody>
                  <a:tcPr marL="55214" marR="55214" marT="27607" marB="27607" anchor="ctr">
                    <a:lnL>
                      <a:noFill/>
                    </a:lnL>
                    <a:lnR>
                      <a:noFill/>
                    </a:lnR>
                    <a:lnT>
                      <a:noFill/>
                    </a:lnT>
                    <a:lnB>
                      <a:noFill/>
                    </a:lnB>
                    <a:noFill/>
                  </a:tcPr>
                </a:tc>
                <a:tc>
                  <a:txBody>
                    <a:bodyPr/>
                    <a:lstStyle/>
                    <a:p>
                      <a:pPr>
                        <a:buNone/>
                      </a:pPr>
                      <a:r>
                        <a:rPr lang="en-US" sz="1100" dirty="0"/>
                        <a:t>Lack of multi-disease prediction framework</a:t>
                      </a:r>
                    </a:p>
                  </a:txBody>
                  <a:tcPr marL="55214" marR="55214" marT="27607" marB="27607" anchor="ctr">
                    <a:lnL>
                      <a:noFill/>
                    </a:lnL>
                    <a:lnR>
                      <a:noFill/>
                    </a:lnR>
                    <a:lnT>
                      <a:noFill/>
                    </a:lnT>
                    <a:lnB>
                      <a:noFill/>
                    </a:lnB>
                    <a:noFill/>
                  </a:tcPr>
                </a:tc>
                <a:extLst>
                  <a:ext uri="{0D108BD9-81ED-4DB2-BD59-A6C34878D82A}">
                    <a16:rowId xmlns:a16="http://schemas.microsoft.com/office/drawing/2014/main" val="406550712"/>
                  </a:ext>
                </a:extLst>
              </a:tr>
            </a:tbl>
          </a:graphicData>
        </a:graphic>
      </p:graphicFrame>
      <p:pic>
        <p:nvPicPr>
          <p:cNvPr id="4" name="Picture 3" descr="MITS Deemed to be University (Declared under section 3 of UGC Act, 1956 by  Govt. of India-MoE)">
            <a:extLst>
              <a:ext uri="{FF2B5EF4-FFF2-40B4-BE49-F238E27FC236}">
                <a16:creationId xmlns:a16="http://schemas.microsoft.com/office/drawing/2014/main" id="{B56D4D77-E280-0AEF-28FA-454096C7F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B1D1B3E8-B0F7-5029-BFB8-71C6E230356C}"/>
              </a:ext>
            </a:extLst>
          </p:cNvPr>
          <p:cNvGraphicFramePr>
            <a:graphicFrameLocks noGrp="1"/>
          </p:cNvGraphicFramePr>
          <p:nvPr>
            <p:extLst>
              <p:ext uri="{D42A27DB-BD31-4B8C-83A1-F6EECF244321}">
                <p14:modId xmlns:p14="http://schemas.microsoft.com/office/powerpoint/2010/main" val="2453592155"/>
              </p:ext>
            </p:extLst>
          </p:nvPr>
        </p:nvGraphicFramePr>
        <p:xfrm>
          <a:off x="893551" y="1264083"/>
          <a:ext cx="10404895" cy="5228792"/>
        </p:xfrm>
        <a:graphic>
          <a:graphicData uri="http://schemas.openxmlformats.org/drawingml/2006/table">
            <a:tbl>
              <a:tblPr firstRow="1" bandRow="1">
                <a:tableStyleId>{7DF18680-E054-41AD-8BC1-D1AEF772440D}</a:tableStyleId>
              </a:tblPr>
              <a:tblGrid>
                <a:gridCol w="939802">
                  <a:extLst>
                    <a:ext uri="{9D8B030D-6E8A-4147-A177-3AD203B41FA5}">
                      <a16:colId xmlns:a16="http://schemas.microsoft.com/office/drawing/2014/main" val="652475404"/>
                    </a:ext>
                  </a:extLst>
                </a:gridCol>
                <a:gridCol w="3937000">
                  <a:extLst>
                    <a:ext uri="{9D8B030D-6E8A-4147-A177-3AD203B41FA5}">
                      <a16:colId xmlns:a16="http://schemas.microsoft.com/office/drawing/2014/main" val="1785562627"/>
                    </a:ext>
                  </a:extLst>
                </a:gridCol>
                <a:gridCol w="2926869">
                  <a:extLst>
                    <a:ext uri="{9D8B030D-6E8A-4147-A177-3AD203B41FA5}">
                      <a16:colId xmlns:a16="http://schemas.microsoft.com/office/drawing/2014/main" val="3146982121"/>
                    </a:ext>
                  </a:extLst>
                </a:gridCol>
                <a:gridCol w="2601224">
                  <a:extLst>
                    <a:ext uri="{9D8B030D-6E8A-4147-A177-3AD203B41FA5}">
                      <a16:colId xmlns:a16="http://schemas.microsoft.com/office/drawing/2014/main" val="3840103741"/>
                    </a:ext>
                  </a:extLst>
                </a:gridCol>
              </a:tblGrid>
              <a:tr h="13071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p>
                      <a:pPr algn="l">
                        <a:buNone/>
                      </a:pPr>
                      <a:endParaRPr lang="en-IN"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latin typeface="Times New Roman" panose="02020603050405020304" pitchFamily="18" charset="0"/>
                          <a:ea typeface="+mn-ea"/>
                          <a:cs typeface="Times New Roman" panose="02020603050405020304" pitchFamily="18" charset="0"/>
                        </a:rPr>
                        <a:t>Research Paper / Author</a:t>
                      </a:r>
                    </a:p>
                  </a:txBody>
                  <a:tcPr anchor="ctr"/>
                </a:tc>
                <a:tc>
                  <a:txBody>
                    <a:bodyPr/>
                    <a:lstStyle/>
                    <a:p>
                      <a:pPr algn="ctr"/>
                      <a:r>
                        <a:rPr lang="en-IN" dirty="0">
                          <a:latin typeface="Times New Roman" panose="02020603050405020304" pitchFamily="18" charset="0"/>
                          <a:cs typeface="Times New Roman" panose="02020603050405020304" pitchFamily="18" charset="0"/>
                        </a:rPr>
                        <a:t>Methodology Used</a:t>
                      </a:r>
                    </a:p>
                  </a:txBody>
                  <a:tcPr anchor="ctr"/>
                </a:tc>
                <a:tc>
                  <a:txBody>
                    <a:bodyPr/>
                    <a:lstStyle/>
                    <a:p>
                      <a:pPr algn="ctr"/>
                      <a:r>
                        <a:rPr lang="en-IN" dirty="0">
                          <a:latin typeface="Times New Roman" panose="02020603050405020304" pitchFamily="18" charset="0"/>
                          <a:cs typeface="Times New Roman" panose="02020603050405020304" pitchFamily="18" charset="0"/>
                        </a:rPr>
                        <a:t>Demerits</a:t>
                      </a:r>
                    </a:p>
                  </a:txBody>
                  <a:tcPr anchor="ctr"/>
                </a:tc>
                <a:extLst>
                  <a:ext uri="{0D108BD9-81ED-4DB2-BD59-A6C34878D82A}">
                    <a16:rowId xmlns:a16="http://schemas.microsoft.com/office/drawing/2014/main" val="2845174491"/>
                  </a:ext>
                </a:extLst>
              </a:tr>
              <a:tr h="1307198">
                <a:tc>
                  <a:txBody>
                    <a:bodyPr/>
                    <a:lstStyle/>
                    <a:p>
                      <a:pPr algn="ctr"/>
                      <a:r>
                        <a:rPr lang="en-IN" dirty="0">
                          <a:latin typeface="Times New Roman" panose="02020603050405020304" pitchFamily="18" charset="0"/>
                          <a:cs typeface="Times New Roman" panose="02020603050405020304" pitchFamily="18" charset="0"/>
                        </a:rPr>
                        <a:t>1</a:t>
                      </a:r>
                    </a:p>
                  </a:txBody>
                  <a:tcPr anchor="ctr"/>
                </a:tc>
                <a:tc>
                  <a:txBody>
                    <a:bodyPr/>
                    <a:lstStyle/>
                    <a:p>
                      <a:pPr algn="just"/>
                      <a:r>
                        <a:rPr lang="en-US" dirty="0">
                          <a:latin typeface="Times New Roman" panose="02020603050405020304" pitchFamily="18" charset="0"/>
                          <a:cs typeface="Times New Roman" panose="02020603050405020304" pitchFamily="18" charset="0"/>
                        </a:rPr>
                        <a:t>G. Mandala et al. – </a:t>
                      </a:r>
                      <a:r>
                        <a:rPr lang="en-US" i="1" dirty="0">
                          <a:latin typeface="Times New Roman" panose="02020603050405020304" pitchFamily="18" charset="0"/>
                          <a:cs typeface="Times New Roman" panose="02020603050405020304" pitchFamily="18" charset="0"/>
                        </a:rPr>
                        <a:t>AI and ML in Healthcare: Redefining Diagnostics, Treatment, and Personalized Medicine</a:t>
                      </a:r>
                      <a:endParaRPr lang="en-IN" dirty="0">
                        <a:latin typeface="Times New Roman" panose="02020603050405020304" pitchFamily="18" charset="0"/>
                        <a:cs typeface="Times New Roman" panose="02020603050405020304" pitchFamily="18" charset="0"/>
                      </a:endParaRPr>
                    </a:p>
                  </a:txBody>
                  <a:tcPr anchor="ctr"/>
                </a:tc>
                <a:tc>
                  <a:txBody>
                    <a:bodyPr/>
                    <a:lstStyle/>
                    <a:p>
                      <a:pPr algn="just"/>
                      <a:r>
                        <a:rPr lang="en-US" dirty="0">
                          <a:latin typeface="Times New Roman" panose="02020603050405020304" pitchFamily="18" charset="0"/>
                          <a:cs typeface="Times New Roman" panose="02020603050405020304" pitchFamily="18" charset="0"/>
                        </a:rPr>
                        <a:t>Used AI and Machine Learning models for disease diagnosis and personalized healthcare prediction</a:t>
                      </a:r>
                      <a:endParaRPr lang="en-IN" dirty="0">
                        <a:latin typeface="Times New Roman" panose="02020603050405020304" pitchFamily="18" charset="0"/>
                        <a:cs typeface="Times New Roman" panose="02020603050405020304" pitchFamily="18" charset="0"/>
                      </a:endParaRPr>
                    </a:p>
                  </a:txBody>
                  <a:tcPr anchor="ctr"/>
                </a:tc>
                <a:tc>
                  <a:txBody>
                    <a:bodyPr/>
                    <a:lstStyle/>
                    <a:p>
                      <a:pPr algn="l"/>
                      <a:r>
                        <a:rPr lang="en-US" dirty="0">
                          <a:latin typeface="Times New Roman" panose="02020603050405020304" pitchFamily="18" charset="0"/>
                          <a:cs typeface="Times New Roman" panose="02020603050405020304" pitchFamily="18" charset="0"/>
                        </a:rPr>
                        <a:t>Limited explainability and mostly theoretical analysis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73090259"/>
                  </a:ext>
                </a:extLst>
              </a:tr>
              <a:tr h="1307198">
                <a:tc>
                  <a:txBody>
                    <a:bodyPr/>
                    <a:lstStyle/>
                    <a:p>
                      <a:pPr algn="ctr"/>
                      <a:r>
                        <a:rPr lang="en-IN" dirty="0">
                          <a:latin typeface="Times New Roman" panose="02020603050405020304" pitchFamily="18" charset="0"/>
                          <a:cs typeface="Times New Roman" panose="02020603050405020304" pitchFamily="18" charset="0"/>
                        </a:rPr>
                        <a:t>2</a:t>
                      </a:r>
                    </a:p>
                  </a:txBody>
                  <a:tcPr anchor="ctr"/>
                </a:tc>
                <a:tc>
                  <a:txBody>
                    <a:bodyPr/>
                    <a:lstStyle/>
                    <a:p>
                      <a:pPr algn="just"/>
                      <a:r>
                        <a:rPr lang="en-US" dirty="0">
                          <a:latin typeface="Times New Roman" panose="02020603050405020304" pitchFamily="18" charset="0"/>
                          <a:cs typeface="Times New Roman" panose="02020603050405020304" pitchFamily="18" charset="0"/>
                        </a:rPr>
                        <a:t>E. C. </a:t>
                      </a:r>
                      <a:r>
                        <a:rPr lang="en-US" dirty="0" err="1">
                          <a:latin typeface="Times New Roman" panose="02020603050405020304" pitchFamily="18" charset="0"/>
                          <a:cs typeface="Times New Roman" panose="02020603050405020304" pitchFamily="18" charset="0"/>
                        </a:rPr>
                        <a:t>Chianumba</a:t>
                      </a:r>
                      <a:r>
                        <a:rPr lang="en-US" dirty="0">
                          <a:latin typeface="Times New Roman" panose="02020603050405020304" pitchFamily="18" charset="0"/>
                          <a:cs typeface="Times New Roman" panose="02020603050405020304" pitchFamily="18" charset="0"/>
                        </a:rPr>
                        <a:t> et al. – </a:t>
                      </a:r>
                      <a:r>
                        <a:rPr lang="en-US" i="1" dirty="0">
                          <a:latin typeface="Times New Roman" panose="02020603050405020304" pitchFamily="18" charset="0"/>
                          <a:cs typeface="Times New Roman" panose="02020603050405020304" pitchFamily="18" charset="0"/>
                        </a:rPr>
                        <a:t>Exploring the Role of AI and ML in Improving Healthcare Diagnostics and Personalized Medicine</a:t>
                      </a:r>
                      <a:endParaRPr lang="en-IN" dirty="0">
                        <a:latin typeface="Times New Roman" panose="02020603050405020304" pitchFamily="18" charset="0"/>
                        <a:cs typeface="Times New Roman" panose="02020603050405020304" pitchFamily="18" charset="0"/>
                      </a:endParaRPr>
                    </a:p>
                  </a:txBody>
                  <a:tcPr anchor="ctr"/>
                </a:tc>
                <a:tc>
                  <a:txBody>
                    <a:bodyPr/>
                    <a:lstStyle/>
                    <a:p>
                      <a:pPr algn="just"/>
                      <a:r>
                        <a:rPr lang="en-US" dirty="0">
                          <a:latin typeface="Times New Roman" panose="02020603050405020304" pitchFamily="18" charset="0"/>
                          <a:cs typeface="Times New Roman" panose="02020603050405020304" pitchFamily="18" charset="0"/>
                        </a:rPr>
                        <a:t>Applied Machine Learning techniques for healthcare diagnostics and personalized treatment recommendations</a:t>
                      </a:r>
                      <a:endParaRPr lang="en-IN" dirty="0">
                        <a:latin typeface="Times New Roman" panose="02020603050405020304" pitchFamily="18" charset="0"/>
                        <a:cs typeface="Times New Roman" panose="02020603050405020304" pitchFamily="18" charset="0"/>
                      </a:endParaRPr>
                    </a:p>
                  </a:txBody>
                  <a:tcPr anchor="ctr"/>
                </a:tc>
                <a:tc>
                  <a:txBody>
                    <a:bodyPr/>
                    <a:lstStyle/>
                    <a:p>
                      <a:pPr algn="just"/>
                      <a:r>
                        <a:rPr lang="en-US" dirty="0">
                          <a:latin typeface="Times New Roman" panose="02020603050405020304" pitchFamily="18" charset="0"/>
                          <a:cs typeface="Times New Roman" panose="02020603050405020304" pitchFamily="18" charset="0"/>
                        </a:rPr>
                        <a:t>Focused mainly on diagnosis, less emphasis on explainability</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37717299"/>
                  </a:ext>
                </a:extLst>
              </a:tr>
              <a:tr h="1307198">
                <a:tc>
                  <a:txBody>
                    <a:bodyPr/>
                    <a:lstStyle/>
                    <a:p>
                      <a:pPr algn="ctr"/>
                      <a:r>
                        <a:rPr lang="en-IN" dirty="0">
                          <a:latin typeface="Times New Roman" panose="02020603050405020304" pitchFamily="18" charset="0"/>
                          <a:cs typeface="Times New Roman" panose="02020603050405020304" pitchFamily="18" charset="0"/>
                        </a:rPr>
                        <a:t>3</a:t>
                      </a:r>
                    </a:p>
                  </a:txBody>
                  <a:tcPr anchor="ctr"/>
                </a:tc>
                <a:tc>
                  <a:txBody>
                    <a:bodyPr/>
                    <a:lstStyle/>
                    <a:p>
                      <a:pPr algn="l">
                        <a:buNone/>
                      </a:pPr>
                      <a:r>
                        <a:rPr lang="en-US" dirty="0">
                          <a:latin typeface="Times New Roman" panose="02020603050405020304" pitchFamily="18" charset="0"/>
                          <a:cs typeface="Times New Roman" panose="02020603050405020304" pitchFamily="18" charset="0"/>
                        </a:rPr>
                        <a:t>E. U. Alum and O. P.-C. Ugwu – </a:t>
                      </a:r>
                      <a:r>
                        <a:rPr lang="en-US" i="1" dirty="0">
                          <a:latin typeface="Times New Roman" panose="02020603050405020304" pitchFamily="18" charset="0"/>
                          <a:cs typeface="Times New Roman" panose="02020603050405020304" pitchFamily="18" charset="0"/>
                        </a:rPr>
                        <a:t>Artificial Intelligence in Personalized Medicine: Transforming Diagnosis and Treatment</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Used AI-driven personalized medicine systems for treatment optimization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Lack of multi-disease prediction framework</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8089560"/>
                  </a:ext>
                </a:extLst>
              </a:tr>
            </a:tbl>
          </a:graphicData>
        </a:graphic>
      </p:graphicFrame>
      <p:sp>
        <p:nvSpPr>
          <p:cNvPr id="8" name="Slide Number Placeholder 7">
            <a:extLst>
              <a:ext uri="{FF2B5EF4-FFF2-40B4-BE49-F238E27FC236}">
                <a16:creationId xmlns:a16="http://schemas.microsoft.com/office/drawing/2014/main" id="{F2DDE67C-3701-C06E-98BD-D9BDFCF4091A}"/>
              </a:ext>
            </a:extLst>
          </p:cNvPr>
          <p:cNvSpPr>
            <a:spLocks noGrp="1"/>
          </p:cNvSpPr>
          <p:nvPr>
            <p:ph type="sldNum" sz="quarter" idx="12"/>
          </p:nvPr>
        </p:nvSpPr>
        <p:spPr/>
        <p:txBody>
          <a:bodyPr/>
          <a:lstStyle/>
          <a:p>
            <a:fld id="{DE67F00B-5383-4745-B5A5-E8CB0C832AB5}" type="slidenum">
              <a:rPr lang="en-IN" smtClean="0"/>
              <a:t>8</a:t>
            </a:fld>
            <a:endParaRPr lang="en-IN"/>
          </a:p>
        </p:txBody>
      </p:sp>
    </p:spTree>
    <p:extLst>
      <p:ext uri="{BB962C8B-B14F-4D97-AF65-F5344CB8AC3E}">
        <p14:creationId xmlns:p14="http://schemas.microsoft.com/office/powerpoint/2010/main" val="578331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6EA8-3FE1-6FDC-A58D-0DDA54818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881E2-2853-F89E-D813-47BD4E0145EC}"/>
              </a:ext>
            </a:extLst>
          </p:cNvPr>
          <p:cNvSpPr>
            <a:spLocks noGrp="1"/>
          </p:cNvSpPr>
          <p:nvPr>
            <p:ph type="title"/>
          </p:nvPr>
        </p:nvSpPr>
        <p:spPr>
          <a:xfrm>
            <a:off x="916556" y="359375"/>
            <a:ext cx="10358887" cy="992098"/>
          </a:xfrm>
        </p:spPr>
        <p:txBody>
          <a:bodyPr/>
          <a:lstStyle/>
          <a:p>
            <a:pPr algn="ctr"/>
            <a:r>
              <a:rPr lang="en-US" b="1"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996417-814A-4D22-A667-CB075FDEBD69}"/>
              </a:ext>
            </a:extLst>
          </p:cNvPr>
          <p:cNvSpPr>
            <a:spLocks noGrp="1"/>
          </p:cNvSpPr>
          <p:nvPr>
            <p:ph idx="1"/>
          </p:nvPr>
        </p:nvSpPr>
        <p:spPr>
          <a:xfrm>
            <a:off x="838200" y="1515882"/>
            <a:ext cx="10515600" cy="4661081"/>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Adaptive Explainable AI Framework </a:t>
            </a:r>
          </a:p>
          <a:p>
            <a:r>
              <a:rPr lang="en-IN" dirty="0">
                <a:latin typeface="Times New Roman" panose="02020603050405020304" pitchFamily="18" charset="0"/>
                <a:cs typeface="Times New Roman" panose="02020603050405020304" pitchFamily="18" charset="0"/>
              </a:rPr>
              <a:t>Multi-disease prediction using ensemble learning </a:t>
            </a:r>
          </a:p>
          <a:p>
            <a:r>
              <a:rPr lang="en-IN" b="1" dirty="0">
                <a:latin typeface="Times New Roman" panose="02020603050405020304" pitchFamily="18" charset="0"/>
                <a:cs typeface="Times New Roman" panose="02020603050405020304" pitchFamily="18" charset="0"/>
              </a:rPr>
              <a:t>Predicts</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Diabetes </a:t>
            </a:r>
          </a:p>
          <a:p>
            <a:pPr lvl="1"/>
            <a:r>
              <a:rPr lang="en-IN" dirty="0">
                <a:latin typeface="Times New Roman" panose="02020603050405020304" pitchFamily="18" charset="0"/>
                <a:cs typeface="Times New Roman" panose="02020603050405020304" pitchFamily="18" charset="0"/>
              </a:rPr>
              <a:t>Heart Disease </a:t>
            </a:r>
          </a:p>
          <a:p>
            <a:pPr lvl="1"/>
            <a:r>
              <a:rPr lang="en-IN" dirty="0">
                <a:latin typeface="Times New Roman" panose="02020603050405020304" pitchFamily="18" charset="0"/>
                <a:cs typeface="Times New Roman" panose="02020603050405020304" pitchFamily="18" charset="0"/>
              </a:rPr>
              <a:t>Breast Cancer </a:t>
            </a:r>
          </a:p>
          <a:p>
            <a:r>
              <a:rPr lang="en-IN" dirty="0">
                <a:latin typeface="Times New Roman" panose="02020603050405020304" pitchFamily="18" charset="0"/>
                <a:cs typeface="Times New Roman" panose="02020603050405020304" pitchFamily="18" charset="0"/>
              </a:rPr>
              <a:t>Uses SHAP and LIME for explainability </a:t>
            </a:r>
          </a:p>
          <a:p>
            <a:r>
              <a:rPr lang="en-IN" b="1" dirty="0">
                <a:latin typeface="Times New Roman" panose="02020603050405020304" pitchFamily="18" charset="0"/>
                <a:cs typeface="Times New Roman" panose="02020603050405020304" pitchFamily="18" charset="0"/>
              </a:rPr>
              <a:t>Provides</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Risk score </a:t>
            </a:r>
          </a:p>
          <a:p>
            <a:pPr lvl="1"/>
            <a:r>
              <a:rPr lang="en-IN" dirty="0">
                <a:latin typeface="Times New Roman" panose="02020603050405020304" pitchFamily="18" charset="0"/>
                <a:cs typeface="Times New Roman" panose="02020603050405020304" pitchFamily="18" charset="0"/>
              </a:rPr>
              <a:t>Risk category </a:t>
            </a:r>
          </a:p>
          <a:p>
            <a:pPr lvl="1"/>
            <a:r>
              <a:rPr lang="en-IN" dirty="0">
                <a:latin typeface="Times New Roman" panose="02020603050405020304" pitchFamily="18" charset="0"/>
                <a:cs typeface="Times New Roman" panose="02020603050405020304" pitchFamily="18" charset="0"/>
              </a:rPr>
              <a:t>Clinical explanation </a:t>
            </a:r>
          </a:p>
          <a:p>
            <a:pPr lvl="1"/>
            <a:r>
              <a:rPr lang="en-IN" dirty="0">
                <a:latin typeface="Times New Roman" panose="02020603050405020304" pitchFamily="18" charset="0"/>
                <a:cs typeface="Times New Roman" panose="02020603050405020304" pitchFamily="18" charset="0"/>
              </a:rPr>
              <a:t>Personalized recommendations </a:t>
            </a:r>
          </a:p>
        </p:txBody>
      </p:sp>
      <p:pic>
        <p:nvPicPr>
          <p:cNvPr id="4" name="Picture 3" descr="MITS Deemed to be University (Declared under section 3 of UGC Act, 1956 by  Govt. of India-MoE)">
            <a:extLst>
              <a:ext uri="{FF2B5EF4-FFF2-40B4-BE49-F238E27FC236}">
                <a16:creationId xmlns:a16="http://schemas.microsoft.com/office/drawing/2014/main" id="{84A50AF6-8975-B98F-A08B-327D53C07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A1DC50E-7B65-6148-8917-73A5AD71E6CF}"/>
              </a:ext>
            </a:extLst>
          </p:cNvPr>
          <p:cNvSpPr>
            <a:spLocks noGrp="1"/>
          </p:cNvSpPr>
          <p:nvPr>
            <p:ph type="sldNum" sz="quarter" idx="12"/>
          </p:nvPr>
        </p:nvSpPr>
        <p:spPr/>
        <p:txBody>
          <a:bodyPr/>
          <a:lstStyle/>
          <a:p>
            <a:fld id="{DE67F00B-5383-4745-B5A5-E8CB0C832AB5}" type="slidenum">
              <a:rPr lang="en-IN" smtClean="0"/>
              <a:t>9</a:t>
            </a:fld>
            <a:endParaRPr lang="en-IN"/>
          </a:p>
        </p:txBody>
      </p:sp>
    </p:spTree>
    <p:extLst>
      <p:ext uri="{BB962C8B-B14F-4D97-AF65-F5344CB8AC3E}">
        <p14:creationId xmlns:p14="http://schemas.microsoft.com/office/powerpoint/2010/main" val="3301158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4B51-ADE1-280F-49AE-9F739DC15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84D68-EAC4-1AEB-20D8-A8BA85913730}"/>
              </a:ext>
            </a:extLst>
          </p:cNvPr>
          <p:cNvSpPr>
            <a:spLocks noGrp="1"/>
          </p:cNvSpPr>
          <p:nvPr>
            <p:ph type="title"/>
          </p:nvPr>
        </p:nvSpPr>
        <p:spPr>
          <a:xfrm>
            <a:off x="916556" y="359375"/>
            <a:ext cx="10358887" cy="992098"/>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12E912-C716-D1FA-C05E-AB04E4911DC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Collect datasets for Diabetes, Heart Disease, and Breast Cancer</a:t>
            </a:r>
          </a:p>
          <a:p>
            <a:r>
              <a:rPr lang="en-US" sz="2400" dirty="0">
                <a:latin typeface="Times New Roman" panose="02020603050405020304" pitchFamily="18" charset="0"/>
                <a:cs typeface="Times New Roman" panose="02020603050405020304" pitchFamily="18" charset="0"/>
              </a:rPr>
              <a:t>Preprocess data by handling missing values and normalization</a:t>
            </a:r>
          </a:p>
          <a:p>
            <a:r>
              <a:rPr lang="en-US" sz="2400" dirty="0">
                <a:latin typeface="Times New Roman" panose="02020603050405020304" pitchFamily="18" charset="0"/>
                <a:cs typeface="Times New Roman" panose="02020603050405020304" pitchFamily="18" charset="0"/>
              </a:rPr>
              <a:t>Perform feature engineering and feature selection</a:t>
            </a:r>
          </a:p>
          <a:p>
            <a:r>
              <a:rPr lang="en-US" sz="2400" dirty="0">
                <a:latin typeface="Times New Roman" panose="02020603050405020304" pitchFamily="18" charset="0"/>
                <a:cs typeface="Times New Roman" panose="02020603050405020304" pitchFamily="18" charset="0"/>
              </a:rPr>
              <a:t>Build models using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Logistic Regression</a:t>
            </a:r>
          </a:p>
          <a:p>
            <a:r>
              <a:rPr lang="en-US" sz="2400" dirty="0">
                <a:latin typeface="Times New Roman" panose="02020603050405020304" pitchFamily="18" charset="0"/>
                <a:cs typeface="Times New Roman" panose="02020603050405020304" pitchFamily="18" charset="0"/>
              </a:rPr>
              <a:t>Use Stacking Ensemble for better prediction accuracy</a:t>
            </a:r>
          </a:p>
          <a:p>
            <a:r>
              <a:rPr lang="en-US" sz="2400" dirty="0">
                <a:latin typeface="Times New Roman" panose="02020603050405020304" pitchFamily="18" charset="0"/>
                <a:cs typeface="Times New Roman" panose="02020603050405020304" pitchFamily="18" charset="0"/>
              </a:rPr>
              <a:t>Apply SHAP and LIME for Explainable AI</a:t>
            </a:r>
          </a:p>
          <a:p>
            <a:r>
              <a:rPr lang="en-US" sz="2400" dirty="0">
                <a:latin typeface="Times New Roman" panose="02020603050405020304" pitchFamily="18" charset="0"/>
                <a:cs typeface="Times New Roman" panose="02020603050405020304" pitchFamily="18" charset="0"/>
              </a:rPr>
              <a:t>Generate personalized healthcare recommendations</a:t>
            </a:r>
          </a:p>
        </p:txBody>
      </p:sp>
      <p:pic>
        <p:nvPicPr>
          <p:cNvPr id="4" name="Picture 3" descr="MITS Deemed to be University (Declared under section 3 of UGC Act, 1956 by  Govt. of India-MoE)">
            <a:extLst>
              <a:ext uri="{FF2B5EF4-FFF2-40B4-BE49-F238E27FC236}">
                <a16:creationId xmlns:a16="http://schemas.microsoft.com/office/drawing/2014/main" id="{4D067E30-B1B3-9F82-B271-5D1D1D334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A7B0406-3347-C70C-E9F0-45E42712B231}"/>
              </a:ext>
            </a:extLst>
          </p:cNvPr>
          <p:cNvSpPr>
            <a:spLocks noGrp="1"/>
          </p:cNvSpPr>
          <p:nvPr>
            <p:ph type="sldNum" sz="quarter" idx="12"/>
          </p:nvPr>
        </p:nvSpPr>
        <p:spPr/>
        <p:txBody>
          <a:bodyPr/>
          <a:lstStyle/>
          <a:p>
            <a:fld id="{DE67F00B-5383-4745-B5A5-E8CB0C832AB5}" type="slidenum">
              <a:rPr lang="en-IN" smtClean="0"/>
              <a:t>10</a:t>
            </a:fld>
            <a:endParaRPr lang="en-IN"/>
          </a:p>
        </p:txBody>
      </p:sp>
    </p:spTree>
    <p:extLst>
      <p:ext uri="{BB962C8B-B14F-4D97-AF65-F5344CB8AC3E}">
        <p14:creationId xmlns:p14="http://schemas.microsoft.com/office/powerpoint/2010/main" val="2518062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98354-3AC0-30FE-2F7E-B6FCE1B20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B84B7-27C1-B9D4-C2EE-A07A6C62A789}"/>
              </a:ext>
            </a:extLst>
          </p:cNvPr>
          <p:cNvSpPr>
            <a:spLocks noGrp="1"/>
          </p:cNvSpPr>
          <p:nvPr>
            <p:ph type="title"/>
          </p:nvPr>
        </p:nvSpPr>
        <p:spPr>
          <a:xfrm>
            <a:off x="916556" y="271986"/>
            <a:ext cx="10358887" cy="992098"/>
          </a:xfrm>
        </p:spPr>
        <p:txBody>
          <a:bodyPr/>
          <a:lstStyle/>
          <a:p>
            <a:pPr algn="ctr"/>
            <a:r>
              <a:rPr lang="en-IN" b="1" dirty="0">
                <a:latin typeface="Times New Roman" panose="02020603050405020304" pitchFamily="18" charset="0"/>
                <a:cs typeface="Times New Roman" panose="02020603050405020304" pitchFamily="18" charset="0"/>
              </a:rPr>
              <a:t>Overall Architecture Diagram</a:t>
            </a:r>
          </a:p>
        </p:txBody>
      </p:sp>
      <p:pic>
        <p:nvPicPr>
          <p:cNvPr id="4" name="Picture 3" descr="MITS Deemed to be University (Declared under section 3 of UGC Act, 1956 by  Govt. of India-MoE)">
            <a:extLst>
              <a:ext uri="{FF2B5EF4-FFF2-40B4-BE49-F238E27FC236}">
                <a16:creationId xmlns:a16="http://schemas.microsoft.com/office/drawing/2014/main" id="{BA81BF5C-C283-6E5E-ADE4-E29A530E5D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193D6D7-10BA-2368-2440-A1D730633E9F}"/>
              </a:ext>
            </a:extLst>
          </p:cNvPr>
          <p:cNvPicPr>
            <a:picLocks noChangeAspect="1"/>
          </p:cNvPicPr>
          <p:nvPr/>
        </p:nvPicPr>
        <p:blipFill>
          <a:blip r:embed="rId3"/>
          <a:stretch>
            <a:fillRect/>
          </a:stretch>
        </p:blipFill>
        <p:spPr>
          <a:xfrm>
            <a:off x="3617344" y="1107478"/>
            <a:ext cx="4807787" cy="5478536"/>
          </a:xfrm>
          <a:prstGeom prst="rect">
            <a:avLst/>
          </a:prstGeom>
        </p:spPr>
      </p:pic>
      <p:sp>
        <p:nvSpPr>
          <p:cNvPr id="3" name="Slide Number Placeholder 2">
            <a:extLst>
              <a:ext uri="{FF2B5EF4-FFF2-40B4-BE49-F238E27FC236}">
                <a16:creationId xmlns:a16="http://schemas.microsoft.com/office/drawing/2014/main" id="{05D82E21-A7FB-4FBA-03F9-5F31D3AD4E3A}"/>
              </a:ext>
            </a:extLst>
          </p:cNvPr>
          <p:cNvSpPr>
            <a:spLocks noGrp="1"/>
          </p:cNvSpPr>
          <p:nvPr>
            <p:ph type="sldNum" sz="quarter" idx="12"/>
          </p:nvPr>
        </p:nvSpPr>
        <p:spPr/>
        <p:txBody>
          <a:bodyPr/>
          <a:lstStyle/>
          <a:p>
            <a:fld id="{DE67F00B-5383-4745-B5A5-E8CB0C832AB5}" type="slidenum">
              <a:rPr lang="en-IN" smtClean="0"/>
              <a:t>11</a:t>
            </a:fld>
            <a:endParaRPr lang="en-IN"/>
          </a:p>
        </p:txBody>
      </p:sp>
    </p:spTree>
    <p:extLst>
      <p:ext uri="{BB962C8B-B14F-4D97-AF65-F5344CB8AC3E}">
        <p14:creationId xmlns:p14="http://schemas.microsoft.com/office/powerpoint/2010/main" val="11209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D749-9B39-CB59-7C22-80B92B71FF3D}"/>
              </a:ext>
            </a:extLst>
          </p:cNvPr>
          <p:cNvSpPr>
            <a:spLocks noGrp="1"/>
          </p:cNvSpPr>
          <p:nvPr>
            <p:ph type="title"/>
          </p:nvPr>
        </p:nvSpPr>
        <p:spPr>
          <a:xfrm>
            <a:off x="615351" y="336370"/>
            <a:ext cx="10220864" cy="928837"/>
          </a:xfrm>
        </p:spPr>
        <p:txBody>
          <a:bodyPr/>
          <a:lstStyle/>
          <a:p>
            <a:pPr algn="ctr"/>
            <a:r>
              <a:rPr lang="en-IN" b="1" dirty="0">
                <a:latin typeface="Times New Roman" panose="02020603050405020304" pitchFamily="18" charset="0"/>
                <a:cs typeface="Times New Roman" panose="02020603050405020304" pitchFamily="18" charset="0"/>
              </a:rPr>
              <a:t>Modules</a:t>
            </a:r>
          </a:p>
        </p:txBody>
      </p:sp>
      <p:pic>
        <p:nvPicPr>
          <p:cNvPr id="5" name="Picture 4" descr="MITS Deemed to be University (Declared under section 3 of UGC Act, 1956 by  Govt. of India-MoE)">
            <a:extLst>
              <a:ext uri="{FF2B5EF4-FFF2-40B4-BE49-F238E27FC236}">
                <a16:creationId xmlns:a16="http://schemas.microsoft.com/office/drawing/2014/main" id="{3469C13F-208F-B1F0-AFFB-4163BE213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C0C48F3-A9E3-34CB-4971-B17E26EF7185}"/>
              </a:ext>
            </a:extLst>
          </p:cNvPr>
          <p:cNvPicPr>
            <a:picLocks noChangeAspect="1"/>
          </p:cNvPicPr>
          <p:nvPr/>
        </p:nvPicPr>
        <p:blipFill>
          <a:blip r:embed="rId3">
            <a:extLst>
              <a:ext uri="{28A0092B-C50C-407E-A947-70E740481C1C}">
                <a14:useLocalDpi xmlns:a14="http://schemas.microsoft.com/office/drawing/2010/main" val="0"/>
              </a:ext>
            </a:extLst>
          </a:blip>
          <a:srcRect t="24430" b="11846"/>
          <a:stretch>
            <a:fillRect/>
          </a:stretch>
        </p:blipFill>
        <p:spPr>
          <a:xfrm>
            <a:off x="785543" y="2647072"/>
            <a:ext cx="10720262" cy="2229224"/>
          </a:xfrm>
          <a:prstGeom prst="rect">
            <a:avLst/>
          </a:prstGeom>
        </p:spPr>
      </p:pic>
      <p:sp>
        <p:nvSpPr>
          <p:cNvPr id="3" name="Slide Number Placeholder 2">
            <a:extLst>
              <a:ext uri="{FF2B5EF4-FFF2-40B4-BE49-F238E27FC236}">
                <a16:creationId xmlns:a16="http://schemas.microsoft.com/office/drawing/2014/main" id="{53F971D4-963B-7B99-66FC-4CD738C89992}"/>
              </a:ext>
            </a:extLst>
          </p:cNvPr>
          <p:cNvSpPr>
            <a:spLocks noGrp="1"/>
          </p:cNvSpPr>
          <p:nvPr>
            <p:ph type="sldNum" sz="quarter" idx="12"/>
          </p:nvPr>
        </p:nvSpPr>
        <p:spPr/>
        <p:txBody>
          <a:bodyPr/>
          <a:lstStyle/>
          <a:p>
            <a:fld id="{DE67F00B-5383-4745-B5A5-E8CB0C832AB5}" type="slidenum">
              <a:rPr lang="en-IN" smtClean="0"/>
              <a:t>12</a:t>
            </a:fld>
            <a:endParaRPr lang="en-IN"/>
          </a:p>
        </p:txBody>
      </p:sp>
    </p:spTree>
    <p:extLst>
      <p:ext uri="{BB962C8B-B14F-4D97-AF65-F5344CB8AC3E}">
        <p14:creationId xmlns:p14="http://schemas.microsoft.com/office/powerpoint/2010/main" val="2359276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DD326-2F9A-6166-BCC0-E8D29278F158}"/>
              </a:ext>
            </a:extLst>
          </p:cNvPr>
          <p:cNvSpPr>
            <a:spLocks noGrp="1"/>
          </p:cNvSpPr>
          <p:nvPr>
            <p:ph type="title"/>
          </p:nvPr>
        </p:nvSpPr>
        <p:spPr>
          <a:xfrm>
            <a:off x="1067547" y="227666"/>
            <a:ext cx="10056906" cy="979581"/>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94DA1A8E-2856-B797-1BDF-6DF144096C03}"/>
              </a:ext>
            </a:extLst>
          </p:cNvPr>
          <p:cNvPicPr>
            <a:picLocks noChangeAspect="1"/>
          </p:cNvPicPr>
          <p:nvPr/>
        </p:nvPicPr>
        <p:blipFill>
          <a:blip r:embed="rId2">
            <a:extLst>
              <a:ext uri="{28A0092B-C50C-407E-A947-70E740481C1C}">
                <a14:useLocalDpi xmlns:a14="http://schemas.microsoft.com/office/drawing/2010/main" val="0"/>
              </a:ext>
            </a:extLst>
          </a:blip>
          <a:srcRect t="10051"/>
          <a:stretch>
            <a:fillRect/>
          </a:stretch>
        </p:blipFill>
        <p:spPr>
          <a:xfrm>
            <a:off x="854635" y="1384173"/>
            <a:ext cx="10582321" cy="5136156"/>
          </a:xfrm>
          <a:prstGeom prst="rect">
            <a:avLst/>
          </a:prstGeom>
        </p:spPr>
      </p:pic>
      <p:pic>
        <p:nvPicPr>
          <p:cNvPr id="6" name="Picture 5" descr="MITS Deemed to be University (Declared under section 3 of UGC Act, 1956 by  Govt. of India-MoE)">
            <a:extLst>
              <a:ext uri="{FF2B5EF4-FFF2-40B4-BE49-F238E27FC236}">
                <a16:creationId xmlns:a16="http://schemas.microsoft.com/office/drawing/2014/main" id="{3A4008EB-B465-3C60-B5FD-D75C0324A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8D02D34-0598-5CA9-8365-519AD2541F78}"/>
              </a:ext>
            </a:extLst>
          </p:cNvPr>
          <p:cNvSpPr>
            <a:spLocks noGrp="1"/>
          </p:cNvSpPr>
          <p:nvPr>
            <p:ph type="sldNum" sz="quarter" idx="12"/>
          </p:nvPr>
        </p:nvSpPr>
        <p:spPr/>
        <p:txBody>
          <a:bodyPr/>
          <a:lstStyle/>
          <a:p>
            <a:fld id="{DE67F00B-5383-4745-B5A5-E8CB0C832AB5}" type="slidenum">
              <a:rPr lang="en-IN" smtClean="0"/>
              <a:t>13</a:t>
            </a:fld>
            <a:endParaRPr lang="en-IN"/>
          </a:p>
        </p:txBody>
      </p:sp>
    </p:spTree>
    <p:extLst>
      <p:ext uri="{BB962C8B-B14F-4D97-AF65-F5344CB8AC3E}">
        <p14:creationId xmlns:p14="http://schemas.microsoft.com/office/powerpoint/2010/main" val="3757049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1CFD-4F3B-DB70-13B4-103B41A82222}"/>
              </a:ext>
            </a:extLst>
          </p:cNvPr>
          <p:cNvSpPr>
            <a:spLocks noGrp="1"/>
          </p:cNvSpPr>
          <p:nvPr>
            <p:ph type="title"/>
          </p:nvPr>
        </p:nvSpPr>
        <p:spPr>
          <a:xfrm>
            <a:off x="992093" y="224118"/>
            <a:ext cx="10379635" cy="1099110"/>
          </a:xfrm>
        </p:spPr>
        <p:txBody>
          <a:bodyPr/>
          <a:lstStyle/>
          <a:p>
            <a:pPr algn="ctr"/>
            <a:r>
              <a:rPr lang="en-IN" b="1" dirty="0">
                <a:latin typeface="Times New Roman" panose="02020603050405020304" pitchFamily="18" charset="0"/>
                <a:cs typeface="Times New Roman" panose="02020603050405020304" pitchFamily="18" charset="0"/>
              </a:rPr>
              <a:t>Experimental Results</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B19AD29-CD26-8A45-7F49-BB744CF7531D}"/>
              </a:ext>
            </a:extLst>
          </p:cNvPr>
          <p:cNvGraphicFramePr>
            <a:graphicFrameLocks noGrp="1"/>
          </p:cNvGraphicFramePr>
          <p:nvPr>
            <p:ph idx="1"/>
            <p:extLst>
              <p:ext uri="{D42A27DB-BD31-4B8C-83A1-F6EECF244321}">
                <p14:modId xmlns:p14="http://schemas.microsoft.com/office/powerpoint/2010/main" val="3397771333"/>
              </p:ext>
            </p:extLst>
          </p:nvPr>
        </p:nvGraphicFramePr>
        <p:xfrm>
          <a:off x="463924" y="2134244"/>
          <a:ext cx="11264152" cy="1828800"/>
        </p:xfrm>
        <a:graphic>
          <a:graphicData uri="http://schemas.openxmlformats.org/drawingml/2006/table">
            <a:tbl>
              <a:tblPr>
                <a:tableStyleId>{1FECB4D8-DB02-4DC6-A0A2-4F2EBAE1DC90}</a:tableStyleId>
              </a:tblPr>
              <a:tblGrid>
                <a:gridCol w="2816038">
                  <a:extLst>
                    <a:ext uri="{9D8B030D-6E8A-4147-A177-3AD203B41FA5}">
                      <a16:colId xmlns:a16="http://schemas.microsoft.com/office/drawing/2014/main" val="3918416703"/>
                    </a:ext>
                  </a:extLst>
                </a:gridCol>
                <a:gridCol w="2816038">
                  <a:extLst>
                    <a:ext uri="{9D8B030D-6E8A-4147-A177-3AD203B41FA5}">
                      <a16:colId xmlns:a16="http://schemas.microsoft.com/office/drawing/2014/main" val="1644226971"/>
                    </a:ext>
                  </a:extLst>
                </a:gridCol>
                <a:gridCol w="2816038">
                  <a:extLst>
                    <a:ext uri="{9D8B030D-6E8A-4147-A177-3AD203B41FA5}">
                      <a16:colId xmlns:a16="http://schemas.microsoft.com/office/drawing/2014/main" val="1083712996"/>
                    </a:ext>
                  </a:extLst>
                </a:gridCol>
                <a:gridCol w="2816038">
                  <a:extLst>
                    <a:ext uri="{9D8B030D-6E8A-4147-A177-3AD203B41FA5}">
                      <a16:colId xmlns:a16="http://schemas.microsoft.com/office/drawing/2014/main" val="3965706503"/>
                    </a:ext>
                  </a:extLst>
                </a:gridCol>
              </a:tblGrid>
              <a:tr h="0">
                <a:tc>
                  <a:txBody>
                    <a:bodyPr/>
                    <a:lstStyle/>
                    <a:p>
                      <a:pPr algn="ctr">
                        <a:buNone/>
                      </a:pPr>
                      <a:r>
                        <a:rPr lang="en-IN" sz="2400" b="1" dirty="0">
                          <a:latin typeface="Times New Roman" panose="02020603050405020304" pitchFamily="18" charset="0"/>
                          <a:cs typeface="Times New Roman" panose="02020603050405020304" pitchFamily="18" charset="0"/>
                        </a:rPr>
                        <a:t>Disease</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Logistic Regression</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Random Forest</a:t>
                      </a:r>
                    </a:p>
                  </a:txBody>
                  <a:tcPr anchor="ctr"/>
                </a:tc>
                <a:tc>
                  <a:txBody>
                    <a:bodyPr/>
                    <a:lstStyle/>
                    <a:p>
                      <a:pPr algn="ctr">
                        <a:buNone/>
                      </a:pPr>
                      <a:r>
                        <a:rPr lang="en-IN" sz="2400" b="1" dirty="0" err="1">
                          <a:latin typeface="Times New Roman" panose="02020603050405020304" pitchFamily="18" charset="0"/>
                          <a:cs typeface="Times New Roman" panose="02020603050405020304" pitchFamily="18" charset="0"/>
                        </a:rPr>
                        <a:t>XGBoost</a:t>
                      </a:r>
                      <a:endParaRPr lang="en-IN"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38845944"/>
                  </a:ext>
                </a:extLst>
              </a:tr>
              <a:tr h="0">
                <a:tc>
                  <a:txBody>
                    <a:bodyPr/>
                    <a:lstStyle/>
                    <a:p>
                      <a:pPr algn="ctr">
                        <a:buNone/>
                      </a:pPr>
                      <a:r>
                        <a:rPr lang="en-IN" sz="2400" dirty="0">
                          <a:latin typeface="Times New Roman" panose="02020603050405020304" pitchFamily="18" charset="0"/>
                          <a:cs typeface="Times New Roman" panose="02020603050405020304" pitchFamily="18" charset="0"/>
                        </a:rPr>
                        <a:t>Diabetes</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0.8226</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0.8370</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0.8257</a:t>
                      </a:r>
                    </a:p>
                  </a:txBody>
                  <a:tcPr anchor="ctr"/>
                </a:tc>
                <a:extLst>
                  <a:ext uri="{0D108BD9-81ED-4DB2-BD59-A6C34878D82A}">
                    <a16:rowId xmlns:a16="http://schemas.microsoft.com/office/drawing/2014/main" val="1586379903"/>
                  </a:ext>
                </a:extLst>
              </a:tr>
              <a:tr h="0">
                <a:tc>
                  <a:txBody>
                    <a:bodyPr/>
                    <a:lstStyle/>
                    <a:p>
                      <a:pPr algn="ctr">
                        <a:buNone/>
                      </a:pPr>
                      <a:r>
                        <a:rPr lang="en-IN" sz="2400">
                          <a:latin typeface="Times New Roman" panose="02020603050405020304" pitchFamily="18" charset="0"/>
                          <a:cs typeface="Times New Roman" panose="02020603050405020304" pitchFamily="18" charset="0"/>
                        </a:rPr>
                        <a:t>Heart Disease</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0.9213</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0.9316</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0.9203</a:t>
                      </a:r>
                    </a:p>
                  </a:txBody>
                  <a:tcPr anchor="ctr"/>
                </a:tc>
                <a:extLst>
                  <a:ext uri="{0D108BD9-81ED-4DB2-BD59-A6C34878D82A}">
                    <a16:rowId xmlns:a16="http://schemas.microsoft.com/office/drawing/2014/main" val="3377403752"/>
                  </a:ext>
                </a:extLst>
              </a:tr>
              <a:tr h="0">
                <a:tc>
                  <a:txBody>
                    <a:bodyPr/>
                    <a:lstStyle/>
                    <a:p>
                      <a:pPr algn="ctr">
                        <a:buNone/>
                      </a:pPr>
                      <a:r>
                        <a:rPr lang="en-IN" sz="2400" dirty="0">
                          <a:latin typeface="Times New Roman" panose="02020603050405020304" pitchFamily="18" charset="0"/>
                          <a:cs typeface="Times New Roman" panose="02020603050405020304" pitchFamily="18" charset="0"/>
                        </a:rPr>
                        <a:t>Cancer</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0.9928</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0.9972</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0.9951</a:t>
                      </a:r>
                    </a:p>
                  </a:txBody>
                  <a:tcPr anchor="ctr"/>
                </a:tc>
                <a:extLst>
                  <a:ext uri="{0D108BD9-81ED-4DB2-BD59-A6C34878D82A}">
                    <a16:rowId xmlns:a16="http://schemas.microsoft.com/office/drawing/2014/main" val="1120835471"/>
                  </a:ext>
                </a:extLst>
              </a:tr>
            </a:tbl>
          </a:graphicData>
        </a:graphic>
      </p:graphicFrame>
      <p:pic>
        <p:nvPicPr>
          <p:cNvPr id="5" name="Picture 4">
            <a:extLst>
              <a:ext uri="{FF2B5EF4-FFF2-40B4-BE49-F238E27FC236}">
                <a16:creationId xmlns:a16="http://schemas.microsoft.com/office/drawing/2014/main" id="{2E3D9E55-8920-7B01-3719-C2C3E208691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1902" y="4231042"/>
            <a:ext cx="5503771" cy="2402840"/>
          </a:xfrm>
          <a:prstGeom prst="rect">
            <a:avLst/>
          </a:prstGeom>
          <a:noFill/>
          <a:ln>
            <a:noFill/>
          </a:ln>
        </p:spPr>
      </p:pic>
      <p:sp>
        <p:nvSpPr>
          <p:cNvPr id="6" name="TextBox 5">
            <a:extLst>
              <a:ext uri="{FF2B5EF4-FFF2-40B4-BE49-F238E27FC236}">
                <a16:creationId xmlns:a16="http://schemas.microsoft.com/office/drawing/2014/main" id="{83F366B0-8F8F-9E4D-0AED-6AABE86398D7}"/>
              </a:ext>
            </a:extLst>
          </p:cNvPr>
          <p:cNvSpPr txBox="1"/>
          <p:nvPr/>
        </p:nvSpPr>
        <p:spPr>
          <a:xfrm>
            <a:off x="3343835" y="1343026"/>
            <a:ext cx="5504330" cy="584775"/>
          </a:xfrm>
          <a:prstGeom prst="rect">
            <a:avLst/>
          </a:prstGeom>
          <a:noFill/>
        </p:spPr>
        <p:txBody>
          <a:bodyPr wrap="square" rtlCol="0">
            <a:sp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Individual Models </a:t>
            </a:r>
            <a:endParaRPr lang="en-IN" sz="3200" b="1" dirty="0">
              <a:solidFill>
                <a:schemeClr val="accent1"/>
              </a:solidFill>
              <a:latin typeface="Times New Roman" panose="02020603050405020304" pitchFamily="18" charset="0"/>
              <a:cs typeface="Times New Roman" panose="02020603050405020304" pitchFamily="18" charset="0"/>
            </a:endParaRPr>
          </a:p>
        </p:txBody>
      </p:sp>
      <p:pic>
        <p:nvPicPr>
          <p:cNvPr id="7" name="Picture 6" descr="MITS Deemed to be University (Declared under section 3 of UGC Act, 1956 by  Govt. of India-MoE)">
            <a:extLst>
              <a:ext uri="{FF2B5EF4-FFF2-40B4-BE49-F238E27FC236}">
                <a16:creationId xmlns:a16="http://schemas.microsoft.com/office/drawing/2014/main" id="{EA6115E5-8E72-C2C6-EC61-B4BF8C30E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1F7A4E0-7ECE-0AE2-BDFA-EDE9CF213F36}"/>
              </a:ext>
            </a:extLst>
          </p:cNvPr>
          <p:cNvSpPr>
            <a:spLocks noGrp="1"/>
          </p:cNvSpPr>
          <p:nvPr>
            <p:ph type="sldNum" sz="quarter" idx="12"/>
          </p:nvPr>
        </p:nvSpPr>
        <p:spPr/>
        <p:txBody>
          <a:bodyPr/>
          <a:lstStyle/>
          <a:p>
            <a:fld id="{DE67F00B-5383-4745-B5A5-E8CB0C832AB5}" type="slidenum">
              <a:rPr lang="en-IN" smtClean="0"/>
              <a:t>14</a:t>
            </a:fld>
            <a:endParaRPr lang="en-IN"/>
          </a:p>
        </p:txBody>
      </p:sp>
    </p:spTree>
    <p:extLst>
      <p:ext uri="{BB962C8B-B14F-4D97-AF65-F5344CB8AC3E}">
        <p14:creationId xmlns:p14="http://schemas.microsoft.com/office/powerpoint/2010/main" val="508153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1B9BE-DF4D-E6EF-7AF2-48745B655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D3B7C-58C6-699C-CDF6-6761AAD17829}"/>
              </a:ext>
            </a:extLst>
          </p:cNvPr>
          <p:cNvSpPr>
            <a:spLocks noGrp="1"/>
          </p:cNvSpPr>
          <p:nvPr>
            <p:ph type="title"/>
          </p:nvPr>
        </p:nvSpPr>
        <p:spPr>
          <a:xfrm>
            <a:off x="992093" y="224118"/>
            <a:ext cx="10379635" cy="1099110"/>
          </a:xfrm>
        </p:spPr>
        <p:txBody>
          <a:bodyPr/>
          <a:lstStyle/>
          <a:p>
            <a:pPr algn="ctr"/>
            <a:r>
              <a:rPr lang="en-IN" b="1" dirty="0">
                <a:latin typeface="Times New Roman" panose="02020603050405020304" pitchFamily="18" charset="0"/>
                <a:cs typeface="Times New Roman" panose="02020603050405020304" pitchFamily="18" charset="0"/>
              </a:rPr>
              <a:t>Experimental Results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088DEA9-2E66-D43C-6C89-724AA10636D2}"/>
              </a:ext>
            </a:extLst>
          </p:cNvPr>
          <p:cNvSpPr txBox="1"/>
          <p:nvPr/>
        </p:nvSpPr>
        <p:spPr>
          <a:xfrm>
            <a:off x="1261036" y="1343026"/>
            <a:ext cx="9789458" cy="830997"/>
          </a:xfrm>
          <a:prstGeom prst="rect">
            <a:avLst/>
          </a:prstGeom>
          <a:noFill/>
        </p:spPr>
        <p:txBody>
          <a:bodyPr wrap="square" rtlCol="0">
            <a:spAutoFit/>
          </a:bodyPr>
          <a:lstStyle/>
          <a:p>
            <a:pPr lvl="0" algn="ctr"/>
            <a:r>
              <a:rPr lang="en-US" sz="2400" b="1" cap="small" dirty="0">
                <a:solidFill>
                  <a:schemeClr val="accent1"/>
                </a:solidFill>
                <a:latin typeface="Times New Roman" panose="02020603050405020304" pitchFamily="18" charset="0"/>
                <a:cs typeface="Times New Roman" panose="02020603050405020304" pitchFamily="18" charset="0"/>
              </a:rPr>
              <a:t>Comparison Of Best Individual Model Vs. Ensemble Model Performance Across Diseases</a:t>
            </a:r>
            <a:endParaRPr lang="en-IN" sz="2400" b="1" cap="small" dirty="0">
              <a:solidFill>
                <a:schemeClr val="accent1"/>
              </a:solidFill>
              <a:latin typeface="Times New Roman" panose="02020603050405020304" pitchFamily="18" charset="0"/>
              <a:cs typeface="Times New Roman" panose="02020603050405020304" pitchFamily="18" charset="0"/>
            </a:endParaRPr>
          </a:p>
        </p:txBody>
      </p:sp>
      <p:pic>
        <p:nvPicPr>
          <p:cNvPr id="7" name="Picture 6" descr="MITS Deemed to be University (Declared under section 3 of UGC Act, 1956 by  Govt. of India-MoE)">
            <a:extLst>
              <a:ext uri="{FF2B5EF4-FFF2-40B4-BE49-F238E27FC236}">
                <a16:creationId xmlns:a16="http://schemas.microsoft.com/office/drawing/2014/main" id="{6A29CACA-894A-4B04-861F-E6C0711B9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89B453DC-32BB-A9EB-3C42-66E2742D3C59}"/>
              </a:ext>
            </a:extLst>
          </p:cNvPr>
          <p:cNvGraphicFramePr>
            <a:graphicFrameLocks noGrp="1"/>
          </p:cNvGraphicFramePr>
          <p:nvPr>
            <p:extLst>
              <p:ext uri="{D42A27DB-BD31-4B8C-83A1-F6EECF244321}">
                <p14:modId xmlns:p14="http://schemas.microsoft.com/office/powerpoint/2010/main" val="2521847011"/>
              </p:ext>
            </p:extLst>
          </p:nvPr>
        </p:nvGraphicFramePr>
        <p:xfrm>
          <a:off x="361578" y="2149006"/>
          <a:ext cx="11468844" cy="1860831"/>
        </p:xfrm>
        <a:graphic>
          <a:graphicData uri="http://schemas.openxmlformats.org/drawingml/2006/table">
            <a:tbl>
              <a:tblPr>
                <a:tableStyleId>{10A1B5D5-9B99-4C35-A422-299274C87663}</a:tableStyleId>
              </a:tblPr>
              <a:tblGrid>
                <a:gridCol w="2867211">
                  <a:extLst>
                    <a:ext uri="{9D8B030D-6E8A-4147-A177-3AD203B41FA5}">
                      <a16:colId xmlns:a16="http://schemas.microsoft.com/office/drawing/2014/main" val="1565031791"/>
                    </a:ext>
                  </a:extLst>
                </a:gridCol>
                <a:gridCol w="2867211">
                  <a:extLst>
                    <a:ext uri="{9D8B030D-6E8A-4147-A177-3AD203B41FA5}">
                      <a16:colId xmlns:a16="http://schemas.microsoft.com/office/drawing/2014/main" val="3296199878"/>
                    </a:ext>
                  </a:extLst>
                </a:gridCol>
                <a:gridCol w="2867211">
                  <a:extLst>
                    <a:ext uri="{9D8B030D-6E8A-4147-A177-3AD203B41FA5}">
                      <a16:colId xmlns:a16="http://schemas.microsoft.com/office/drawing/2014/main" val="1245803344"/>
                    </a:ext>
                  </a:extLst>
                </a:gridCol>
                <a:gridCol w="2867211">
                  <a:extLst>
                    <a:ext uri="{9D8B030D-6E8A-4147-A177-3AD203B41FA5}">
                      <a16:colId xmlns:a16="http://schemas.microsoft.com/office/drawing/2014/main" val="3487554138"/>
                    </a:ext>
                  </a:extLst>
                </a:gridCol>
              </a:tblGrid>
              <a:tr h="672111">
                <a:tc>
                  <a:txBody>
                    <a:bodyPr/>
                    <a:lstStyle/>
                    <a:p>
                      <a:pPr algn="ctr">
                        <a:buNone/>
                      </a:pPr>
                      <a:r>
                        <a:rPr lang="en-IN" sz="2000" b="1" dirty="0"/>
                        <a:t>Disease</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dirty="0"/>
                        <a:t>Best Individual AUC</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dirty="0"/>
                        <a:t>Ensemble AUC</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dirty="0"/>
                        <a:t>Improvement</a:t>
                      </a:r>
                      <a:endParaRPr lang="en-IN" sz="20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85343413"/>
                  </a:ext>
                </a:extLst>
              </a:tr>
              <a:tr h="373395">
                <a:tc>
                  <a:txBody>
                    <a:bodyPr/>
                    <a:lstStyle/>
                    <a:p>
                      <a:pPr algn="ctr">
                        <a:buNone/>
                      </a:pPr>
                      <a:r>
                        <a:rPr lang="en-IN" sz="2000" dirty="0"/>
                        <a:t>Diabetes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0.8370</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0.8207</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-1.95%</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53562248"/>
                  </a:ext>
                </a:extLst>
              </a:tr>
              <a:tr h="373395">
                <a:tc>
                  <a:txBody>
                    <a:bodyPr/>
                    <a:lstStyle/>
                    <a:p>
                      <a:pPr algn="ctr">
                        <a:buNone/>
                      </a:pPr>
                      <a:r>
                        <a:rPr lang="en-IN" sz="2000"/>
                        <a:t>Heart Disease</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0.9316</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0.9364</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+0.52%</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5333518"/>
                  </a:ext>
                </a:extLst>
              </a:tr>
              <a:tr h="373395">
                <a:tc>
                  <a:txBody>
                    <a:bodyPr/>
                    <a:lstStyle/>
                    <a:p>
                      <a:pPr algn="ctr">
                        <a:buNone/>
                      </a:pPr>
                      <a:r>
                        <a:rPr lang="en-IN" sz="2000"/>
                        <a:t>Breast Cancer</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0.9972</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0.9971</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-0.02%</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242837"/>
                  </a:ext>
                </a:extLst>
              </a:tr>
            </a:tbl>
          </a:graphicData>
        </a:graphic>
      </p:graphicFrame>
      <p:pic>
        <p:nvPicPr>
          <p:cNvPr id="12" name="Picture 11">
            <a:extLst>
              <a:ext uri="{FF2B5EF4-FFF2-40B4-BE49-F238E27FC236}">
                <a16:creationId xmlns:a16="http://schemas.microsoft.com/office/drawing/2014/main" id="{7E9DB15B-00FD-242C-D478-F5ABED53DE2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7843" y="4293085"/>
            <a:ext cx="5174337" cy="2245173"/>
          </a:xfrm>
          <a:prstGeom prst="rect">
            <a:avLst/>
          </a:prstGeom>
          <a:noFill/>
          <a:ln>
            <a:noFill/>
          </a:ln>
        </p:spPr>
      </p:pic>
      <p:sp>
        <p:nvSpPr>
          <p:cNvPr id="3" name="Slide Number Placeholder 2">
            <a:extLst>
              <a:ext uri="{FF2B5EF4-FFF2-40B4-BE49-F238E27FC236}">
                <a16:creationId xmlns:a16="http://schemas.microsoft.com/office/drawing/2014/main" id="{C1F12D05-D9A9-DF5F-987C-5A38FB5B722F}"/>
              </a:ext>
            </a:extLst>
          </p:cNvPr>
          <p:cNvSpPr>
            <a:spLocks noGrp="1"/>
          </p:cNvSpPr>
          <p:nvPr>
            <p:ph type="sldNum" sz="quarter" idx="12"/>
          </p:nvPr>
        </p:nvSpPr>
        <p:spPr/>
        <p:txBody>
          <a:bodyPr/>
          <a:lstStyle/>
          <a:p>
            <a:fld id="{DE67F00B-5383-4745-B5A5-E8CB0C832AB5}" type="slidenum">
              <a:rPr lang="en-IN" smtClean="0"/>
              <a:t>15</a:t>
            </a:fld>
            <a:endParaRPr lang="en-IN" dirty="0"/>
          </a:p>
        </p:txBody>
      </p:sp>
    </p:spTree>
    <p:extLst>
      <p:ext uri="{BB962C8B-B14F-4D97-AF65-F5344CB8AC3E}">
        <p14:creationId xmlns:p14="http://schemas.microsoft.com/office/powerpoint/2010/main" val="2809682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8E20-D9BE-6246-E149-8DB36BC2F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7F3D22-AF88-77F6-C729-62EB1E3563EB}"/>
              </a:ext>
            </a:extLst>
          </p:cNvPr>
          <p:cNvSpPr>
            <a:spLocks noGrp="1"/>
          </p:cNvSpPr>
          <p:nvPr>
            <p:ph type="title"/>
          </p:nvPr>
        </p:nvSpPr>
        <p:spPr>
          <a:xfrm>
            <a:off x="974165" y="107577"/>
            <a:ext cx="10379635" cy="1099110"/>
          </a:xfrm>
        </p:spPr>
        <p:txBody>
          <a:bodyPr/>
          <a:lstStyle/>
          <a:p>
            <a:pPr algn="ctr"/>
            <a:r>
              <a:rPr lang="en-IN" b="1" dirty="0">
                <a:latin typeface="Times New Roman" panose="02020603050405020304" pitchFamily="18" charset="0"/>
                <a:cs typeface="Times New Roman" panose="02020603050405020304" pitchFamily="18" charset="0"/>
              </a:rPr>
              <a:t>Experimental Results</a:t>
            </a:r>
            <a:endParaRPr lang="en-IN" dirty="0">
              <a:latin typeface="Times New Roman" panose="02020603050405020304" pitchFamily="18" charset="0"/>
              <a:cs typeface="Times New Roman" panose="02020603050405020304" pitchFamily="18" charset="0"/>
            </a:endParaRPr>
          </a:p>
        </p:txBody>
      </p:sp>
      <p:pic>
        <p:nvPicPr>
          <p:cNvPr id="7" name="Picture 6" descr="MITS Deemed to be University (Declared under section 3 of UGC Act, 1956 by  Govt. of India-MoE)">
            <a:extLst>
              <a:ext uri="{FF2B5EF4-FFF2-40B4-BE49-F238E27FC236}">
                <a16:creationId xmlns:a16="http://schemas.microsoft.com/office/drawing/2014/main" id="{DAE75B56-8BC7-DF9D-6A44-B28497E32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F6C495F-C011-319D-CD9F-D0C3716863E2}"/>
              </a:ext>
            </a:extLst>
          </p:cNvPr>
          <p:cNvPicPr>
            <a:picLocks noChangeAspect="1"/>
          </p:cNvPicPr>
          <p:nvPr/>
        </p:nvPicPr>
        <p:blipFill>
          <a:blip r:embed="rId3"/>
          <a:stretch>
            <a:fillRect/>
          </a:stretch>
        </p:blipFill>
        <p:spPr>
          <a:xfrm>
            <a:off x="369533" y="2528586"/>
            <a:ext cx="3156583" cy="3370190"/>
          </a:xfrm>
          <a:prstGeom prst="rect">
            <a:avLst/>
          </a:prstGeom>
        </p:spPr>
      </p:pic>
      <p:pic>
        <p:nvPicPr>
          <p:cNvPr id="4" name="Picture 3">
            <a:extLst>
              <a:ext uri="{FF2B5EF4-FFF2-40B4-BE49-F238E27FC236}">
                <a16:creationId xmlns:a16="http://schemas.microsoft.com/office/drawing/2014/main" id="{9CC2871A-AA47-C87A-15D5-56BFF51A2773}"/>
              </a:ext>
            </a:extLst>
          </p:cNvPr>
          <p:cNvPicPr>
            <a:picLocks noChangeAspect="1"/>
          </p:cNvPicPr>
          <p:nvPr/>
        </p:nvPicPr>
        <p:blipFill>
          <a:blip r:embed="rId4"/>
          <a:stretch>
            <a:fillRect/>
          </a:stretch>
        </p:blipFill>
        <p:spPr>
          <a:xfrm>
            <a:off x="4016187" y="2528586"/>
            <a:ext cx="4273176" cy="3509591"/>
          </a:xfrm>
          <a:prstGeom prst="rect">
            <a:avLst/>
          </a:prstGeom>
        </p:spPr>
      </p:pic>
      <p:pic>
        <p:nvPicPr>
          <p:cNvPr id="5" name="Picture 4">
            <a:extLst>
              <a:ext uri="{FF2B5EF4-FFF2-40B4-BE49-F238E27FC236}">
                <a16:creationId xmlns:a16="http://schemas.microsoft.com/office/drawing/2014/main" id="{3784CF0C-252F-3C1B-C3ED-8D59F917FB62}"/>
              </a:ext>
            </a:extLst>
          </p:cNvPr>
          <p:cNvPicPr>
            <a:picLocks noChangeAspect="1"/>
          </p:cNvPicPr>
          <p:nvPr/>
        </p:nvPicPr>
        <p:blipFill>
          <a:blip r:embed="rId5"/>
          <a:stretch>
            <a:fillRect/>
          </a:stretch>
        </p:blipFill>
        <p:spPr>
          <a:xfrm>
            <a:off x="8656919" y="2528585"/>
            <a:ext cx="3322917" cy="3509591"/>
          </a:xfrm>
          <a:prstGeom prst="rect">
            <a:avLst/>
          </a:prstGeom>
        </p:spPr>
      </p:pic>
      <p:sp>
        <p:nvSpPr>
          <p:cNvPr id="8" name="TextBox 7">
            <a:extLst>
              <a:ext uri="{FF2B5EF4-FFF2-40B4-BE49-F238E27FC236}">
                <a16:creationId xmlns:a16="http://schemas.microsoft.com/office/drawing/2014/main" id="{D4C11ABF-972E-5EF7-6084-925C801C1121}"/>
              </a:ext>
            </a:extLst>
          </p:cNvPr>
          <p:cNvSpPr txBox="1"/>
          <p:nvPr/>
        </p:nvSpPr>
        <p:spPr>
          <a:xfrm>
            <a:off x="2994212" y="1129553"/>
            <a:ext cx="5665694" cy="584775"/>
          </a:xfrm>
          <a:prstGeom prst="rect">
            <a:avLst/>
          </a:prstGeom>
          <a:noFill/>
        </p:spPr>
        <p:txBody>
          <a:bodyPr wrap="square" rtlCol="0">
            <a:spAutoFit/>
          </a:bodyPr>
          <a:lstStyle/>
          <a:p>
            <a:pPr algn="ctr"/>
            <a:r>
              <a:rPr lang="en-IN" sz="3200" b="1" dirty="0">
                <a:solidFill>
                  <a:srgbClr val="C00000"/>
                </a:solidFill>
                <a:latin typeface="Times New Roman" panose="02020603050405020304" pitchFamily="18" charset="0"/>
                <a:cs typeface="Times New Roman" panose="02020603050405020304" pitchFamily="18" charset="0"/>
              </a:rPr>
              <a:t>SHAP Analysis</a:t>
            </a:r>
          </a:p>
        </p:txBody>
      </p:sp>
      <p:sp>
        <p:nvSpPr>
          <p:cNvPr id="9" name="TextBox 8">
            <a:extLst>
              <a:ext uri="{FF2B5EF4-FFF2-40B4-BE49-F238E27FC236}">
                <a16:creationId xmlns:a16="http://schemas.microsoft.com/office/drawing/2014/main" id="{0E5548E7-BEBC-76D8-A3BC-67D45047300D}"/>
              </a:ext>
            </a:extLst>
          </p:cNvPr>
          <p:cNvSpPr txBox="1"/>
          <p:nvPr/>
        </p:nvSpPr>
        <p:spPr>
          <a:xfrm>
            <a:off x="884518" y="1786046"/>
            <a:ext cx="2534023" cy="523220"/>
          </a:xfrm>
          <a:prstGeom prst="rect">
            <a:avLst/>
          </a:prstGeom>
          <a:noFill/>
        </p:spPr>
        <p:txBody>
          <a:bodyPr wrap="square" rtlCol="0">
            <a:spAutoFit/>
          </a:bodyPr>
          <a:lstStyle/>
          <a:p>
            <a:pPr algn="ctr"/>
            <a:r>
              <a:rPr lang="en-US" sz="2800" b="1" dirty="0">
                <a:effectLst>
                  <a:outerShdw sx="0" sy="0">
                    <a:srgbClr val="000000"/>
                  </a:outerShdw>
                </a:effectLst>
                <a:latin typeface="Times New Roman" panose="02020603050405020304" pitchFamily="18" charset="0"/>
                <a:cs typeface="Times New Roman" panose="02020603050405020304" pitchFamily="18" charset="0"/>
              </a:rPr>
              <a:t>Diabetes</a:t>
            </a:r>
            <a:endParaRPr lang="en-IN" sz="2800" b="1" dirty="0">
              <a:effectLst>
                <a:outerShdw sx="0" sy="0">
                  <a:srgbClr val="000000"/>
                </a:outerShdw>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AAF711F-888D-73E5-52E1-704A5DE4E051}"/>
              </a:ext>
            </a:extLst>
          </p:cNvPr>
          <p:cNvSpPr txBox="1"/>
          <p:nvPr/>
        </p:nvSpPr>
        <p:spPr>
          <a:xfrm>
            <a:off x="4885764" y="1786046"/>
            <a:ext cx="2534023" cy="523220"/>
          </a:xfrm>
          <a:prstGeom prst="rect">
            <a:avLst/>
          </a:prstGeom>
          <a:noFill/>
        </p:spPr>
        <p:txBody>
          <a:bodyPr wrap="square" rtlCol="0">
            <a:spAutoFit/>
          </a:bodyPr>
          <a:lstStyle/>
          <a:p>
            <a:pPr algn="ctr"/>
            <a:r>
              <a:rPr lang="en-US" sz="2800" b="1" dirty="0">
                <a:effectLst>
                  <a:outerShdw sx="0" sy="0">
                    <a:srgbClr val="000000"/>
                  </a:outerShdw>
                </a:effectLst>
                <a:latin typeface="Times New Roman" panose="02020603050405020304" pitchFamily="18" charset="0"/>
                <a:cs typeface="Times New Roman" panose="02020603050405020304" pitchFamily="18" charset="0"/>
              </a:rPr>
              <a:t>Cancer</a:t>
            </a:r>
            <a:endParaRPr lang="en-IN" b="1" dirty="0">
              <a:effectLst>
                <a:outerShdw sx="0" sy="0">
                  <a:srgbClr val="000000"/>
                </a:outerShdw>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9EE4032-D3C4-FCC5-32F8-6FA61CCD7F4E}"/>
              </a:ext>
            </a:extLst>
          </p:cNvPr>
          <p:cNvSpPr txBox="1"/>
          <p:nvPr/>
        </p:nvSpPr>
        <p:spPr>
          <a:xfrm>
            <a:off x="7817225" y="1786046"/>
            <a:ext cx="3795058" cy="523220"/>
          </a:xfrm>
          <a:prstGeom prst="rect">
            <a:avLst/>
          </a:prstGeom>
          <a:noFill/>
        </p:spPr>
        <p:txBody>
          <a:bodyPr wrap="square" rtlCol="0">
            <a:spAutoFit/>
          </a:bodyPr>
          <a:lstStyle/>
          <a:p>
            <a:pPr lvl="2" algn="ctr" fontAlgn="base"/>
            <a:r>
              <a:rPr lang="en-US" sz="2800" b="1" dirty="0">
                <a:effectLst>
                  <a:outerShdw sx="0" sy="0">
                    <a:srgbClr val="000000"/>
                  </a:outerShdw>
                </a:effectLst>
                <a:latin typeface="Times New Roman" panose="02020603050405020304" pitchFamily="18" charset="0"/>
                <a:cs typeface="Times New Roman" panose="02020603050405020304" pitchFamily="18" charset="0"/>
              </a:rPr>
              <a:t>Heart Disease</a:t>
            </a:r>
            <a:endParaRPr lang="en-IN" sz="2800" b="1" dirty="0">
              <a:effectLst>
                <a:outerShdw sx="0" sy="0">
                  <a:srgbClr val="000000"/>
                </a:outerShdw>
              </a:effectLst>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DBA143B-D467-A432-5DB5-7E80786905E9}"/>
              </a:ext>
            </a:extLst>
          </p:cNvPr>
          <p:cNvSpPr>
            <a:spLocks noGrp="1"/>
          </p:cNvSpPr>
          <p:nvPr>
            <p:ph type="sldNum" sz="quarter" idx="12"/>
          </p:nvPr>
        </p:nvSpPr>
        <p:spPr/>
        <p:txBody>
          <a:bodyPr/>
          <a:lstStyle/>
          <a:p>
            <a:fld id="{DE67F00B-5383-4745-B5A5-E8CB0C832AB5}" type="slidenum">
              <a:rPr lang="en-IN" smtClean="0"/>
              <a:t>16</a:t>
            </a:fld>
            <a:endParaRPr lang="en-IN"/>
          </a:p>
        </p:txBody>
      </p:sp>
    </p:spTree>
    <p:extLst>
      <p:ext uri="{BB962C8B-B14F-4D97-AF65-F5344CB8AC3E}">
        <p14:creationId xmlns:p14="http://schemas.microsoft.com/office/powerpoint/2010/main" val="3325823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FB4C-4E48-2164-5B4B-FB0855FAC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72EB7-C4B5-AD5E-3ACF-038E81DE5473}"/>
              </a:ext>
            </a:extLst>
          </p:cNvPr>
          <p:cNvSpPr>
            <a:spLocks noGrp="1"/>
          </p:cNvSpPr>
          <p:nvPr>
            <p:ph type="title"/>
          </p:nvPr>
        </p:nvSpPr>
        <p:spPr>
          <a:xfrm>
            <a:off x="1068536" y="-57113"/>
            <a:ext cx="10379635" cy="1099110"/>
          </a:xfrm>
        </p:spPr>
        <p:txBody>
          <a:bodyPr/>
          <a:lstStyle/>
          <a:p>
            <a:pPr algn="ctr"/>
            <a:r>
              <a:rPr lang="en-IN" b="1" dirty="0">
                <a:latin typeface="Times New Roman" panose="02020603050405020304" pitchFamily="18" charset="0"/>
                <a:cs typeface="Times New Roman" panose="02020603050405020304" pitchFamily="18" charset="0"/>
              </a:rPr>
              <a:t>Experimental Results</a:t>
            </a:r>
            <a:endParaRPr lang="en-IN" dirty="0">
              <a:latin typeface="Times New Roman" panose="02020603050405020304" pitchFamily="18" charset="0"/>
              <a:cs typeface="Times New Roman" panose="02020603050405020304" pitchFamily="18" charset="0"/>
            </a:endParaRPr>
          </a:p>
        </p:txBody>
      </p:sp>
      <p:pic>
        <p:nvPicPr>
          <p:cNvPr id="7" name="Picture 6" descr="MITS Deemed to be University (Declared under section 3 of UGC Act, 1956 by  Govt. of India-MoE)">
            <a:extLst>
              <a:ext uri="{FF2B5EF4-FFF2-40B4-BE49-F238E27FC236}">
                <a16:creationId xmlns:a16="http://schemas.microsoft.com/office/drawing/2014/main" id="{1027172C-A2B8-438B-BBD7-293BD38E7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31FBF1-E015-82B8-9FC2-DA4038BC2EAC}"/>
              </a:ext>
            </a:extLst>
          </p:cNvPr>
          <p:cNvSpPr txBox="1"/>
          <p:nvPr/>
        </p:nvSpPr>
        <p:spPr>
          <a:xfrm>
            <a:off x="3253252" y="860653"/>
            <a:ext cx="5665694" cy="584775"/>
          </a:xfrm>
          <a:prstGeom prst="rect">
            <a:avLst/>
          </a:prstGeom>
          <a:noFill/>
        </p:spPr>
        <p:txBody>
          <a:bodyPr wrap="square" rtlCol="0">
            <a:spAutoFit/>
          </a:bodyPr>
          <a:lstStyle/>
          <a:p>
            <a:pPr algn="ctr"/>
            <a:r>
              <a:rPr lang="en-IN" sz="3200" b="1" dirty="0">
                <a:solidFill>
                  <a:srgbClr val="C00000"/>
                </a:solidFill>
                <a:latin typeface="Times New Roman" panose="02020603050405020304" pitchFamily="18" charset="0"/>
                <a:cs typeface="Times New Roman" panose="02020603050405020304" pitchFamily="18" charset="0"/>
              </a:rPr>
              <a:t>LIME Analysis</a:t>
            </a:r>
          </a:p>
        </p:txBody>
      </p:sp>
      <p:sp>
        <p:nvSpPr>
          <p:cNvPr id="9" name="TextBox 8">
            <a:extLst>
              <a:ext uri="{FF2B5EF4-FFF2-40B4-BE49-F238E27FC236}">
                <a16:creationId xmlns:a16="http://schemas.microsoft.com/office/drawing/2014/main" id="{A0BE4EC0-3B08-4CEC-4A08-475086E6C6ED}"/>
              </a:ext>
            </a:extLst>
          </p:cNvPr>
          <p:cNvSpPr txBox="1"/>
          <p:nvPr/>
        </p:nvSpPr>
        <p:spPr>
          <a:xfrm>
            <a:off x="569349" y="1886833"/>
            <a:ext cx="2534023" cy="523220"/>
          </a:xfrm>
          <a:prstGeom prst="rect">
            <a:avLst/>
          </a:prstGeom>
          <a:noFill/>
        </p:spPr>
        <p:txBody>
          <a:bodyPr wrap="square" rtlCol="0">
            <a:spAutoFit/>
          </a:bodyPr>
          <a:lstStyle/>
          <a:p>
            <a:pPr algn="ctr"/>
            <a:r>
              <a:rPr lang="en-US" sz="2800" b="1" dirty="0">
                <a:effectLst>
                  <a:outerShdw sx="0" sy="0">
                    <a:srgbClr val="000000"/>
                  </a:outerShdw>
                </a:effectLst>
                <a:latin typeface="Times New Roman" panose="02020603050405020304" pitchFamily="18" charset="0"/>
                <a:cs typeface="Times New Roman" panose="02020603050405020304" pitchFamily="18" charset="0"/>
              </a:rPr>
              <a:t>Diabetes</a:t>
            </a:r>
            <a:endParaRPr lang="en-IN" sz="2800" b="1" dirty="0">
              <a:effectLst>
                <a:outerShdw sx="0" sy="0">
                  <a:srgbClr val="000000"/>
                </a:outerShdw>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7107BBD-A0A5-B11C-7D2C-1709CE79D304}"/>
              </a:ext>
            </a:extLst>
          </p:cNvPr>
          <p:cNvSpPr txBox="1"/>
          <p:nvPr/>
        </p:nvSpPr>
        <p:spPr>
          <a:xfrm>
            <a:off x="525930" y="3808056"/>
            <a:ext cx="2534023" cy="523220"/>
          </a:xfrm>
          <a:prstGeom prst="rect">
            <a:avLst/>
          </a:prstGeom>
          <a:noFill/>
        </p:spPr>
        <p:txBody>
          <a:bodyPr wrap="square" rtlCol="0">
            <a:spAutoFit/>
          </a:bodyPr>
          <a:lstStyle/>
          <a:p>
            <a:pPr algn="ctr"/>
            <a:r>
              <a:rPr lang="en-US" sz="2800" b="1" dirty="0">
                <a:effectLst>
                  <a:outerShdw sx="0" sy="0">
                    <a:srgbClr val="000000"/>
                  </a:outerShdw>
                </a:effectLst>
                <a:latin typeface="Times New Roman" panose="02020603050405020304" pitchFamily="18" charset="0"/>
                <a:cs typeface="Times New Roman" panose="02020603050405020304" pitchFamily="18" charset="0"/>
              </a:rPr>
              <a:t>Cancer</a:t>
            </a:r>
            <a:endParaRPr lang="en-IN" b="1" dirty="0">
              <a:effectLst>
                <a:outerShdw sx="0" sy="0">
                  <a:srgbClr val="000000"/>
                </a:outerShdw>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F774948-9667-5BEC-2A01-A3EC360BD39B}"/>
              </a:ext>
            </a:extLst>
          </p:cNvPr>
          <p:cNvPicPr>
            <a:picLocks noChangeAspect="1"/>
          </p:cNvPicPr>
          <p:nvPr/>
        </p:nvPicPr>
        <p:blipFill>
          <a:blip r:embed="rId3"/>
          <a:stretch>
            <a:fillRect/>
          </a:stretch>
        </p:blipFill>
        <p:spPr>
          <a:xfrm>
            <a:off x="4175516" y="1599207"/>
            <a:ext cx="7586178" cy="1584299"/>
          </a:xfrm>
          <a:prstGeom prst="rect">
            <a:avLst/>
          </a:prstGeom>
        </p:spPr>
      </p:pic>
      <p:pic>
        <p:nvPicPr>
          <p:cNvPr id="10" name="Picture 9">
            <a:extLst>
              <a:ext uri="{FF2B5EF4-FFF2-40B4-BE49-F238E27FC236}">
                <a16:creationId xmlns:a16="http://schemas.microsoft.com/office/drawing/2014/main" id="{77CCA9FF-11EE-B175-B599-7D0AF65FE3CD}"/>
              </a:ext>
            </a:extLst>
          </p:cNvPr>
          <p:cNvPicPr>
            <a:picLocks noChangeAspect="1"/>
          </p:cNvPicPr>
          <p:nvPr/>
        </p:nvPicPr>
        <p:blipFill>
          <a:blip r:embed="rId4"/>
          <a:stretch>
            <a:fillRect/>
          </a:stretch>
        </p:blipFill>
        <p:spPr>
          <a:xfrm>
            <a:off x="4175516" y="3573353"/>
            <a:ext cx="7693755" cy="1421412"/>
          </a:xfrm>
          <a:prstGeom prst="rect">
            <a:avLst/>
          </a:prstGeom>
        </p:spPr>
      </p:pic>
      <p:pic>
        <p:nvPicPr>
          <p:cNvPr id="12" name="Picture 11">
            <a:extLst>
              <a:ext uri="{FF2B5EF4-FFF2-40B4-BE49-F238E27FC236}">
                <a16:creationId xmlns:a16="http://schemas.microsoft.com/office/drawing/2014/main" id="{4176D5E9-AA90-A2B2-D584-AD1DAEA8BB11}"/>
              </a:ext>
            </a:extLst>
          </p:cNvPr>
          <p:cNvPicPr>
            <a:picLocks noChangeAspect="1"/>
          </p:cNvPicPr>
          <p:nvPr/>
        </p:nvPicPr>
        <p:blipFill>
          <a:blip r:embed="rId5"/>
          <a:stretch>
            <a:fillRect/>
          </a:stretch>
        </p:blipFill>
        <p:spPr>
          <a:xfrm>
            <a:off x="4125108" y="5163482"/>
            <a:ext cx="7794570" cy="1584299"/>
          </a:xfrm>
          <a:prstGeom prst="rect">
            <a:avLst/>
          </a:prstGeom>
        </p:spPr>
      </p:pic>
      <p:sp>
        <p:nvSpPr>
          <p:cNvPr id="14" name="TextBox 13">
            <a:extLst>
              <a:ext uri="{FF2B5EF4-FFF2-40B4-BE49-F238E27FC236}">
                <a16:creationId xmlns:a16="http://schemas.microsoft.com/office/drawing/2014/main" id="{C9C1F139-131B-7A14-DBF0-E0CE58422D20}"/>
              </a:ext>
            </a:extLst>
          </p:cNvPr>
          <p:cNvSpPr txBox="1"/>
          <p:nvPr/>
        </p:nvSpPr>
        <p:spPr>
          <a:xfrm>
            <a:off x="-549035" y="5467669"/>
            <a:ext cx="3795058" cy="523220"/>
          </a:xfrm>
          <a:prstGeom prst="rect">
            <a:avLst/>
          </a:prstGeom>
          <a:noFill/>
        </p:spPr>
        <p:txBody>
          <a:bodyPr wrap="square" rtlCol="0">
            <a:spAutoFit/>
          </a:bodyPr>
          <a:lstStyle/>
          <a:p>
            <a:pPr lvl="2" algn="ctr" fontAlgn="base"/>
            <a:r>
              <a:rPr lang="en-US" sz="2800" b="1" dirty="0">
                <a:effectLst>
                  <a:outerShdw sx="0" sy="0">
                    <a:srgbClr val="000000"/>
                  </a:outerShdw>
                </a:effectLst>
                <a:latin typeface="Times New Roman" panose="02020603050405020304" pitchFamily="18" charset="0"/>
                <a:cs typeface="Times New Roman" panose="02020603050405020304" pitchFamily="18" charset="0"/>
              </a:rPr>
              <a:t>Heart Disease</a:t>
            </a:r>
            <a:endParaRPr lang="en-IN" sz="2800" b="1" dirty="0">
              <a:effectLst>
                <a:outerShdw sx="0" sy="0">
                  <a:srgbClr val="000000"/>
                </a:outerShdw>
              </a:effectLst>
              <a:latin typeface="Times New Roman" panose="02020603050405020304" pitchFamily="18" charset="0"/>
              <a:cs typeface="Times New Roman" panose="02020603050405020304" pitchFamily="18" charset="0"/>
            </a:endParaRPr>
          </a:p>
        </p:txBody>
      </p:sp>
      <p:sp>
        <p:nvSpPr>
          <p:cNvPr id="15" name="Arrow: Notched Right 14">
            <a:extLst>
              <a:ext uri="{FF2B5EF4-FFF2-40B4-BE49-F238E27FC236}">
                <a16:creationId xmlns:a16="http://schemas.microsoft.com/office/drawing/2014/main" id="{4FC8883B-9787-4D96-00FA-C3BA7179FC45}"/>
              </a:ext>
            </a:extLst>
          </p:cNvPr>
          <p:cNvSpPr/>
          <p:nvPr/>
        </p:nvSpPr>
        <p:spPr>
          <a:xfrm>
            <a:off x="3246023" y="2008094"/>
            <a:ext cx="786842" cy="383262"/>
          </a:xfrm>
          <a:prstGeom prst="notch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6" name="Arrow: Notched Right 15">
            <a:extLst>
              <a:ext uri="{FF2B5EF4-FFF2-40B4-BE49-F238E27FC236}">
                <a16:creationId xmlns:a16="http://schemas.microsoft.com/office/drawing/2014/main" id="{42E22ECD-757C-08B5-F1BB-D02609727880}"/>
              </a:ext>
            </a:extLst>
          </p:cNvPr>
          <p:cNvSpPr/>
          <p:nvPr/>
        </p:nvSpPr>
        <p:spPr>
          <a:xfrm>
            <a:off x="3253252" y="3948014"/>
            <a:ext cx="786842" cy="383262"/>
          </a:xfrm>
          <a:prstGeom prst="notch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7" name="Arrow: Notched Right 16">
            <a:extLst>
              <a:ext uri="{FF2B5EF4-FFF2-40B4-BE49-F238E27FC236}">
                <a16:creationId xmlns:a16="http://schemas.microsoft.com/office/drawing/2014/main" id="{D9E9C199-B026-5698-CEA8-2EA29731F4DC}"/>
              </a:ext>
            </a:extLst>
          </p:cNvPr>
          <p:cNvSpPr/>
          <p:nvPr/>
        </p:nvSpPr>
        <p:spPr>
          <a:xfrm>
            <a:off x="3246023" y="5614085"/>
            <a:ext cx="786842" cy="383262"/>
          </a:xfrm>
          <a:prstGeom prst="notch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3" name="Slide Number Placeholder 2">
            <a:extLst>
              <a:ext uri="{FF2B5EF4-FFF2-40B4-BE49-F238E27FC236}">
                <a16:creationId xmlns:a16="http://schemas.microsoft.com/office/drawing/2014/main" id="{05C54C11-69EC-EFE7-BA0A-9553EA26607B}"/>
              </a:ext>
            </a:extLst>
          </p:cNvPr>
          <p:cNvSpPr>
            <a:spLocks noGrp="1"/>
          </p:cNvSpPr>
          <p:nvPr>
            <p:ph type="sldNum" sz="quarter" idx="12"/>
          </p:nvPr>
        </p:nvSpPr>
        <p:spPr/>
        <p:txBody>
          <a:bodyPr/>
          <a:lstStyle/>
          <a:p>
            <a:fld id="{DE67F00B-5383-4745-B5A5-E8CB0C832AB5}" type="slidenum">
              <a:rPr lang="en-IN" smtClean="0"/>
              <a:t>17</a:t>
            </a:fld>
            <a:endParaRPr lang="en-IN"/>
          </a:p>
        </p:txBody>
      </p:sp>
    </p:spTree>
    <p:extLst>
      <p:ext uri="{BB962C8B-B14F-4D97-AF65-F5344CB8AC3E}">
        <p14:creationId xmlns:p14="http://schemas.microsoft.com/office/powerpoint/2010/main" val="1487996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5E86-41EB-AD07-0C2C-0BCB3047B7C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29DAA92-8687-F2B2-2BEA-D1715D8C9866}"/>
              </a:ext>
            </a:extLst>
          </p:cNvPr>
          <p:cNvSpPr>
            <a:spLocks noGrp="1"/>
          </p:cNvSpPr>
          <p:nvPr>
            <p:ph idx="1"/>
          </p:nvPr>
        </p:nvSpPr>
        <p:spPr>
          <a:xfrm>
            <a:off x="886012" y="2028825"/>
            <a:ext cx="105156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Proposed an Adaptive Explainable AI Framework for multi-disease prediction</a:t>
            </a:r>
          </a:p>
          <a:p>
            <a:pPr algn="just"/>
            <a:r>
              <a:rPr lang="en-US" sz="2400" dirty="0">
                <a:latin typeface="Times New Roman" panose="02020603050405020304" pitchFamily="18" charset="0"/>
                <a:cs typeface="Times New Roman" panose="02020603050405020304" pitchFamily="18" charset="0"/>
              </a:rPr>
              <a:t>Used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Ensemble Learning for high accuracy</a:t>
            </a:r>
          </a:p>
          <a:p>
            <a:pPr algn="just"/>
            <a:r>
              <a:rPr lang="en-US" sz="2400" dirty="0">
                <a:latin typeface="Times New Roman" panose="02020603050405020304" pitchFamily="18" charset="0"/>
                <a:cs typeface="Times New Roman" panose="02020603050405020304" pitchFamily="18" charset="0"/>
              </a:rPr>
              <a:t>Applied SHAP and LIME for model explainability and transparency</a:t>
            </a:r>
          </a:p>
          <a:p>
            <a:pPr algn="just"/>
            <a:r>
              <a:rPr lang="en-US" sz="2400" dirty="0">
                <a:latin typeface="Times New Roman" panose="02020603050405020304" pitchFamily="18" charset="0"/>
                <a:cs typeface="Times New Roman" panose="02020603050405020304" pitchFamily="18" charset="0"/>
              </a:rPr>
              <a:t>Enabled early disease prediction and preventive healthcare</a:t>
            </a:r>
          </a:p>
          <a:p>
            <a:pPr algn="just"/>
            <a:r>
              <a:rPr lang="en-US" sz="2400" dirty="0">
                <a:latin typeface="Times New Roman" panose="02020603050405020304" pitchFamily="18" charset="0"/>
                <a:cs typeface="Times New Roman" panose="02020603050405020304" pitchFamily="18" charset="0"/>
              </a:rPr>
              <a:t>Provided personalized healthcare recommendations</a:t>
            </a:r>
          </a:p>
          <a:p>
            <a:pPr algn="just"/>
            <a:r>
              <a:rPr lang="en-US" sz="2400" dirty="0">
                <a:latin typeface="Times New Roman" panose="02020603050405020304" pitchFamily="18" charset="0"/>
                <a:cs typeface="Times New Roman" panose="02020603050405020304" pitchFamily="18" charset="0"/>
              </a:rPr>
              <a:t>Framework is scalable, reliable, and suitable for real-world healthcare applications</a:t>
            </a: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208D0945-F247-314C-4290-71E531A6E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7F449357-07A4-A99E-5B1E-9C1E8FBEA2D1}"/>
              </a:ext>
            </a:extLst>
          </p:cNvPr>
          <p:cNvSpPr>
            <a:spLocks noGrp="1"/>
          </p:cNvSpPr>
          <p:nvPr>
            <p:ph type="sldNum" sz="quarter" idx="12"/>
          </p:nvPr>
        </p:nvSpPr>
        <p:spPr/>
        <p:txBody>
          <a:bodyPr/>
          <a:lstStyle/>
          <a:p>
            <a:fld id="{DE67F00B-5383-4745-B5A5-E8CB0C832AB5}" type="slidenum">
              <a:rPr lang="en-IN" smtClean="0"/>
              <a:t>18</a:t>
            </a:fld>
            <a:endParaRPr lang="en-IN"/>
          </a:p>
        </p:txBody>
      </p:sp>
    </p:spTree>
    <p:extLst>
      <p:ext uri="{BB962C8B-B14F-4D97-AF65-F5344CB8AC3E}">
        <p14:creationId xmlns:p14="http://schemas.microsoft.com/office/powerpoint/2010/main" val="425885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287A5-696C-56FD-7999-DECD0678E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FC012-41D4-9BB5-EB33-811BEE8935F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C5E3B2-F3CA-1B51-5AE1-F235159CEECB}"/>
              </a:ext>
            </a:extLst>
          </p:cNvPr>
          <p:cNvSpPr>
            <a:spLocks noGrp="1"/>
          </p:cNvSpPr>
          <p:nvPr>
            <p:ph idx="1"/>
          </p:nvPr>
        </p:nvSpPr>
        <p:spPr>
          <a:xfrm>
            <a:off x="886012" y="2028825"/>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Integrate real-time healthcare and wearable device data</a:t>
            </a:r>
          </a:p>
          <a:p>
            <a:r>
              <a:rPr lang="en-US" sz="2400" dirty="0">
                <a:latin typeface="Times New Roman" panose="02020603050405020304" pitchFamily="18" charset="0"/>
                <a:cs typeface="Times New Roman" panose="02020603050405020304" pitchFamily="18" charset="0"/>
              </a:rPr>
              <a:t>Extend the framework to predict more diseases</a:t>
            </a:r>
          </a:p>
          <a:p>
            <a:r>
              <a:rPr lang="en-US" sz="2400" dirty="0">
                <a:latin typeface="Times New Roman" panose="02020603050405020304" pitchFamily="18" charset="0"/>
                <a:cs typeface="Times New Roman" panose="02020603050405020304" pitchFamily="18" charset="0"/>
              </a:rPr>
              <a:t>Integrate with Clinical Decision Support Systems (CDSS)</a:t>
            </a:r>
          </a:p>
          <a:p>
            <a:r>
              <a:rPr lang="en-US" sz="2400" dirty="0">
                <a:latin typeface="Times New Roman" panose="02020603050405020304" pitchFamily="18" charset="0"/>
                <a:cs typeface="Times New Roman" panose="02020603050405020304" pitchFamily="18" charset="0"/>
              </a:rPr>
              <a:t>Use federated learning for privacy and security</a:t>
            </a:r>
          </a:p>
          <a:p>
            <a:r>
              <a:rPr lang="en-US" sz="2400" dirty="0">
                <a:latin typeface="Times New Roman" panose="02020603050405020304" pitchFamily="18" charset="0"/>
                <a:cs typeface="Times New Roman" panose="02020603050405020304" pitchFamily="18" charset="0"/>
              </a:rPr>
              <a:t>Improve patient engagement and personalized care</a:t>
            </a:r>
          </a:p>
          <a:p>
            <a:r>
              <a:rPr lang="en-US" sz="2400" dirty="0">
                <a:latin typeface="Times New Roman" panose="02020603050405020304" pitchFamily="18" charset="0"/>
                <a:cs typeface="Times New Roman" panose="02020603050405020304" pitchFamily="18" charset="0"/>
              </a:rPr>
              <a:t>Enhance scalability and real-world clinical adoption</a:t>
            </a:r>
          </a:p>
        </p:txBody>
      </p:sp>
      <p:pic>
        <p:nvPicPr>
          <p:cNvPr id="4" name="Picture 3" descr="MITS Deemed to be University (Declared under section 3 of UGC Act, 1956 by  Govt. of India-MoE)">
            <a:extLst>
              <a:ext uri="{FF2B5EF4-FFF2-40B4-BE49-F238E27FC236}">
                <a16:creationId xmlns:a16="http://schemas.microsoft.com/office/drawing/2014/main" id="{85FCE81E-36BE-EC48-C720-B5E3209E7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238B4095-1B82-046D-19A3-106003AC17F7}"/>
              </a:ext>
            </a:extLst>
          </p:cNvPr>
          <p:cNvSpPr>
            <a:spLocks noGrp="1"/>
          </p:cNvSpPr>
          <p:nvPr>
            <p:ph type="sldNum" sz="quarter" idx="12"/>
          </p:nvPr>
        </p:nvSpPr>
        <p:spPr/>
        <p:txBody>
          <a:bodyPr/>
          <a:lstStyle/>
          <a:p>
            <a:fld id="{DE67F00B-5383-4745-B5A5-E8CB0C832AB5}" type="slidenum">
              <a:rPr lang="en-IN" smtClean="0"/>
              <a:t>19</a:t>
            </a:fld>
            <a:endParaRPr lang="en-IN"/>
          </a:p>
        </p:txBody>
      </p:sp>
    </p:spTree>
    <p:extLst>
      <p:ext uri="{BB962C8B-B14F-4D97-AF65-F5344CB8AC3E}">
        <p14:creationId xmlns:p14="http://schemas.microsoft.com/office/powerpoint/2010/main" val="3696583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2CFE7-D490-ABC5-F333-C580990B7387}"/>
              </a:ext>
            </a:extLst>
          </p:cNvPr>
          <p:cNvSpPr>
            <a:spLocks noGrp="1"/>
          </p:cNvSpPr>
          <p:nvPr>
            <p:ph type="title"/>
          </p:nvPr>
        </p:nvSpPr>
        <p:spPr>
          <a:xfrm>
            <a:off x="838200" y="173878"/>
            <a:ext cx="10515600" cy="1325563"/>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9527BF4-AD35-A82B-47A3-257E4DB190D5}"/>
              </a:ext>
            </a:extLst>
          </p:cNvPr>
          <p:cNvSpPr>
            <a:spLocks noGrp="1"/>
          </p:cNvSpPr>
          <p:nvPr>
            <p:ph idx="1"/>
          </p:nvPr>
        </p:nvSpPr>
        <p:spPr>
          <a:xfrm>
            <a:off x="838200" y="1577788"/>
            <a:ext cx="10515600" cy="4599175"/>
          </a:xfrm>
        </p:spPr>
        <p:txBody>
          <a:bodyPr>
            <a:normAutofit/>
          </a:bodyPr>
          <a:lstStyle/>
          <a:p>
            <a:pPr lvl="0" algn="just"/>
            <a:r>
              <a:rPr lang="en-US" sz="2000" dirty="0">
                <a:latin typeface="Times New Roman" panose="02020603050405020304" pitchFamily="18" charset="0"/>
                <a:cs typeface="Times New Roman" panose="02020603050405020304" pitchFamily="18" charset="0"/>
              </a:rPr>
              <a:t>E. U. Alum and O. P.-C. Ugwu, ‘Artificial intelligence in personalized medicine: transforming diagnosis and treatment’, </a:t>
            </a:r>
            <a:r>
              <a:rPr lang="en-US" sz="2000" i="1" dirty="0">
                <a:latin typeface="Times New Roman" panose="02020603050405020304" pitchFamily="18" charset="0"/>
                <a:cs typeface="Times New Roman" panose="02020603050405020304" pitchFamily="18" charset="0"/>
              </a:rPr>
              <a:t>Discover Applied Sciences</a:t>
            </a:r>
            <a:r>
              <a:rPr lang="en-US" sz="2000" dirty="0">
                <a:latin typeface="Times New Roman" panose="02020603050405020304" pitchFamily="18" charset="0"/>
                <a:cs typeface="Times New Roman" panose="02020603050405020304" pitchFamily="18" charset="0"/>
              </a:rPr>
              <a:t>, vol. 7, no. 3, p. 193, 2025.</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S. Thapa, A. P. </a:t>
            </a:r>
            <a:r>
              <a:rPr lang="en-US" sz="2000" dirty="0" err="1">
                <a:latin typeface="Times New Roman" panose="02020603050405020304" pitchFamily="18" charset="0"/>
                <a:cs typeface="Times New Roman" panose="02020603050405020304" pitchFamily="18" charset="0"/>
              </a:rPr>
              <a:t>Fakiraswamimath</a:t>
            </a:r>
            <a:r>
              <a:rPr lang="en-US" sz="2000" dirty="0">
                <a:latin typeface="Times New Roman" panose="02020603050405020304" pitchFamily="18" charset="0"/>
                <a:cs typeface="Times New Roman" panose="02020603050405020304" pitchFamily="18" charset="0"/>
              </a:rPr>
              <a:t>, M. Z. Zuluaga D, A. R. Kumar, K. R. Rakesh, and S. Yadav, ‘The Role of Artificial Intelligence in Personalized Medicine: Current Trends and Future Directions’, </a:t>
            </a:r>
            <a:r>
              <a:rPr lang="en-US" sz="2000" i="1" dirty="0">
                <a:latin typeface="Times New Roman" panose="02020603050405020304" pitchFamily="18" charset="0"/>
                <a:cs typeface="Times New Roman" panose="02020603050405020304" pitchFamily="18" charset="0"/>
              </a:rPr>
              <a:t>Frontiers in Health Informatics</a:t>
            </a:r>
            <a:r>
              <a:rPr lang="en-US" sz="2000" dirty="0">
                <a:latin typeface="Times New Roman" panose="02020603050405020304" pitchFamily="18" charset="0"/>
                <a:cs typeface="Times New Roman" panose="02020603050405020304" pitchFamily="18" charset="0"/>
              </a:rPr>
              <a:t>, vol. 13, no. 3, 2024.</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P. Joshi, S. Tiwari, S. Bhatt, and B. Sati, ‘Artificial Intelligence in Healthcare: From Diagnostics to Personalized Medicine And Beyond’, </a:t>
            </a:r>
            <a:r>
              <a:rPr lang="en-US" sz="2000" i="1" dirty="0">
                <a:latin typeface="Times New Roman" panose="02020603050405020304" pitchFamily="18" charset="0"/>
                <a:cs typeface="Times New Roman" panose="02020603050405020304" pitchFamily="18" charset="0"/>
              </a:rPr>
              <a:t>International Journal of Pharmaceutical and Clinical Research</a:t>
            </a:r>
            <a:r>
              <a:rPr lang="en-US" sz="2000" dirty="0">
                <a:latin typeface="Times New Roman" panose="02020603050405020304" pitchFamily="18" charset="0"/>
                <a:cs typeface="Times New Roman" panose="02020603050405020304" pitchFamily="18" charset="0"/>
              </a:rPr>
              <a:t>, vol. 16, no. 9, pp. 68–72, 2024.</a:t>
            </a:r>
          </a:p>
          <a:p>
            <a:pPr lvl="0" algn="just"/>
            <a:r>
              <a:rPr lang="en-US" sz="2000" dirty="0">
                <a:latin typeface="Times New Roman" panose="02020603050405020304" pitchFamily="18" charset="0"/>
                <a:cs typeface="Times New Roman" panose="02020603050405020304" pitchFamily="18" charset="0"/>
              </a:rPr>
              <a:t>G. Mandala, R. Reddy, A. Nishanth, Z. Yasmeen, and K. K. </a:t>
            </a:r>
            <a:r>
              <a:rPr lang="en-US" sz="2000" dirty="0" err="1">
                <a:latin typeface="Times New Roman" panose="02020603050405020304" pitchFamily="18" charset="0"/>
                <a:cs typeface="Times New Roman" panose="02020603050405020304" pitchFamily="18" charset="0"/>
              </a:rPr>
              <a:t>Maguluri</a:t>
            </a:r>
            <a:r>
              <a:rPr lang="en-US" sz="2000" dirty="0">
                <a:latin typeface="Times New Roman" panose="02020603050405020304" pitchFamily="18" charset="0"/>
                <a:cs typeface="Times New Roman" panose="02020603050405020304" pitchFamily="18" charset="0"/>
              </a:rPr>
              <a:t>, ‘AI and ML in Healthcare: Redefining Diagnostics, Treatment, and Personalized Medicine’, </a:t>
            </a:r>
            <a:r>
              <a:rPr lang="en-US" sz="2000" i="1" dirty="0">
                <a:latin typeface="Times New Roman" panose="02020603050405020304" pitchFamily="18" charset="0"/>
                <a:cs typeface="Times New Roman" panose="02020603050405020304" pitchFamily="18" charset="0"/>
              </a:rPr>
              <a:t>International Journal of Applied Engineering &amp; Technology</a:t>
            </a:r>
            <a:r>
              <a:rPr lang="en-US" sz="2000" dirty="0">
                <a:latin typeface="Times New Roman" panose="02020603050405020304" pitchFamily="18" charset="0"/>
                <a:cs typeface="Times New Roman" panose="02020603050405020304" pitchFamily="18" charset="0"/>
              </a:rPr>
              <a:t>, vol. 5, no. S6, 2023.</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E. C. </a:t>
            </a:r>
            <a:r>
              <a:rPr lang="en-US" sz="2000" dirty="0" err="1">
                <a:latin typeface="Times New Roman" panose="02020603050405020304" pitchFamily="18" charset="0"/>
                <a:cs typeface="Times New Roman" panose="02020603050405020304" pitchFamily="18" charset="0"/>
              </a:rPr>
              <a:t>Chianumba</a:t>
            </a:r>
            <a:r>
              <a:rPr lang="en-US" sz="2000" dirty="0">
                <a:latin typeface="Times New Roman" panose="02020603050405020304" pitchFamily="18" charset="0"/>
                <a:cs typeface="Times New Roman" panose="02020603050405020304" pitchFamily="18" charset="0"/>
              </a:rPr>
              <a:t>, N. </a:t>
            </a:r>
            <a:r>
              <a:rPr lang="en-US" sz="2000" dirty="0" err="1">
                <a:latin typeface="Times New Roman" panose="02020603050405020304" pitchFamily="18" charset="0"/>
                <a:cs typeface="Times New Roman" panose="02020603050405020304" pitchFamily="18" charset="0"/>
              </a:rPr>
              <a:t>Ikhalea</a:t>
            </a:r>
            <a:r>
              <a:rPr lang="en-US" sz="2000" dirty="0">
                <a:latin typeface="Times New Roman" panose="02020603050405020304" pitchFamily="18" charset="0"/>
                <a:cs typeface="Times New Roman" panose="02020603050405020304" pitchFamily="18" charset="0"/>
              </a:rPr>
              <a:t>, A. Y. Mustapha, A. Y. </a:t>
            </a:r>
            <a:r>
              <a:rPr lang="en-US" sz="2000" dirty="0" err="1">
                <a:latin typeface="Times New Roman" panose="02020603050405020304" pitchFamily="18" charset="0"/>
                <a:cs typeface="Times New Roman" panose="02020603050405020304" pitchFamily="18" charset="0"/>
              </a:rPr>
              <a:t>Forkuo</a:t>
            </a:r>
            <a:r>
              <a:rPr lang="en-US" sz="2000" dirty="0">
                <a:latin typeface="Times New Roman" panose="02020603050405020304" pitchFamily="18" charset="0"/>
                <a:cs typeface="Times New Roman" panose="02020603050405020304" pitchFamily="18" charset="0"/>
              </a:rPr>
              <a:t>, and D. Osamika, ‘Exploring the role of AI and machine learning in improving healthcare diagnostics and personalized medicine’, </a:t>
            </a:r>
            <a:r>
              <a:rPr lang="en-US" sz="2000" i="1" dirty="0">
                <a:latin typeface="Times New Roman" panose="02020603050405020304" pitchFamily="18" charset="0"/>
                <a:cs typeface="Times New Roman" panose="02020603050405020304" pitchFamily="18" charset="0"/>
              </a:rPr>
              <a:t>Journal of Frontiers in Multidisciplinary Research</a:t>
            </a:r>
            <a:r>
              <a:rPr lang="en-US" sz="2000" dirty="0">
                <a:latin typeface="Times New Roman" panose="02020603050405020304" pitchFamily="18" charset="0"/>
                <a:cs typeface="Times New Roman" panose="02020603050405020304" pitchFamily="18" charset="0"/>
              </a:rPr>
              <a:t>, vol. 4, no. 1, pp. 177–182, 2023.</a:t>
            </a:r>
            <a:endParaRPr lang="en-IN" sz="2000" dirty="0">
              <a:latin typeface="Times New Roman" panose="02020603050405020304" pitchFamily="18" charset="0"/>
              <a:cs typeface="Times New Roman" panose="02020603050405020304" pitchFamily="18" charset="0"/>
            </a:endParaRPr>
          </a:p>
          <a:p>
            <a:pPr marL="0" lv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FF59E452-C14E-B2C0-BB5D-383E4E971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63B4A7F-0694-A6A9-8E40-DAFDE4F4CD5D}"/>
              </a:ext>
            </a:extLst>
          </p:cNvPr>
          <p:cNvSpPr>
            <a:spLocks noGrp="1"/>
          </p:cNvSpPr>
          <p:nvPr>
            <p:ph type="sldNum" sz="quarter" idx="12"/>
          </p:nvPr>
        </p:nvSpPr>
        <p:spPr/>
        <p:txBody>
          <a:bodyPr/>
          <a:lstStyle/>
          <a:p>
            <a:fld id="{DE67F00B-5383-4745-B5A5-E8CB0C832AB5}" type="slidenum">
              <a:rPr lang="en-IN" smtClean="0"/>
              <a:t>20</a:t>
            </a:fld>
            <a:endParaRPr lang="en-IN"/>
          </a:p>
        </p:txBody>
      </p:sp>
    </p:spTree>
    <p:extLst>
      <p:ext uri="{BB962C8B-B14F-4D97-AF65-F5344CB8AC3E}">
        <p14:creationId xmlns:p14="http://schemas.microsoft.com/office/powerpoint/2010/main" val="2492916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71C6-A0D4-BA11-C716-FFF21CEB8633}"/>
              </a:ext>
            </a:extLst>
          </p:cNvPr>
          <p:cNvSpPr>
            <a:spLocks noGrp="1"/>
          </p:cNvSpPr>
          <p:nvPr>
            <p:ph type="ctrTitle"/>
          </p:nvPr>
        </p:nvSpPr>
        <p:spPr>
          <a:xfrm>
            <a:off x="1697318" y="1672199"/>
            <a:ext cx="9144000" cy="2387600"/>
          </a:xfrm>
        </p:spPr>
        <p:txBody>
          <a:bodyPr>
            <a:normAutofit/>
          </a:bodyPr>
          <a:lstStyle/>
          <a:p>
            <a:r>
              <a:rPr lang="en-US" sz="8800" dirty="0">
                <a:latin typeface="Times New Roman" panose="02020603050405020304" pitchFamily="18" charset="0"/>
                <a:cs typeface="Times New Roman" panose="02020603050405020304" pitchFamily="18" charset="0"/>
              </a:rPr>
              <a:t>Thank You</a:t>
            </a:r>
            <a:endParaRPr lang="en-IN" sz="88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B11B1E24-893F-711A-266C-3AA390493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9DC2B1F-DBCA-2E3B-09C4-1AA5488908B3}"/>
              </a:ext>
            </a:extLst>
          </p:cNvPr>
          <p:cNvSpPr>
            <a:spLocks noGrp="1"/>
          </p:cNvSpPr>
          <p:nvPr>
            <p:ph type="sldNum" sz="quarter" idx="12"/>
          </p:nvPr>
        </p:nvSpPr>
        <p:spPr/>
        <p:txBody>
          <a:bodyPr/>
          <a:lstStyle/>
          <a:p>
            <a:fld id="{DE67F00B-5383-4745-B5A5-E8CB0C832AB5}" type="slidenum">
              <a:rPr lang="en-IN" smtClean="0"/>
              <a:t>21</a:t>
            </a:fld>
            <a:endParaRPr lang="en-IN"/>
          </a:p>
        </p:txBody>
      </p:sp>
    </p:spTree>
    <p:extLst>
      <p:ext uri="{BB962C8B-B14F-4D97-AF65-F5344CB8AC3E}">
        <p14:creationId xmlns:p14="http://schemas.microsoft.com/office/powerpoint/2010/main" val="2390673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1261</Words>
  <Application>Microsoft Office PowerPoint</Application>
  <PresentationFormat>Widescreen</PresentationFormat>
  <Paragraphs>213</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Table of Contents</vt:lpstr>
      <vt:lpstr>Abstract</vt:lpstr>
      <vt:lpstr>Introduction</vt:lpstr>
      <vt:lpstr>Problem Statement</vt:lpstr>
      <vt:lpstr>Problem Statement</vt:lpstr>
      <vt:lpstr>Objectives</vt:lpstr>
      <vt:lpstr>Literature Review</vt:lpstr>
      <vt:lpstr>Proposed System</vt:lpstr>
      <vt:lpstr>Methodology</vt:lpstr>
      <vt:lpstr>Overall Architecture Diagram</vt:lpstr>
      <vt:lpstr>Modules</vt:lpstr>
      <vt:lpstr>Implementation</vt:lpstr>
      <vt:lpstr>Experimental Results</vt:lpstr>
      <vt:lpstr>Experimental Results</vt:lpstr>
      <vt:lpstr>Experimental Results</vt:lpstr>
      <vt:lpstr>Experimental Results</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Neeharika Reddy Gadikota</dc:creator>
  <cp:lastModifiedBy>hem roy</cp:lastModifiedBy>
  <cp:revision>5</cp:revision>
  <dcterms:created xsi:type="dcterms:W3CDTF">2026-05-23T10:42:28Z</dcterms:created>
  <dcterms:modified xsi:type="dcterms:W3CDTF">2026-05-25T16:41:06Z</dcterms:modified>
</cp:coreProperties>
</file>