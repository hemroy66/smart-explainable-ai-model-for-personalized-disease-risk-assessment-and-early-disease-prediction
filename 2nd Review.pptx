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27"/>
  </p:notesMasterIdLst>
  <p:sldIdLst>
    <p:sldId id="256" r:id="rId2"/>
    <p:sldId id="258" r:id="rId3"/>
    <p:sldId id="259" r:id="rId4"/>
    <p:sldId id="260" r:id="rId5"/>
    <p:sldId id="262" r:id="rId6"/>
    <p:sldId id="311" r:id="rId7"/>
    <p:sldId id="312" r:id="rId8"/>
    <p:sldId id="329" r:id="rId9"/>
    <p:sldId id="313" r:id="rId10"/>
    <p:sldId id="316" r:id="rId11"/>
    <p:sldId id="315" r:id="rId12"/>
    <p:sldId id="314" r:id="rId13"/>
    <p:sldId id="318" r:id="rId14"/>
    <p:sldId id="319" r:id="rId15"/>
    <p:sldId id="320" r:id="rId16"/>
    <p:sldId id="321" r:id="rId17"/>
    <p:sldId id="322" r:id="rId18"/>
    <p:sldId id="323" r:id="rId19"/>
    <p:sldId id="325" r:id="rId20"/>
    <p:sldId id="324" r:id="rId21"/>
    <p:sldId id="263" r:id="rId22"/>
    <p:sldId id="326" r:id="rId23"/>
    <p:sldId id="327" r:id="rId24"/>
    <p:sldId id="330" r:id="rId25"/>
    <p:sldId id="328" r:id="rId26"/>
  </p:sldIdLst>
  <p:sldSz cx="9144000" cy="5143500" type="screen16x9"/>
  <p:notesSz cx="6858000" cy="9144000"/>
  <p:embeddedFontLst>
    <p:embeddedFont>
      <p:font typeface="Anaheim" panose="020B0604020202020204" charset="0"/>
      <p:regular r:id="rId28"/>
      <p:bold r:id="rId29"/>
    </p:embeddedFont>
    <p:embeddedFont>
      <p:font typeface="Arial Black" panose="020B0A04020102020204" pitchFamily="34" charset="0"/>
      <p:bold r:id="rId30"/>
    </p:embeddedFont>
    <p:embeddedFont>
      <p:font typeface="Bebas Neue" panose="020B0606020202050201" pitchFamily="34" charset="0"/>
      <p:regular r:id="rId31"/>
    </p:embeddedFont>
    <p:embeddedFont>
      <p:font typeface="Nunito" pitchFamily="2" charset="0"/>
      <p:regular r:id="rId32"/>
      <p:bold r:id="rId33"/>
      <p:italic r:id="rId34"/>
      <p:boldItalic r:id="rId35"/>
    </p:embeddedFont>
    <p:embeddedFont>
      <p:font typeface="Nunito Light" pitchFamily="2" charset="0"/>
      <p:regular r:id="rId36"/>
      <p:italic r:id="rId37"/>
    </p:embeddedFont>
    <p:embeddedFont>
      <p:font typeface="Open Sans Light" panose="020B0306030504020204" pitchFamily="34" charset="0"/>
      <p:regular r:id="rId38"/>
      <p:italic r:id="rId39"/>
    </p:embeddedFont>
    <p:embeddedFont>
      <p:font typeface="Raleway"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BED42D-9E3D-4EBB-A1E8-470C69AC2BD3}">
  <a:tblStyle styleId="{DFBED42D-9E3D-4EBB-A1E8-470C69AC2BD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315E1D6-1EE5-41B0-8AA5-9CFDABCD4A72}"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48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850795" y="-2790360"/>
            <a:ext cx="12435573" cy="10677062"/>
            <a:chOff x="-1850795" y="-2790360"/>
            <a:chExt cx="12435573" cy="10677062"/>
          </a:xfrm>
        </p:grpSpPr>
        <p:pic>
          <p:nvPicPr>
            <p:cNvPr id="10" name="Google Shape;10;p2"/>
            <p:cNvPicPr preferRelativeResize="0"/>
            <p:nvPr/>
          </p:nvPicPr>
          <p:blipFill rotWithShape="1">
            <a:blip r:embed="rId2">
              <a:alphaModFix/>
            </a:blip>
            <a:srcRect/>
            <a:stretch/>
          </p:blipFill>
          <p:spPr>
            <a:xfrm>
              <a:off x="1440775" y="-2790360"/>
              <a:ext cx="9144003" cy="3705821"/>
            </a:xfrm>
            <a:prstGeom prst="rect">
              <a:avLst/>
            </a:prstGeom>
            <a:noFill/>
            <a:ln>
              <a:noFill/>
            </a:ln>
          </p:spPr>
        </p:pic>
        <p:pic>
          <p:nvPicPr>
            <p:cNvPr id="11" name="Google Shape;11;p2"/>
            <p:cNvPicPr preferRelativeResize="0"/>
            <p:nvPr/>
          </p:nvPicPr>
          <p:blipFill rotWithShape="1">
            <a:blip r:embed="rId3">
              <a:alphaModFix/>
            </a:blip>
            <a:srcRect/>
            <a:stretch/>
          </p:blipFill>
          <p:spPr>
            <a:xfrm>
              <a:off x="-1850795" y="2743200"/>
              <a:ext cx="6349542" cy="5143501"/>
            </a:xfrm>
            <a:prstGeom prst="rect">
              <a:avLst/>
            </a:prstGeom>
            <a:noFill/>
            <a:ln>
              <a:noFill/>
            </a:ln>
          </p:spPr>
        </p:pic>
        <p:pic>
          <p:nvPicPr>
            <p:cNvPr id="12" name="Google Shape;12;p2"/>
            <p:cNvPicPr preferRelativeResize="0"/>
            <p:nvPr/>
          </p:nvPicPr>
          <p:blipFill>
            <a:blip r:embed="rId4">
              <a:alphaModFix/>
            </a:blip>
            <a:stretch>
              <a:fillRect/>
            </a:stretch>
          </p:blipFill>
          <p:spPr>
            <a:xfrm>
              <a:off x="5892952" y="2305050"/>
              <a:ext cx="4387547" cy="5143501"/>
            </a:xfrm>
            <a:prstGeom prst="rect">
              <a:avLst/>
            </a:prstGeom>
            <a:noFill/>
            <a:ln>
              <a:noFill/>
            </a:ln>
          </p:spPr>
        </p:pic>
      </p:grpSp>
      <p:sp>
        <p:nvSpPr>
          <p:cNvPr id="13" name="Google Shape;13;p2"/>
          <p:cNvSpPr txBox="1">
            <a:spLocks noGrp="1"/>
          </p:cNvSpPr>
          <p:nvPr>
            <p:ph type="ctrTitle"/>
          </p:nvPr>
        </p:nvSpPr>
        <p:spPr>
          <a:xfrm>
            <a:off x="713250" y="1525050"/>
            <a:ext cx="7717500" cy="1662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4" name="Google Shape;14;p2"/>
          <p:cNvSpPr txBox="1">
            <a:spLocks noGrp="1"/>
          </p:cNvSpPr>
          <p:nvPr>
            <p:ph type="subTitle" idx="1"/>
          </p:nvPr>
        </p:nvSpPr>
        <p:spPr>
          <a:xfrm>
            <a:off x="2307700" y="3187350"/>
            <a:ext cx="4528800" cy="43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grpSp>
        <p:nvGrpSpPr>
          <p:cNvPr id="16" name="Google Shape;16;p3"/>
          <p:cNvGrpSpPr/>
          <p:nvPr/>
        </p:nvGrpSpPr>
        <p:grpSpPr>
          <a:xfrm>
            <a:off x="-1469274" y="-2790360"/>
            <a:ext cx="13197573" cy="10524662"/>
            <a:chOff x="-1469274" y="-2790360"/>
            <a:chExt cx="13197573" cy="10524662"/>
          </a:xfrm>
        </p:grpSpPr>
        <p:pic>
          <p:nvPicPr>
            <p:cNvPr id="17" name="Google Shape;17;p3"/>
            <p:cNvPicPr preferRelativeResize="0"/>
            <p:nvPr/>
          </p:nvPicPr>
          <p:blipFill rotWithShape="1">
            <a:blip r:embed="rId2">
              <a:alphaModFix/>
            </a:blip>
            <a:srcRect/>
            <a:stretch/>
          </p:blipFill>
          <p:spPr>
            <a:xfrm flipH="1">
              <a:off x="-1469274" y="-2790360"/>
              <a:ext cx="9144003" cy="3705821"/>
            </a:xfrm>
            <a:prstGeom prst="rect">
              <a:avLst/>
            </a:prstGeom>
            <a:noFill/>
            <a:ln>
              <a:noFill/>
            </a:ln>
          </p:spPr>
        </p:pic>
        <p:pic>
          <p:nvPicPr>
            <p:cNvPr id="18" name="Google Shape;18;p3"/>
            <p:cNvPicPr preferRelativeResize="0"/>
            <p:nvPr/>
          </p:nvPicPr>
          <p:blipFill rotWithShape="1">
            <a:blip r:embed="rId3">
              <a:alphaModFix/>
            </a:blip>
            <a:srcRect/>
            <a:stretch/>
          </p:blipFill>
          <p:spPr>
            <a:xfrm flipH="1">
              <a:off x="5378756" y="2590800"/>
              <a:ext cx="6349542" cy="5143501"/>
            </a:xfrm>
            <a:prstGeom prst="rect">
              <a:avLst/>
            </a:prstGeom>
            <a:noFill/>
            <a:ln>
              <a:noFill/>
            </a:ln>
          </p:spPr>
        </p:pic>
        <p:pic>
          <p:nvPicPr>
            <p:cNvPr id="19" name="Google Shape;19;p3"/>
            <p:cNvPicPr preferRelativeResize="0"/>
            <p:nvPr/>
          </p:nvPicPr>
          <p:blipFill>
            <a:blip r:embed="rId4">
              <a:alphaModFix/>
            </a:blip>
            <a:stretch>
              <a:fillRect/>
            </a:stretch>
          </p:blipFill>
          <p:spPr>
            <a:xfrm flipH="1">
              <a:off x="-707795" y="2228850"/>
              <a:ext cx="4387547" cy="5143501"/>
            </a:xfrm>
            <a:prstGeom prst="rect">
              <a:avLst/>
            </a:prstGeom>
            <a:noFill/>
            <a:ln>
              <a:noFill/>
            </a:ln>
          </p:spPr>
        </p:pic>
      </p:grpSp>
      <p:sp>
        <p:nvSpPr>
          <p:cNvPr id="20" name="Google Shape;20;p3"/>
          <p:cNvSpPr txBox="1">
            <a:spLocks noGrp="1"/>
          </p:cNvSpPr>
          <p:nvPr>
            <p:ph type="title"/>
          </p:nvPr>
        </p:nvSpPr>
        <p:spPr>
          <a:xfrm>
            <a:off x="2038200" y="2610600"/>
            <a:ext cx="5067600" cy="9543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3941100" y="1578600"/>
            <a:ext cx="1261800" cy="1108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grpSp>
        <p:nvGrpSpPr>
          <p:cNvPr id="23" name="Google Shape;23;p4"/>
          <p:cNvGrpSpPr/>
          <p:nvPr/>
        </p:nvGrpSpPr>
        <p:grpSpPr>
          <a:xfrm>
            <a:off x="-1480548" y="-2872300"/>
            <a:ext cx="14875201" cy="10883236"/>
            <a:chOff x="-1480548" y="-2872300"/>
            <a:chExt cx="14875201" cy="10883236"/>
          </a:xfrm>
        </p:grpSpPr>
        <p:pic>
          <p:nvPicPr>
            <p:cNvPr id="24" name="Google Shape;24;p4"/>
            <p:cNvPicPr preferRelativeResize="0"/>
            <p:nvPr/>
          </p:nvPicPr>
          <p:blipFill>
            <a:blip r:embed="rId2">
              <a:alphaModFix/>
            </a:blip>
            <a:stretch>
              <a:fillRect/>
            </a:stretch>
          </p:blipFill>
          <p:spPr>
            <a:xfrm rot="10800000">
              <a:off x="-1480548" y="-2872300"/>
              <a:ext cx="4387547" cy="5143501"/>
            </a:xfrm>
            <a:prstGeom prst="rect">
              <a:avLst/>
            </a:prstGeom>
            <a:noFill/>
            <a:ln>
              <a:noFill/>
            </a:ln>
          </p:spPr>
        </p:pic>
        <p:pic>
          <p:nvPicPr>
            <p:cNvPr id="25" name="Google Shape;25;p4"/>
            <p:cNvPicPr preferRelativeResize="0"/>
            <p:nvPr/>
          </p:nvPicPr>
          <p:blipFill rotWithShape="1">
            <a:blip r:embed="rId3">
              <a:alphaModFix/>
            </a:blip>
            <a:srcRect/>
            <a:stretch/>
          </p:blipFill>
          <p:spPr>
            <a:xfrm rot="10800000" flipH="1">
              <a:off x="4250650" y="4305115"/>
              <a:ext cx="9144003" cy="3705821"/>
            </a:xfrm>
            <a:prstGeom prst="rect">
              <a:avLst/>
            </a:prstGeom>
            <a:noFill/>
            <a:ln>
              <a:noFill/>
            </a:ln>
          </p:spPr>
        </p:pic>
      </p:grpSp>
      <p:sp>
        <p:nvSpPr>
          <p:cNvPr id="26" name="Google Shape;2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 name="Google Shape;27;p4"/>
          <p:cNvSpPr txBox="1">
            <a:spLocks noGrp="1"/>
          </p:cNvSpPr>
          <p:nvPr>
            <p:ph type="subTitle" idx="1"/>
          </p:nvPr>
        </p:nvSpPr>
        <p:spPr>
          <a:xfrm>
            <a:off x="720002" y="1099401"/>
            <a:ext cx="7704000" cy="3693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9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grpSp>
        <p:nvGrpSpPr>
          <p:cNvPr id="43" name="Google Shape;43;p7"/>
          <p:cNvGrpSpPr/>
          <p:nvPr/>
        </p:nvGrpSpPr>
        <p:grpSpPr>
          <a:xfrm>
            <a:off x="-2213779" y="-3870539"/>
            <a:ext cx="14851862" cy="11516984"/>
            <a:chOff x="-2213779" y="-3870539"/>
            <a:chExt cx="14851862" cy="11516984"/>
          </a:xfrm>
        </p:grpSpPr>
        <p:pic>
          <p:nvPicPr>
            <p:cNvPr id="44" name="Google Shape;44;p7"/>
            <p:cNvPicPr preferRelativeResize="0"/>
            <p:nvPr/>
          </p:nvPicPr>
          <p:blipFill>
            <a:blip r:embed="rId2">
              <a:alphaModFix/>
            </a:blip>
            <a:stretch>
              <a:fillRect/>
            </a:stretch>
          </p:blipFill>
          <p:spPr>
            <a:xfrm rot="-2384137">
              <a:off x="7113312" y="1694653"/>
              <a:ext cx="4387546" cy="5143500"/>
            </a:xfrm>
            <a:prstGeom prst="rect">
              <a:avLst/>
            </a:prstGeom>
            <a:noFill/>
            <a:ln>
              <a:noFill/>
            </a:ln>
          </p:spPr>
        </p:pic>
        <p:pic>
          <p:nvPicPr>
            <p:cNvPr id="45" name="Google Shape;45;p7"/>
            <p:cNvPicPr preferRelativeResize="0"/>
            <p:nvPr/>
          </p:nvPicPr>
          <p:blipFill rotWithShape="1">
            <a:blip r:embed="rId3">
              <a:alphaModFix/>
            </a:blip>
            <a:srcRect/>
            <a:stretch/>
          </p:blipFill>
          <p:spPr>
            <a:xfrm rot="5713368">
              <a:off x="-4524379" y="-1001760"/>
              <a:ext cx="9144006" cy="3705823"/>
            </a:xfrm>
            <a:prstGeom prst="rect">
              <a:avLst/>
            </a:prstGeom>
            <a:noFill/>
            <a:ln>
              <a:noFill/>
            </a:ln>
          </p:spPr>
        </p:pic>
      </p:grpSp>
      <p:sp>
        <p:nvSpPr>
          <p:cNvPr id="46" name="Google Shape;46;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7" name="Google Shape;47;p7"/>
          <p:cNvSpPr txBox="1">
            <a:spLocks noGrp="1"/>
          </p:cNvSpPr>
          <p:nvPr>
            <p:ph type="subTitle" idx="1"/>
          </p:nvPr>
        </p:nvSpPr>
        <p:spPr>
          <a:xfrm>
            <a:off x="2032800" y="1897775"/>
            <a:ext cx="5078400" cy="1826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grpSp>
        <p:nvGrpSpPr>
          <p:cNvPr id="55" name="Google Shape;55;p9"/>
          <p:cNvGrpSpPr/>
          <p:nvPr/>
        </p:nvGrpSpPr>
        <p:grpSpPr>
          <a:xfrm>
            <a:off x="-1850795" y="-2714160"/>
            <a:ext cx="12131294" cy="10600862"/>
            <a:chOff x="-1850795" y="-2714160"/>
            <a:chExt cx="12131294" cy="10600862"/>
          </a:xfrm>
        </p:grpSpPr>
        <p:pic>
          <p:nvPicPr>
            <p:cNvPr id="56" name="Google Shape;56;p9"/>
            <p:cNvPicPr preferRelativeResize="0"/>
            <p:nvPr/>
          </p:nvPicPr>
          <p:blipFill rotWithShape="1">
            <a:blip r:embed="rId2">
              <a:alphaModFix/>
            </a:blip>
            <a:srcRect/>
            <a:stretch/>
          </p:blipFill>
          <p:spPr>
            <a:xfrm rot="10800000" flipH="1">
              <a:off x="754975" y="4180880"/>
              <a:ext cx="9144003" cy="3705821"/>
            </a:xfrm>
            <a:prstGeom prst="rect">
              <a:avLst/>
            </a:prstGeom>
            <a:noFill/>
            <a:ln>
              <a:noFill/>
            </a:ln>
          </p:spPr>
        </p:pic>
        <p:pic>
          <p:nvPicPr>
            <p:cNvPr id="57" name="Google Shape;57;p9"/>
            <p:cNvPicPr preferRelativeResize="0"/>
            <p:nvPr/>
          </p:nvPicPr>
          <p:blipFill rotWithShape="1">
            <a:blip r:embed="rId3">
              <a:alphaModFix/>
            </a:blip>
            <a:srcRect/>
            <a:stretch/>
          </p:blipFill>
          <p:spPr>
            <a:xfrm rot="10800000" flipH="1">
              <a:off x="-1850795" y="-2714160"/>
              <a:ext cx="6349542" cy="5143501"/>
            </a:xfrm>
            <a:prstGeom prst="rect">
              <a:avLst/>
            </a:prstGeom>
            <a:noFill/>
            <a:ln>
              <a:noFill/>
            </a:ln>
          </p:spPr>
        </p:pic>
        <p:pic>
          <p:nvPicPr>
            <p:cNvPr id="58" name="Google Shape;58;p9"/>
            <p:cNvPicPr preferRelativeResize="0"/>
            <p:nvPr/>
          </p:nvPicPr>
          <p:blipFill>
            <a:blip r:embed="rId4">
              <a:alphaModFix/>
            </a:blip>
            <a:stretch>
              <a:fillRect/>
            </a:stretch>
          </p:blipFill>
          <p:spPr>
            <a:xfrm rot="10800000" flipH="1">
              <a:off x="5892952" y="-2276010"/>
              <a:ext cx="4387547" cy="5143501"/>
            </a:xfrm>
            <a:prstGeom prst="rect">
              <a:avLst/>
            </a:prstGeom>
            <a:noFill/>
            <a:ln>
              <a:noFill/>
            </a:ln>
          </p:spPr>
        </p:pic>
      </p:grpSp>
      <p:sp>
        <p:nvSpPr>
          <p:cNvPr id="59" name="Google Shape;59;p9"/>
          <p:cNvSpPr txBox="1">
            <a:spLocks noGrp="1"/>
          </p:cNvSpPr>
          <p:nvPr>
            <p:ph type="title"/>
          </p:nvPr>
        </p:nvSpPr>
        <p:spPr>
          <a:xfrm>
            <a:off x="2135550" y="1717200"/>
            <a:ext cx="4872900" cy="1108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60" name="Google Shape;60;p9"/>
          <p:cNvSpPr txBox="1">
            <a:spLocks noGrp="1"/>
          </p:cNvSpPr>
          <p:nvPr>
            <p:ph type="subTitle" idx="1"/>
          </p:nvPr>
        </p:nvSpPr>
        <p:spPr>
          <a:xfrm>
            <a:off x="2135550" y="2749200"/>
            <a:ext cx="4872900" cy="67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4"/>
        <p:cNvGrpSpPr/>
        <p:nvPr/>
      </p:nvGrpSpPr>
      <p:grpSpPr>
        <a:xfrm>
          <a:off x="0" y="0"/>
          <a:ext cx="0" cy="0"/>
          <a:chOff x="0" y="0"/>
          <a:chExt cx="0" cy="0"/>
        </a:xfrm>
      </p:grpSpPr>
      <p:grpSp>
        <p:nvGrpSpPr>
          <p:cNvPr id="65" name="Google Shape;65;p11"/>
          <p:cNvGrpSpPr/>
          <p:nvPr/>
        </p:nvGrpSpPr>
        <p:grpSpPr>
          <a:xfrm>
            <a:off x="-2536595" y="-2790360"/>
            <a:ext cx="13045694" cy="10677062"/>
            <a:chOff x="-2536595" y="-2790360"/>
            <a:chExt cx="13045694" cy="10677062"/>
          </a:xfrm>
        </p:grpSpPr>
        <p:pic>
          <p:nvPicPr>
            <p:cNvPr id="66" name="Google Shape;66;p11"/>
            <p:cNvPicPr preferRelativeResize="0"/>
            <p:nvPr/>
          </p:nvPicPr>
          <p:blipFill rotWithShape="1">
            <a:blip r:embed="rId2">
              <a:alphaModFix/>
            </a:blip>
            <a:srcRect/>
            <a:stretch/>
          </p:blipFill>
          <p:spPr>
            <a:xfrm>
              <a:off x="754975" y="-2790360"/>
              <a:ext cx="9144003" cy="3705821"/>
            </a:xfrm>
            <a:prstGeom prst="rect">
              <a:avLst/>
            </a:prstGeom>
            <a:noFill/>
            <a:ln>
              <a:noFill/>
            </a:ln>
          </p:spPr>
        </p:pic>
        <p:pic>
          <p:nvPicPr>
            <p:cNvPr id="67" name="Google Shape;67;p11"/>
            <p:cNvPicPr preferRelativeResize="0"/>
            <p:nvPr/>
          </p:nvPicPr>
          <p:blipFill rotWithShape="1">
            <a:blip r:embed="rId3">
              <a:alphaModFix/>
            </a:blip>
            <a:srcRect/>
            <a:stretch/>
          </p:blipFill>
          <p:spPr>
            <a:xfrm>
              <a:off x="-2536595" y="2743200"/>
              <a:ext cx="6349542" cy="5143501"/>
            </a:xfrm>
            <a:prstGeom prst="rect">
              <a:avLst/>
            </a:prstGeom>
            <a:noFill/>
            <a:ln>
              <a:noFill/>
            </a:ln>
          </p:spPr>
        </p:pic>
        <p:pic>
          <p:nvPicPr>
            <p:cNvPr id="68" name="Google Shape;68;p11"/>
            <p:cNvPicPr preferRelativeResize="0"/>
            <p:nvPr/>
          </p:nvPicPr>
          <p:blipFill>
            <a:blip r:embed="rId4">
              <a:alphaModFix/>
            </a:blip>
            <a:stretch>
              <a:fillRect/>
            </a:stretch>
          </p:blipFill>
          <p:spPr>
            <a:xfrm>
              <a:off x="6121552" y="2305050"/>
              <a:ext cx="4387547" cy="5143501"/>
            </a:xfrm>
            <a:prstGeom prst="rect">
              <a:avLst/>
            </a:prstGeom>
            <a:noFill/>
            <a:ln>
              <a:noFill/>
            </a:ln>
          </p:spPr>
        </p:pic>
      </p:grpSp>
      <p:sp>
        <p:nvSpPr>
          <p:cNvPr id="69" name="Google Shape;69;p11"/>
          <p:cNvSpPr txBox="1">
            <a:spLocks noGrp="1"/>
          </p:cNvSpPr>
          <p:nvPr>
            <p:ph type="title" hasCustomPrompt="1"/>
          </p:nvPr>
        </p:nvSpPr>
        <p:spPr>
          <a:xfrm>
            <a:off x="1284000" y="1840200"/>
            <a:ext cx="6576000" cy="11082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1"/>
          <p:cNvSpPr txBox="1">
            <a:spLocks noGrp="1"/>
          </p:cNvSpPr>
          <p:nvPr>
            <p:ph type="subTitle" idx="1"/>
          </p:nvPr>
        </p:nvSpPr>
        <p:spPr>
          <a:xfrm>
            <a:off x="1284000" y="2872200"/>
            <a:ext cx="6576000" cy="43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72"/>
        <p:cNvGrpSpPr/>
        <p:nvPr/>
      </p:nvGrpSpPr>
      <p:grpSpPr>
        <a:xfrm>
          <a:off x="0" y="0"/>
          <a:ext cx="0" cy="0"/>
          <a:chOff x="0" y="0"/>
          <a:chExt cx="0" cy="0"/>
        </a:xfrm>
      </p:grpSpPr>
      <p:grpSp>
        <p:nvGrpSpPr>
          <p:cNvPr id="73" name="Google Shape;73;p13"/>
          <p:cNvGrpSpPr/>
          <p:nvPr/>
        </p:nvGrpSpPr>
        <p:grpSpPr>
          <a:xfrm>
            <a:off x="-6941225" y="-3393700"/>
            <a:ext cx="20649172" cy="10795036"/>
            <a:chOff x="-6941225" y="-3393700"/>
            <a:chExt cx="20649172" cy="10795036"/>
          </a:xfrm>
        </p:grpSpPr>
        <p:pic>
          <p:nvPicPr>
            <p:cNvPr id="74" name="Google Shape;74;p13"/>
            <p:cNvPicPr preferRelativeResize="0"/>
            <p:nvPr/>
          </p:nvPicPr>
          <p:blipFill rotWithShape="1">
            <a:blip r:embed="rId2">
              <a:alphaModFix/>
            </a:blip>
            <a:srcRect/>
            <a:stretch/>
          </p:blipFill>
          <p:spPr>
            <a:xfrm>
              <a:off x="7358405" y="-3393700"/>
              <a:ext cx="6349542" cy="5143501"/>
            </a:xfrm>
            <a:prstGeom prst="rect">
              <a:avLst/>
            </a:prstGeom>
            <a:noFill/>
            <a:ln>
              <a:noFill/>
            </a:ln>
          </p:spPr>
        </p:pic>
        <p:pic>
          <p:nvPicPr>
            <p:cNvPr id="75" name="Google Shape;75;p13"/>
            <p:cNvPicPr preferRelativeResize="0"/>
            <p:nvPr/>
          </p:nvPicPr>
          <p:blipFill rotWithShape="1">
            <a:blip r:embed="rId3">
              <a:alphaModFix/>
            </a:blip>
            <a:srcRect/>
            <a:stretch/>
          </p:blipFill>
          <p:spPr>
            <a:xfrm rot="10800000" flipH="1">
              <a:off x="-6941225" y="3695515"/>
              <a:ext cx="9144003" cy="3705821"/>
            </a:xfrm>
            <a:prstGeom prst="rect">
              <a:avLst/>
            </a:prstGeom>
            <a:noFill/>
            <a:ln>
              <a:noFill/>
            </a:ln>
          </p:spPr>
        </p:pic>
      </p:grpSp>
      <p:sp>
        <p:nvSpPr>
          <p:cNvPr id="76" name="Google Shape;7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 name="Google Shape;77;p13"/>
          <p:cNvSpPr txBox="1">
            <a:spLocks noGrp="1"/>
          </p:cNvSpPr>
          <p:nvPr>
            <p:ph type="title" idx="2" hasCustomPrompt="1"/>
          </p:nvPr>
        </p:nvSpPr>
        <p:spPr>
          <a:xfrm>
            <a:off x="1505376" y="1595483"/>
            <a:ext cx="734700" cy="6465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8" name="Google Shape;78;p13"/>
          <p:cNvSpPr txBox="1">
            <a:spLocks noGrp="1"/>
          </p:cNvSpPr>
          <p:nvPr>
            <p:ph type="title" idx="3" hasCustomPrompt="1"/>
          </p:nvPr>
        </p:nvSpPr>
        <p:spPr>
          <a:xfrm>
            <a:off x="1505376" y="2963554"/>
            <a:ext cx="734700" cy="6465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9" name="Google Shape;79;p13"/>
          <p:cNvSpPr txBox="1">
            <a:spLocks noGrp="1"/>
          </p:cNvSpPr>
          <p:nvPr>
            <p:ph type="title" idx="4" hasCustomPrompt="1"/>
          </p:nvPr>
        </p:nvSpPr>
        <p:spPr>
          <a:xfrm>
            <a:off x="4204647" y="1595483"/>
            <a:ext cx="734700" cy="6465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0" name="Google Shape;80;p13"/>
          <p:cNvSpPr txBox="1">
            <a:spLocks noGrp="1"/>
          </p:cNvSpPr>
          <p:nvPr>
            <p:ph type="title" idx="5" hasCustomPrompt="1"/>
          </p:nvPr>
        </p:nvSpPr>
        <p:spPr>
          <a:xfrm>
            <a:off x="4204647" y="2963554"/>
            <a:ext cx="734700" cy="6465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1" name="Google Shape;81;p13"/>
          <p:cNvSpPr txBox="1">
            <a:spLocks noGrp="1"/>
          </p:cNvSpPr>
          <p:nvPr>
            <p:ph type="title" idx="6" hasCustomPrompt="1"/>
          </p:nvPr>
        </p:nvSpPr>
        <p:spPr>
          <a:xfrm>
            <a:off x="6903924" y="1595483"/>
            <a:ext cx="734700" cy="6465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a:spLocks noGrp="1"/>
          </p:cNvSpPr>
          <p:nvPr>
            <p:ph type="title" idx="7" hasCustomPrompt="1"/>
          </p:nvPr>
        </p:nvSpPr>
        <p:spPr>
          <a:xfrm>
            <a:off x="6903924" y="2963554"/>
            <a:ext cx="734700" cy="6465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1"/>
          </p:nvPr>
        </p:nvSpPr>
        <p:spPr>
          <a:xfrm>
            <a:off x="719976" y="2165799"/>
            <a:ext cx="2305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4" name="Google Shape;84;p13"/>
          <p:cNvSpPr txBox="1">
            <a:spLocks noGrp="1"/>
          </p:cNvSpPr>
          <p:nvPr>
            <p:ph type="subTitle" idx="8"/>
          </p:nvPr>
        </p:nvSpPr>
        <p:spPr>
          <a:xfrm>
            <a:off x="3419247" y="2165799"/>
            <a:ext cx="2305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5" name="Google Shape;85;p13"/>
          <p:cNvSpPr txBox="1">
            <a:spLocks noGrp="1"/>
          </p:cNvSpPr>
          <p:nvPr>
            <p:ph type="subTitle" idx="9"/>
          </p:nvPr>
        </p:nvSpPr>
        <p:spPr>
          <a:xfrm>
            <a:off x="6118524" y="2165799"/>
            <a:ext cx="2305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6" name="Google Shape;86;p13"/>
          <p:cNvSpPr txBox="1">
            <a:spLocks noGrp="1"/>
          </p:cNvSpPr>
          <p:nvPr>
            <p:ph type="subTitle" idx="13"/>
          </p:nvPr>
        </p:nvSpPr>
        <p:spPr>
          <a:xfrm>
            <a:off x="719976" y="3533863"/>
            <a:ext cx="2305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7" name="Google Shape;87;p13"/>
          <p:cNvSpPr txBox="1">
            <a:spLocks noGrp="1"/>
          </p:cNvSpPr>
          <p:nvPr>
            <p:ph type="subTitle" idx="14"/>
          </p:nvPr>
        </p:nvSpPr>
        <p:spPr>
          <a:xfrm>
            <a:off x="3419247" y="3533863"/>
            <a:ext cx="2305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8" name="Google Shape;88;p13"/>
          <p:cNvSpPr txBox="1">
            <a:spLocks noGrp="1"/>
          </p:cNvSpPr>
          <p:nvPr>
            <p:ph type="subTitle" idx="15"/>
          </p:nvPr>
        </p:nvSpPr>
        <p:spPr>
          <a:xfrm>
            <a:off x="6118524" y="3533863"/>
            <a:ext cx="23055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10"/>
        <p:cNvGrpSpPr/>
        <p:nvPr/>
      </p:nvGrpSpPr>
      <p:grpSpPr>
        <a:xfrm>
          <a:off x="0" y="0"/>
          <a:ext cx="0" cy="0"/>
          <a:chOff x="0" y="0"/>
          <a:chExt cx="0" cy="0"/>
        </a:xfrm>
      </p:grpSpPr>
      <p:grpSp>
        <p:nvGrpSpPr>
          <p:cNvPr id="111" name="Google Shape;111;p17"/>
          <p:cNvGrpSpPr/>
          <p:nvPr/>
        </p:nvGrpSpPr>
        <p:grpSpPr>
          <a:xfrm>
            <a:off x="-6941225" y="-3393700"/>
            <a:ext cx="20649172" cy="10947436"/>
            <a:chOff x="-6941225" y="-3393700"/>
            <a:chExt cx="20649172" cy="10947436"/>
          </a:xfrm>
        </p:grpSpPr>
        <p:pic>
          <p:nvPicPr>
            <p:cNvPr id="112" name="Google Shape;112;p17"/>
            <p:cNvPicPr preferRelativeResize="0"/>
            <p:nvPr/>
          </p:nvPicPr>
          <p:blipFill rotWithShape="1">
            <a:blip r:embed="rId2">
              <a:alphaModFix/>
            </a:blip>
            <a:srcRect/>
            <a:stretch/>
          </p:blipFill>
          <p:spPr>
            <a:xfrm>
              <a:off x="7358405" y="-3393700"/>
              <a:ext cx="6349542" cy="5143501"/>
            </a:xfrm>
            <a:prstGeom prst="rect">
              <a:avLst/>
            </a:prstGeom>
            <a:noFill/>
            <a:ln>
              <a:noFill/>
            </a:ln>
          </p:spPr>
        </p:pic>
        <p:pic>
          <p:nvPicPr>
            <p:cNvPr id="113" name="Google Shape;113;p17"/>
            <p:cNvPicPr preferRelativeResize="0"/>
            <p:nvPr/>
          </p:nvPicPr>
          <p:blipFill rotWithShape="1">
            <a:blip r:embed="rId3">
              <a:alphaModFix/>
            </a:blip>
            <a:srcRect/>
            <a:stretch/>
          </p:blipFill>
          <p:spPr>
            <a:xfrm rot="10800000" flipH="1">
              <a:off x="-6941225" y="3847915"/>
              <a:ext cx="9144003" cy="3705821"/>
            </a:xfrm>
            <a:prstGeom prst="rect">
              <a:avLst/>
            </a:prstGeom>
            <a:noFill/>
            <a:ln>
              <a:noFill/>
            </a:ln>
          </p:spPr>
        </p:pic>
      </p:grpSp>
      <p:sp>
        <p:nvSpPr>
          <p:cNvPr id="114" name="Google Shape;114;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TITLE_ONLY_1_1_1">
    <p:spTree>
      <p:nvGrpSpPr>
        <p:cNvPr id="1" name="Shape 120"/>
        <p:cNvGrpSpPr/>
        <p:nvPr/>
      </p:nvGrpSpPr>
      <p:grpSpPr>
        <a:xfrm>
          <a:off x="0" y="0"/>
          <a:ext cx="0" cy="0"/>
          <a:chOff x="0" y="0"/>
          <a:chExt cx="0" cy="0"/>
        </a:xfrm>
      </p:grpSpPr>
      <p:grpSp>
        <p:nvGrpSpPr>
          <p:cNvPr id="121" name="Google Shape;121;p19"/>
          <p:cNvGrpSpPr/>
          <p:nvPr/>
        </p:nvGrpSpPr>
        <p:grpSpPr>
          <a:xfrm>
            <a:off x="-5121707" y="-3896607"/>
            <a:ext cx="18958404" cy="12282396"/>
            <a:chOff x="-5121707" y="-3896607"/>
            <a:chExt cx="18958404" cy="12282396"/>
          </a:xfrm>
        </p:grpSpPr>
        <p:pic>
          <p:nvPicPr>
            <p:cNvPr id="122" name="Google Shape;122;p19"/>
            <p:cNvPicPr preferRelativeResize="0"/>
            <p:nvPr/>
          </p:nvPicPr>
          <p:blipFill rotWithShape="1">
            <a:blip r:embed="rId2">
              <a:alphaModFix/>
            </a:blip>
            <a:srcRect/>
            <a:stretch/>
          </p:blipFill>
          <p:spPr>
            <a:xfrm rot="-6886526" flipH="1">
              <a:off x="6996455" y="-2508075"/>
              <a:ext cx="6349545" cy="5143503"/>
            </a:xfrm>
            <a:prstGeom prst="rect">
              <a:avLst/>
            </a:prstGeom>
            <a:noFill/>
            <a:ln>
              <a:noFill/>
            </a:ln>
          </p:spPr>
        </p:pic>
        <p:pic>
          <p:nvPicPr>
            <p:cNvPr id="123" name="Google Shape;123;p19"/>
            <p:cNvPicPr preferRelativeResize="0"/>
            <p:nvPr/>
          </p:nvPicPr>
          <p:blipFill rotWithShape="1">
            <a:blip r:embed="rId3">
              <a:alphaModFix/>
            </a:blip>
            <a:srcRect/>
            <a:stretch/>
          </p:blipFill>
          <p:spPr>
            <a:xfrm rot="2969597">
              <a:off x="-5315200" y="1853115"/>
              <a:ext cx="9144002" cy="3705821"/>
            </a:xfrm>
            <a:prstGeom prst="rect">
              <a:avLst/>
            </a:prstGeom>
            <a:noFill/>
            <a:ln>
              <a:noFill/>
            </a:ln>
          </p:spPr>
        </p:pic>
      </p:grpSp>
      <p:sp>
        <p:nvSpPr>
          <p:cNvPr id="124" name="Google Shape;124;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52"/>
        <p:cNvGrpSpPr/>
        <p:nvPr/>
      </p:nvGrpSpPr>
      <p:grpSpPr>
        <a:xfrm>
          <a:off x="0" y="0"/>
          <a:ext cx="0" cy="0"/>
          <a:chOff x="0" y="0"/>
          <a:chExt cx="0" cy="0"/>
        </a:xfrm>
      </p:grpSpPr>
      <p:grpSp>
        <p:nvGrpSpPr>
          <p:cNvPr id="153" name="Google Shape;153;p25"/>
          <p:cNvGrpSpPr/>
          <p:nvPr/>
        </p:nvGrpSpPr>
        <p:grpSpPr>
          <a:xfrm>
            <a:off x="-3370882" y="-4551434"/>
            <a:ext cx="16760534" cy="12565970"/>
            <a:chOff x="-3370882" y="-4551434"/>
            <a:chExt cx="16760534" cy="12565970"/>
          </a:xfrm>
        </p:grpSpPr>
        <p:pic>
          <p:nvPicPr>
            <p:cNvPr id="154" name="Google Shape;154;p25"/>
            <p:cNvPicPr preferRelativeResize="0"/>
            <p:nvPr/>
          </p:nvPicPr>
          <p:blipFill>
            <a:blip r:embed="rId2">
              <a:alphaModFix/>
            </a:blip>
            <a:stretch>
              <a:fillRect/>
            </a:stretch>
          </p:blipFill>
          <p:spPr>
            <a:xfrm rot="-2700000" flipH="1">
              <a:off x="-2194922" y="-3753450"/>
              <a:ext cx="4387544" cy="5143498"/>
            </a:xfrm>
            <a:prstGeom prst="rect">
              <a:avLst/>
            </a:prstGeom>
            <a:noFill/>
            <a:ln>
              <a:noFill/>
            </a:ln>
          </p:spPr>
        </p:pic>
        <p:pic>
          <p:nvPicPr>
            <p:cNvPr id="155" name="Google Shape;155;p25"/>
            <p:cNvPicPr preferRelativeResize="0"/>
            <p:nvPr/>
          </p:nvPicPr>
          <p:blipFill rotWithShape="1">
            <a:blip r:embed="rId3">
              <a:alphaModFix/>
            </a:blip>
            <a:srcRect/>
            <a:stretch/>
          </p:blipFill>
          <p:spPr>
            <a:xfrm rot="10800000" flipH="1">
              <a:off x="4245650" y="4308715"/>
              <a:ext cx="9144003" cy="3705821"/>
            </a:xfrm>
            <a:prstGeom prst="rect">
              <a:avLst/>
            </a:prstGeom>
            <a:noFill/>
            <a:ln>
              <a:noFill/>
            </a:ln>
          </p:spPr>
        </p:pic>
      </p:grpSp>
      <p:sp>
        <p:nvSpPr>
          <p:cNvPr id="156" name="Google Shape;156;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7" name="Google Shape;157;p25"/>
          <p:cNvSpPr txBox="1">
            <a:spLocks noGrp="1"/>
          </p:cNvSpPr>
          <p:nvPr>
            <p:ph type="subTitle" idx="1"/>
          </p:nvPr>
        </p:nvSpPr>
        <p:spPr>
          <a:xfrm>
            <a:off x="4898325" y="2188025"/>
            <a:ext cx="2460900" cy="1662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8" name="Google Shape;158;p25"/>
          <p:cNvSpPr txBox="1">
            <a:spLocks noGrp="1"/>
          </p:cNvSpPr>
          <p:nvPr>
            <p:ph type="subTitle" idx="2"/>
          </p:nvPr>
        </p:nvSpPr>
        <p:spPr>
          <a:xfrm>
            <a:off x="1784750" y="2188025"/>
            <a:ext cx="2460900" cy="1662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25"/>
          <p:cNvSpPr txBox="1">
            <a:spLocks noGrp="1"/>
          </p:cNvSpPr>
          <p:nvPr>
            <p:ph type="subTitle" idx="3"/>
          </p:nvPr>
        </p:nvSpPr>
        <p:spPr>
          <a:xfrm>
            <a:off x="1784751" y="1771625"/>
            <a:ext cx="2460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0" name="Google Shape;160;p25"/>
          <p:cNvSpPr txBox="1">
            <a:spLocks noGrp="1"/>
          </p:cNvSpPr>
          <p:nvPr>
            <p:ph type="subTitle" idx="4"/>
          </p:nvPr>
        </p:nvSpPr>
        <p:spPr>
          <a:xfrm>
            <a:off x="4898350" y="1771625"/>
            <a:ext cx="2460900" cy="49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Bebas Neue"/>
              <a:buNone/>
              <a:defRPr sz="20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83"/>
        <p:cNvGrpSpPr/>
        <p:nvPr/>
      </p:nvGrpSpPr>
      <p:grpSpPr>
        <a:xfrm>
          <a:off x="0" y="0"/>
          <a:ext cx="0" cy="0"/>
          <a:chOff x="0" y="0"/>
          <a:chExt cx="0" cy="0"/>
        </a:xfrm>
      </p:grpSpPr>
      <p:grpSp>
        <p:nvGrpSpPr>
          <p:cNvPr id="284" name="Google Shape;284;p36"/>
          <p:cNvGrpSpPr/>
          <p:nvPr/>
        </p:nvGrpSpPr>
        <p:grpSpPr>
          <a:xfrm>
            <a:off x="-3653639" y="-2790360"/>
            <a:ext cx="15724511" cy="11210106"/>
            <a:chOff x="-3653639" y="-2790360"/>
            <a:chExt cx="15724511" cy="11210106"/>
          </a:xfrm>
        </p:grpSpPr>
        <p:pic>
          <p:nvPicPr>
            <p:cNvPr id="285" name="Google Shape;285;p36"/>
            <p:cNvPicPr preferRelativeResize="0"/>
            <p:nvPr/>
          </p:nvPicPr>
          <p:blipFill rotWithShape="1">
            <a:blip r:embed="rId2">
              <a:alphaModFix/>
            </a:blip>
            <a:srcRect/>
            <a:stretch/>
          </p:blipFill>
          <p:spPr>
            <a:xfrm>
              <a:off x="1440775" y="-2790360"/>
              <a:ext cx="9144003" cy="3705821"/>
            </a:xfrm>
            <a:prstGeom prst="rect">
              <a:avLst/>
            </a:prstGeom>
            <a:noFill/>
            <a:ln>
              <a:noFill/>
            </a:ln>
          </p:spPr>
        </p:pic>
        <p:pic>
          <p:nvPicPr>
            <p:cNvPr id="286" name="Google Shape;286;p36"/>
            <p:cNvPicPr preferRelativeResize="0"/>
            <p:nvPr/>
          </p:nvPicPr>
          <p:blipFill rotWithShape="1">
            <a:blip r:embed="rId3">
              <a:alphaModFix/>
            </a:blip>
            <a:srcRect/>
            <a:stretch/>
          </p:blipFill>
          <p:spPr>
            <a:xfrm rot="1660645">
              <a:off x="-2822346" y="2095850"/>
              <a:ext cx="6349545" cy="5143503"/>
            </a:xfrm>
            <a:prstGeom prst="rect">
              <a:avLst/>
            </a:prstGeom>
            <a:noFill/>
            <a:ln>
              <a:noFill/>
            </a:ln>
          </p:spPr>
        </p:pic>
        <p:pic>
          <p:nvPicPr>
            <p:cNvPr id="287" name="Google Shape;287;p36"/>
            <p:cNvPicPr preferRelativeResize="0"/>
            <p:nvPr/>
          </p:nvPicPr>
          <p:blipFill>
            <a:blip r:embed="rId4">
              <a:alphaModFix/>
            </a:blip>
            <a:stretch>
              <a:fillRect/>
            </a:stretch>
          </p:blipFill>
          <p:spPr>
            <a:xfrm rot="-1557935">
              <a:off x="6778778" y="1904999"/>
              <a:ext cx="4387548" cy="5143502"/>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88"/>
        <p:cNvGrpSpPr/>
        <p:nvPr/>
      </p:nvGrpSpPr>
      <p:grpSpPr>
        <a:xfrm>
          <a:off x="0" y="0"/>
          <a:ext cx="0" cy="0"/>
          <a:chOff x="0" y="0"/>
          <a:chExt cx="0" cy="0"/>
        </a:xfrm>
      </p:grpSpPr>
      <p:grpSp>
        <p:nvGrpSpPr>
          <p:cNvPr id="289" name="Google Shape;289;p37"/>
          <p:cNvGrpSpPr/>
          <p:nvPr/>
        </p:nvGrpSpPr>
        <p:grpSpPr>
          <a:xfrm>
            <a:off x="-3038425" y="-2885610"/>
            <a:ext cx="15526757" cy="10936860"/>
            <a:chOff x="-3038425" y="-2885610"/>
            <a:chExt cx="15526757" cy="10936860"/>
          </a:xfrm>
        </p:grpSpPr>
        <p:pic>
          <p:nvPicPr>
            <p:cNvPr id="290" name="Google Shape;290;p37"/>
            <p:cNvPicPr preferRelativeResize="0"/>
            <p:nvPr/>
          </p:nvPicPr>
          <p:blipFill rotWithShape="1">
            <a:blip r:embed="rId2">
              <a:alphaModFix/>
            </a:blip>
            <a:srcRect/>
            <a:stretch/>
          </p:blipFill>
          <p:spPr>
            <a:xfrm flipH="1">
              <a:off x="330951" y="-2885610"/>
              <a:ext cx="9144003" cy="3705821"/>
            </a:xfrm>
            <a:prstGeom prst="rect">
              <a:avLst/>
            </a:prstGeom>
            <a:noFill/>
            <a:ln>
              <a:noFill/>
            </a:ln>
          </p:spPr>
        </p:pic>
        <p:pic>
          <p:nvPicPr>
            <p:cNvPr id="291" name="Google Shape;291;p37"/>
            <p:cNvPicPr preferRelativeResize="0"/>
            <p:nvPr/>
          </p:nvPicPr>
          <p:blipFill rotWithShape="1">
            <a:blip r:embed="rId3">
              <a:alphaModFix/>
            </a:blip>
            <a:srcRect/>
            <a:stretch/>
          </p:blipFill>
          <p:spPr>
            <a:xfrm rot="-1028951" flipH="1">
              <a:off x="5521633" y="2085974"/>
              <a:ext cx="6349540" cy="5143500"/>
            </a:xfrm>
            <a:prstGeom prst="rect">
              <a:avLst/>
            </a:prstGeom>
            <a:noFill/>
            <a:ln>
              <a:noFill/>
            </a:ln>
          </p:spPr>
        </p:pic>
        <p:pic>
          <p:nvPicPr>
            <p:cNvPr id="292" name="Google Shape;292;p37"/>
            <p:cNvPicPr preferRelativeResize="0"/>
            <p:nvPr/>
          </p:nvPicPr>
          <p:blipFill>
            <a:blip r:embed="rId4">
              <a:alphaModFix/>
            </a:blip>
            <a:stretch>
              <a:fillRect/>
            </a:stretch>
          </p:blipFill>
          <p:spPr>
            <a:xfrm rot="1600190" flipH="1">
              <a:off x="-2117498" y="1333498"/>
              <a:ext cx="4387549" cy="514350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1pPr>
            <a:lvl2pPr lvl="1"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1pPr>
            <a:lvl2pPr marL="914400" lvl="1"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2pPr>
            <a:lvl3pPr marL="1371600" lvl="2"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3pPr>
            <a:lvl4pPr marL="1828800" lvl="3"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4pPr>
            <a:lvl5pPr marL="2286000" lvl="4"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5pPr>
            <a:lvl6pPr marL="2743200" lvl="5"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6pPr>
            <a:lvl7pPr marL="3200400" lvl="6"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7pPr>
            <a:lvl8pPr marL="3657600" lvl="7"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8pPr>
            <a:lvl9pPr marL="4114800" lvl="8" indent="-304800">
              <a:lnSpc>
                <a:spcPct val="100000"/>
              </a:lnSpc>
              <a:spcBef>
                <a:spcPts val="0"/>
              </a:spcBef>
              <a:spcAft>
                <a:spcPts val="0"/>
              </a:spcAft>
              <a:buClr>
                <a:schemeClr val="dk1"/>
              </a:buClr>
              <a:buSzPts val="1200"/>
              <a:buFont typeface="Nunito"/>
              <a:buChar char="■"/>
              <a:defRPr sz="1200">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7" r:id="rId6"/>
    <p:sldLayoutId id="2147483658" r:id="rId7"/>
    <p:sldLayoutId id="2147483659" r:id="rId8"/>
    <p:sldLayoutId id="2147483663" r:id="rId9"/>
    <p:sldLayoutId id="2147483665" r:id="rId10"/>
    <p:sldLayoutId id="2147483671" r:id="rId11"/>
    <p:sldLayoutId id="2147483682" r:id="rId12"/>
    <p:sldLayoutId id="214748368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1"/>
          <p:cNvSpPr txBox="1">
            <a:spLocks noGrp="1"/>
          </p:cNvSpPr>
          <p:nvPr>
            <p:ph type="ctrTitle"/>
          </p:nvPr>
        </p:nvSpPr>
        <p:spPr>
          <a:xfrm>
            <a:off x="399062" y="1594099"/>
            <a:ext cx="8430750" cy="1662300"/>
          </a:xfrm>
          <a:prstGeom prst="rect">
            <a:avLst/>
          </a:prstGeom>
        </p:spPr>
        <p:txBody>
          <a:bodyPr spcFirstLastPara="1" wrap="square" lIns="91425" tIns="91425" rIns="91425" bIns="91425" anchor="b" anchorCtr="0">
            <a:noAutofit/>
          </a:bodyPr>
          <a:lstStyle/>
          <a:p>
            <a:r>
              <a:rPr lang="en-US" sz="2400" dirty="0">
                <a:solidFill>
                  <a:srgbClr val="002060"/>
                </a:solidFill>
                <a:latin typeface="Times New Roman" panose="02020603050405020304" pitchFamily="18" charset="0"/>
                <a:cs typeface="Times New Roman" panose="02020603050405020304" pitchFamily="18" charset="0"/>
              </a:rPr>
              <a:t>Next-Generation Hybrid Deep Learning and Machine Learning Model with Transformer-Based NLP Embeddings for Early Detection of Chronic and Lifestyle-Related Diseases</a:t>
            </a:r>
            <a:endParaRPr lang="en-IN" sz="2400" dirty="0">
              <a:solidFill>
                <a:srgbClr val="002060"/>
              </a:solidFill>
            </a:endParaRPr>
          </a:p>
        </p:txBody>
      </p:sp>
      <p:pic>
        <p:nvPicPr>
          <p:cNvPr id="2" name="Picture 1">
            <a:extLst>
              <a:ext uri="{FF2B5EF4-FFF2-40B4-BE49-F238E27FC236}">
                <a16:creationId xmlns:a16="http://schemas.microsoft.com/office/drawing/2014/main" id="{73D725E2-705C-83C6-2C3A-3784E5A02FD0}"/>
              </a:ext>
            </a:extLst>
          </p:cNvPr>
          <p:cNvPicPr/>
          <p:nvPr/>
        </p:nvPicPr>
        <p:blipFill>
          <a:blip r:embed="rId3"/>
          <a:stretch>
            <a:fillRect/>
          </a:stretch>
        </p:blipFill>
        <p:spPr>
          <a:xfrm>
            <a:off x="856746" y="80921"/>
            <a:ext cx="7515382" cy="1198559"/>
          </a:xfrm>
          <a:prstGeom prst="rect">
            <a:avLst/>
          </a:prstGeom>
        </p:spPr>
      </p:pic>
      <p:sp>
        <p:nvSpPr>
          <p:cNvPr id="5" name="TextBox 4">
            <a:extLst>
              <a:ext uri="{FF2B5EF4-FFF2-40B4-BE49-F238E27FC236}">
                <a16:creationId xmlns:a16="http://schemas.microsoft.com/office/drawing/2014/main" id="{5AD8B9CC-877E-C0DC-2B65-81AB8603991C}"/>
              </a:ext>
            </a:extLst>
          </p:cNvPr>
          <p:cNvSpPr txBox="1"/>
          <p:nvPr/>
        </p:nvSpPr>
        <p:spPr>
          <a:xfrm>
            <a:off x="879199" y="1332489"/>
            <a:ext cx="7470476" cy="461665"/>
          </a:xfrm>
          <a:prstGeom prst="rect">
            <a:avLst/>
          </a:prstGeom>
          <a:noFill/>
        </p:spPr>
        <p:txBody>
          <a:bodyPr wrap="square">
            <a:spAutoFit/>
          </a:bodyPr>
          <a:lstStyle/>
          <a:p>
            <a:pPr marL="0" indent="0" algn="ctr">
              <a:buNone/>
            </a:pPr>
            <a:r>
              <a:rPr lang="en-US" sz="2400" b="1" dirty="0">
                <a:solidFill>
                  <a:srgbClr val="C00000"/>
                </a:solidFill>
                <a:latin typeface="Times New Roman" panose="02020603050405020304" pitchFamily="18" charset="0"/>
                <a:cs typeface="Times New Roman" panose="02020603050405020304" pitchFamily="18" charset="0"/>
              </a:rPr>
              <a:t>MAJOR PROJECT REVIEW-2</a:t>
            </a:r>
          </a:p>
        </p:txBody>
      </p:sp>
      <p:sp>
        <p:nvSpPr>
          <p:cNvPr id="6" name="TextBox 5">
            <a:extLst>
              <a:ext uri="{FF2B5EF4-FFF2-40B4-BE49-F238E27FC236}">
                <a16:creationId xmlns:a16="http://schemas.microsoft.com/office/drawing/2014/main" id="{87A0D6AC-2B9C-1740-7F19-2DE7229D1C44}"/>
              </a:ext>
            </a:extLst>
          </p:cNvPr>
          <p:cNvSpPr txBox="1"/>
          <p:nvPr/>
        </p:nvSpPr>
        <p:spPr>
          <a:xfrm>
            <a:off x="-1774311" y="3433328"/>
            <a:ext cx="12732590"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Name</a:t>
            </a:r>
            <a:r>
              <a:rPr lang="en-US" sz="2000" dirty="0">
                <a:latin typeface="Times New Roman" panose="02020603050405020304" pitchFamily="18" charset="0"/>
                <a:cs typeface="Times New Roman" panose="02020603050405020304" pitchFamily="18" charset="0"/>
              </a:rPr>
              <a:t> : </a:t>
            </a:r>
            <a:r>
              <a:rPr lang="pt-BR" sz="2000" dirty="0">
                <a:latin typeface="Times New Roman" panose="02020603050405020304" pitchFamily="18" charset="0"/>
                <a:cs typeface="Times New Roman" panose="02020603050405020304" pitchFamily="18" charset="0"/>
              </a:rPr>
              <a:t>Hemanth Kumar Pattem (Reg. No. 24691F0071)</a:t>
            </a:r>
            <a:endParaRPr lang="en-US" sz="2000"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Project Guide </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Dr. J. SRINIVASAN JAGANNATHAN, M.C.A., Ph.D.,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3"/>
          <p:cNvSpPr txBox="1">
            <a:spLocks noGrp="1"/>
          </p:cNvSpPr>
          <p:nvPr>
            <p:ph type="title"/>
          </p:nvPr>
        </p:nvSpPr>
        <p:spPr>
          <a:xfrm>
            <a:off x="720000" y="10488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solidFill>
                  <a:srgbClr val="002060"/>
                </a:solidFill>
                <a:latin typeface="Times New Roman" panose="02020603050405020304" pitchFamily="18" charset="0"/>
                <a:cs typeface="Times New Roman" panose="02020603050405020304" pitchFamily="18" charset="0"/>
              </a:rPr>
              <a:t>Table of contents</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117730C8-AB81-5485-66D6-16390432523D}"/>
              </a:ext>
            </a:extLst>
          </p:cNvPr>
          <p:cNvSpPr txBox="1"/>
          <p:nvPr/>
        </p:nvSpPr>
        <p:spPr>
          <a:xfrm>
            <a:off x="4112591" y="1395896"/>
            <a:ext cx="6396382" cy="2862322"/>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Project Title &amp; Domain </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Problem Statement </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Objectives </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Literature Survey Summary</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Proposed Methodology/Architecture </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Tools/Technologies to be Used </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Explanation of ER, UML and DFD diagram </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Software Requirement Specification</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Timeline for Future Work</a:t>
            </a:r>
            <a:endParaRPr lang="en-IN" sz="2000"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FD799F0F-D62A-3856-0DC8-93E0E728C4F6}"/>
              </a:ext>
            </a:extLst>
          </p:cNvPr>
          <p:cNvPicPr>
            <a:picLocks noChangeAspect="1"/>
          </p:cNvPicPr>
          <p:nvPr/>
        </p:nvPicPr>
        <p:blipFill>
          <a:blip r:embed="rId3"/>
          <a:stretch>
            <a:fillRect/>
          </a:stretch>
        </p:blipFill>
        <p:spPr>
          <a:xfrm>
            <a:off x="379897" y="1011581"/>
            <a:ext cx="3445564" cy="3911047"/>
          </a:xfrm>
          <a:prstGeom prst="rect">
            <a:avLst/>
          </a:prstGeom>
        </p:spPr>
      </p:pic>
      <p:pic>
        <p:nvPicPr>
          <p:cNvPr id="30" name="Picture 29" descr="MITS Deemed to be University (Declared under section 3 of UGC Act, 1956 by  Govt. of India-MoE)">
            <a:extLst>
              <a:ext uri="{FF2B5EF4-FFF2-40B4-BE49-F238E27FC236}">
                <a16:creationId xmlns:a16="http://schemas.microsoft.com/office/drawing/2014/main" id="{BEF7517C-AD4F-A5CC-D452-E0951501FB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4"/>
          <p:cNvSpPr txBox="1">
            <a:spLocks noGrp="1"/>
          </p:cNvSpPr>
          <p:nvPr>
            <p:ph type="title"/>
          </p:nvPr>
        </p:nvSpPr>
        <p:spPr>
          <a:xfrm>
            <a:off x="1812105" y="207617"/>
            <a:ext cx="5519789" cy="1108200"/>
          </a:xfrm>
          <a:prstGeom prst="rect">
            <a:avLst/>
          </a:prstGeom>
        </p:spPr>
        <p:txBody>
          <a:bodyPr spcFirstLastPara="1" wrap="square" lIns="91425" tIns="91425" rIns="91425" bIns="91425" anchor="b" anchorCtr="0">
            <a:noAutofit/>
          </a:bodyPr>
          <a:lstStyle/>
          <a:p>
            <a:r>
              <a:rPr lang="en-US" sz="4000" dirty="0">
                <a:solidFill>
                  <a:srgbClr val="002060"/>
                </a:solidFill>
                <a:latin typeface="Times New Roman" panose="02020603050405020304" pitchFamily="18" charset="0"/>
                <a:ea typeface="Microsoft Himalaya" panose="01010100010101010101" pitchFamily="2" charset="0"/>
                <a:cs typeface="Times New Roman" panose="02020603050405020304" pitchFamily="18" charset="0"/>
              </a:rPr>
              <a:t>1. Project Domain</a:t>
            </a:r>
          </a:p>
        </p:txBody>
      </p:sp>
      <p:sp>
        <p:nvSpPr>
          <p:cNvPr id="336" name="Google Shape;336;p44"/>
          <p:cNvSpPr txBox="1">
            <a:spLocks noGrp="1"/>
          </p:cNvSpPr>
          <p:nvPr>
            <p:ph type="subTitle" idx="1"/>
          </p:nvPr>
        </p:nvSpPr>
        <p:spPr>
          <a:xfrm>
            <a:off x="475356" y="1735623"/>
            <a:ext cx="6045458" cy="6771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400" dirty="0">
                <a:latin typeface="Times New Roman" panose="02020603050405020304" pitchFamily="18" charset="0"/>
                <a:ea typeface="Microsoft Himalaya" panose="01010100010101010101" pitchFamily="2" charset="0"/>
                <a:cs typeface="Times New Roman" panose="02020603050405020304" pitchFamily="18" charset="0"/>
              </a:rPr>
              <a:t>Artificial Intelligence in Healthcare </a:t>
            </a:r>
          </a:p>
          <a:p>
            <a:pPr algn="l">
              <a:buFont typeface="Arial" panose="020B0604020202020204" pitchFamily="34" charset="0"/>
              <a:buChar char="•"/>
            </a:pPr>
            <a:r>
              <a:rPr lang="en-US" sz="2400" dirty="0">
                <a:latin typeface="Times New Roman" panose="02020603050405020304" pitchFamily="18" charset="0"/>
                <a:ea typeface="Microsoft Himalaya" panose="01010100010101010101" pitchFamily="2" charset="0"/>
                <a:cs typeface="Times New Roman" panose="02020603050405020304" pitchFamily="18" charset="0"/>
              </a:rPr>
              <a:t>Machine Learning &amp; Deep Learning </a:t>
            </a:r>
          </a:p>
          <a:p>
            <a:pPr algn="l">
              <a:buFont typeface="Arial" panose="020B0604020202020204" pitchFamily="34" charset="0"/>
              <a:buChar char="•"/>
            </a:pPr>
            <a:r>
              <a:rPr lang="en-US" sz="2400" dirty="0">
                <a:latin typeface="Times New Roman" panose="02020603050405020304" pitchFamily="18" charset="0"/>
                <a:ea typeface="Microsoft Himalaya" panose="01010100010101010101" pitchFamily="2" charset="0"/>
                <a:cs typeface="Times New Roman" panose="02020603050405020304" pitchFamily="18" charset="0"/>
              </a:rPr>
              <a:t>Natural Language Processing (NLP) </a:t>
            </a:r>
          </a:p>
          <a:p>
            <a:pPr algn="l">
              <a:buFont typeface="Arial" panose="020B0604020202020204" pitchFamily="34" charset="0"/>
              <a:buChar char="•"/>
            </a:pPr>
            <a:r>
              <a:rPr lang="en-US" sz="2400" dirty="0">
                <a:latin typeface="Times New Roman" panose="02020603050405020304" pitchFamily="18" charset="0"/>
                <a:ea typeface="Microsoft Himalaya" panose="01010100010101010101" pitchFamily="2" charset="0"/>
                <a:cs typeface="Times New Roman" panose="02020603050405020304" pitchFamily="18" charset="0"/>
              </a:rPr>
              <a:t>Explainable AI (XAI) </a:t>
            </a:r>
          </a:p>
        </p:txBody>
      </p:sp>
      <p:pic>
        <p:nvPicPr>
          <p:cNvPr id="3074" name="Picture 2" descr="AI, ML, DL: What's the difference? | Jitendra Trivedia posted on the topic  | LinkedIn">
            <a:extLst>
              <a:ext uri="{FF2B5EF4-FFF2-40B4-BE49-F238E27FC236}">
                <a16:creationId xmlns:a16="http://schemas.microsoft.com/office/drawing/2014/main" id="{3A977797-78DE-168C-7BB9-59E6678A0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38" r="41589"/>
          <a:stretch>
            <a:fillRect/>
          </a:stretch>
        </p:blipFill>
        <p:spPr bwMode="auto">
          <a:xfrm>
            <a:off x="5682244" y="1495357"/>
            <a:ext cx="3299299" cy="289553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ITS Deemed to be University (Declared under section 3 of UGC Act, 1956 by  Govt. of India-MoE)">
            <a:extLst>
              <a:ext uri="{FF2B5EF4-FFF2-40B4-BE49-F238E27FC236}">
                <a16:creationId xmlns:a16="http://schemas.microsoft.com/office/drawing/2014/main" id="{77AF2C2A-9F3D-371A-1B12-52593711E9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1453" y="77084"/>
            <a:ext cx="1144577" cy="9433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5"/>
          <p:cNvSpPr txBox="1">
            <a:spLocks noGrp="1"/>
          </p:cNvSpPr>
          <p:nvPr>
            <p:ph type="title"/>
          </p:nvPr>
        </p:nvSpPr>
        <p:spPr>
          <a:xfrm>
            <a:off x="366644" y="1361385"/>
            <a:ext cx="8428382" cy="954300"/>
          </a:xfrm>
          <a:prstGeom prst="rect">
            <a:avLst/>
          </a:prstGeom>
        </p:spPr>
        <p:txBody>
          <a:bodyPr spcFirstLastPara="1" wrap="square" lIns="91425" tIns="91425" rIns="91425" bIns="91425" anchor="t" anchorCtr="0">
            <a:noAutofit/>
          </a:bodyPr>
          <a:lstStyle/>
          <a:p>
            <a:pPr algn="just"/>
            <a:r>
              <a:rPr lang="en-US" sz="2000" b="0" dirty="0">
                <a:latin typeface="Times New Roman" panose="02020603050405020304" pitchFamily="18" charset="0"/>
                <a:ea typeface="Microsoft Himalaya" panose="01010100010101010101" pitchFamily="2" charset="0"/>
                <a:cs typeface="Times New Roman" panose="02020603050405020304" pitchFamily="18" charset="0"/>
              </a:rPr>
              <a:t>Chronic diseases such as diabetes, heart disease, and hypertension are increasing rapidly and have become a major health concern. Early detection of these diseases is challenging because medical data is often complex and existing systems do not provide personalized analysis for patients. Most traditional models focus only on structured data and tend to ignore important clinical text like medical reports and doctor’s notes. Therefore, there is a need for a more accurate and interpretable system that can combine both structured and unstructured data using a hybrid prediction model for better early detection.</a:t>
            </a:r>
          </a:p>
        </p:txBody>
      </p:sp>
      <p:sp>
        <p:nvSpPr>
          <p:cNvPr id="342" name="Google Shape;342;p45"/>
          <p:cNvSpPr txBox="1">
            <a:spLocks noGrp="1"/>
          </p:cNvSpPr>
          <p:nvPr>
            <p:ph type="title" idx="2"/>
          </p:nvPr>
        </p:nvSpPr>
        <p:spPr>
          <a:xfrm>
            <a:off x="905565" y="278681"/>
            <a:ext cx="7332869" cy="800189"/>
          </a:xfrm>
          <a:prstGeom prst="rect">
            <a:avLst/>
          </a:prstGeom>
        </p:spPr>
        <p:txBody>
          <a:bodyPr spcFirstLastPara="1" wrap="square" lIns="91425" tIns="91425" rIns="91425" bIns="91425" anchor="b" anchorCtr="0">
            <a:spAutoFit/>
          </a:bodyPr>
          <a:lstStyle/>
          <a:p>
            <a:pPr lvl="0"/>
            <a:r>
              <a:rPr lang="en-IN" sz="4000" dirty="0">
                <a:solidFill>
                  <a:srgbClr val="002060"/>
                </a:solidFill>
                <a:latin typeface="Times New Roman" panose="02020603050405020304" pitchFamily="18" charset="0"/>
                <a:ea typeface="Microsoft Himalaya" panose="01010100010101010101" pitchFamily="2" charset="0"/>
                <a:cs typeface="Times New Roman" panose="02020603050405020304" pitchFamily="18" charset="0"/>
              </a:rPr>
              <a:t>2. Problem Statement</a:t>
            </a:r>
            <a:endParaRPr lang="en-US" sz="4000" dirty="0">
              <a:solidFill>
                <a:srgbClr val="002060"/>
              </a:solidFill>
              <a:latin typeface="Times New Roman" panose="02020603050405020304" pitchFamily="18" charset="0"/>
              <a:ea typeface="Microsoft Himalaya" panose="01010100010101010101" pitchFamily="2" charset="0"/>
              <a:cs typeface="Times New Roman" panose="02020603050405020304" pitchFamily="18" charset="0"/>
            </a:endParaRPr>
          </a:p>
        </p:txBody>
      </p:sp>
      <p:pic>
        <p:nvPicPr>
          <p:cNvPr id="2" name="Picture 1" descr="MITS Deemed to be University (Declared under section 3 of UGC Act, 1956 by  Govt. of India-MoE)">
            <a:extLst>
              <a:ext uri="{FF2B5EF4-FFF2-40B4-BE49-F238E27FC236}">
                <a16:creationId xmlns:a16="http://schemas.microsoft.com/office/drawing/2014/main" id="{3E839C9C-B54C-65BD-A972-D495C1C55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7"/>
          <p:cNvSpPr txBox="1">
            <a:spLocks noGrp="1"/>
          </p:cNvSpPr>
          <p:nvPr>
            <p:ph type="title"/>
          </p:nvPr>
        </p:nvSpPr>
        <p:spPr>
          <a:xfrm>
            <a:off x="716549" y="343425"/>
            <a:ext cx="7710900" cy="572700"/>
          </a:xfrm>
          <a:prstGeom prst="rect">
            <a:avLst/>
          </a:prstGeom>
        </p:spPr>
        <p:txBody>
          <a:bodyPr spcFirstLastPara="1" wrap="square" lIns="91425" tIns="91425" rIns="91425" bIns="91425" anchor="t" anchorCtr="0">
            <a:noAutofit/>
          </a:bodyPr>
          <a:lstStyle/>
          <a:p>
            <a:pPr lvl="0" algn="ctr"/>
            <a:r>
              <a:rPr lang="en" sz="4000" dirty="0">
                <a:solidFill>
                  <a:srgbClr val="002060"/>
                </a:solidFill>
                <a:latin typeface="Times New Roman" panose="02020603050405020304" pitchFamily="18" charset="0"/>
                <a:cs typeface="Times New Roman" panose="02020603050405020304" pitchFamily="18" charset="0"/>
              </a:rPr>
              <a:t>3.</a:t>
            </a:r>
            <a:r>
              <a:rPr lang="en-IN" sz="4000" dirty="0">
                <a:solidFill>
                  <a:srgbClr val="002060"/>
                </a:solidFill>
                <a:latin typeface="Times New Roman" panose="02020603050405020304" pitchFamily="18" charset="0"/>
                <a:cs typeface="Times New Roman" panose="02020603050405020304" pitchFamily="18" charset="0"/>
              </a:rPr>
              <a:t> Objectives</a:t>
            </a:r>
            <a:endParaRPr sz="4000" dirty="0">
              <a:solidFill>
                <a:srgbClr val="002060"/>
              </a:solidFill>
              <a:latin typeface="Times New Roman" panose="02020603050405020304" pitchFamily="18" charset="0"/>
              <a:cs typeface="Times New Roman" panose="02020603050405020304" pitchFamily="18" charset="0"/>
            </a:endParaRPr>
          </a:p>
        </p:txBody>
      </p:sp>
      <p:sp>
        <p:nvSpPr>
          <p:cNvPr id="355" name="Google Shape;355;p47"/>
          <p:cNvSpPr txBox="1">
            <a:spLocks noGrp="1"/>
          </p:cNvSpPr>
          <p:nvPr>
            <p:ph type="subTitle" idx="1"/>
          </p:nvPr>
        </p:nvSpPr>
        <p:spPr>
          <a:xfrm>
            <a:off x="554382" y="1716662"/>
            <a:ext cx="8035235" cy="1826400"/>
          </a:xfrm>
          <a:prstGeom prst="rect">
            <a:avLst/>
          </a:prstGeom>
        </p:spPr>
        <p:txBody>
          <a:bodyPr spcFirstLastPara="1" wrap="square" lIns="91425" tIns="91425" rIns="91425" bIns="91425" anchor="t" anchorCtr="0">
            <a:noAutofit/>
          </a:bodyPr>
          <a:lstStyle/>
          <a:p>
            <a:r>
              <a:rPr lang="en-IN" sz="2400" dirty="0">
                <a:latin typeface="Times New Roman" panose="02020603050405020304" pitchFamily="18" charset="0"/>
                <a:cs typeface="Times New Roman" panose="02020603050405020304" pitchFamily="18" charset="0"/>
              </a:rPr>
              <a:t>Develop a hybrid ML + DL model for disease prediction </a:t>
            </a:r>
          </a:p>
          <a:p>
            <a:r>
              <a:rPr lang="en-IN" sz="2400" dirty="0">
                <a:latin typeface="Times New Roman" panose="02020603050405020304" pitchFamily="18" charset="0"/>
                <a:cs typeface="Times New Roman" panose="02020603050405020304" pitchFamily="18" charset="0"/>
              </a:rPr>
              <a:t>Use Transformer-based NLP embeddings for text data </a:t>
            </a:r>
          </a:p>
          <a:p>
            <a:r>
              <a:rPr lang="en-IN" sz="2400" dirty="0">
                <a:latin typeface="Times New Roman" panose="02020603050405020304" pitchFamily="18" charset="0"/>
                <a:cs typeface="Times New Roman" panose="02020603050405020304" pitchFamily="18" charset="0"/>
              </a:rPr>
              <a:t>Improve prediction accuracy and F1-score </a:t>
            </a:r>
          </a:p>
          <a:p>
            <a:r>
              <a:rPr lang="en-IN" sz="2400" dirty="0">
                <a:latin typeface="Times New Roman" panose="02020603050405020304" pitchFamily="18" charset="0"/>
                <a:cs typeface="Times New Roman" panose="02020603050405020304" pitchFamily="18" charset="0"/>
              </a:rPr>
              <a:t>Provide explainable results using XAI techniques </a:t>
            </a:r>
          </a:p>
          <a:p>
            <a:r>
              <a:rPr lang="en-IN" sz="2400" dirty="0">
                <a:latin typeface="Times New Roman" panose="02020603050405020304" pitchFamily="18" charset="0"/>
                <a:cs typeface="Times New Roman" panose="02020603050405020304" pitchFamily="18" charset="0"/>
              </a:rPr>
              <a:t>Enable early detection and personalized insights </a:t>
            </a:r>
          </a:p>
        </p:txBody>
      </p:sp>
      <p:pic>
        <p:nvPicPr>
          <p:cNvPr id="2" name="Picture 1" descr="MITS Deemed to be University (Declared under section 3 of UGC Act, 1956 by  Govt. of India-MoE)">
            <a:extLst>
              <a:ext uri="{FF2B5EF4-FFF2-40B4-BE49-F238E27FC236}">
                <a16:creationId xmlns:a16="http://schemas.microsoft.com/office/drawing/2014/main" id="{CFE84BE8-12B2-96D0-8C49-B55B01A6D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9365"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086F5-A9D8-37DC-82D9-9B749DCB86D9}"/>
              </a:ext>
            </a:extLst>
          </p:cNvPr>
          <p:cNvSpPr>
            <a:spLocks noGrp="1"/>
          </p:cNvSpPr>
          <p:nvPr>
            <p:ph type="title"/>
          </p:nvPr>
        </p:nvSpPr>
        <p:spPr>
          <a:xfrm>
            <a:off x="1284000" y="-386166"/>
            <a:ext cx="6576000" cy="1108200"/>
          </a:xfrm>
        </p:spPr>
        <p:txBody>
          <a:bodyPr/>
          <a:lstStyle/>
          <a:p>
            <a:r>
              <a:rPr lang="en-IN" sz="4000" dirty="0">
                <a:solidFill>
                  <a:srgbClr val="002060"/>
                </a:solidFill>
                <a:latin typeface="Times New Roman" panose="02020603050405020304" pitchFamily="18" charset="0"/>
                <a:cs typeface="Times New Roman" panose="02020603050405020304" pitchFamily="18" charset="0"/>
              </a:rPr>
              <a:t>4.Literature Survey</a:t>
            </a:r>
          </a:p>
        </p:txBody>
      </p:sp>
      <p:sp>
        <p:nvSpPr>
          <p:cNvPr id="3" name="Subtitle 2">
            <a:extLst>
              <a:ext uri="{FF2B5EF4-FFF2-40B4-BE49-F238E27FC236}">
                <a16:creationId xmlns:a16="http://schemas.microsoft.com/office/drawing/2014/main" id="{6CA64CEE-42BE-C7FF-BC54-2A687B5D63E7}"/>
              </a:ext>
            </a:extLst>
          </p:cNvPr>
          <p:cNvSpPr>
            <a:spLocks noGrp="1"/>
          </p:cNvSpPr>
          <p:nvPr>
            <p:ph type="subTitle" idx="1"/>
          </p:nvPr>
        </p:nvSpPr>
        <p:spPr>
          <a:xfrm>
            <a:off x="519793" y="722034"/>
            <a:ext cx="6576000" cy="431100"/>
          </a:xfrm>
        </p:spPr>
        <p:txBody>
          <a:bodyPr/>
          <a:lstStyle/>
          <a:p>
            <a:pPr marL="152400" indent="0" algn="l"/>
            <a:r>
              <a:rPr lang="en-US" sz="2400" b="1" dirty="0">
                <a:latin typeface="Times New Roman" panose="02020603050405020304" pitchFamily="18" charset="0"/>
                <a:cs typeface="Times New Roman" panose="02020603050405020304" pitchFamily="18" charset="0"/>
              </a:rPr>
              <a:t>Traditional Methods:</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Logistic Regression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Decision Trees</a:t>
            </a:r>
          </a:p>
          <a:p>
            <a:pPr marL="152400" indent="0" algn="l"/>
            <a:r>
              <a:rPr lang="en-US" sz="2400" dirty="0">
                <a:latin typeface="Times New Roman" panose="02020603050405020304" pitchFamily="18" charset="0"/>
                <a:cs typeface="Times New Roman" panose="02020603050405020304" pitchFamily="18" charset="0"/>
              </a:rPr>
              <a:t> </a:t>
            </a:r>
          </a:p>
          <a:p>
            <a:pPr marL="152400" indent="0" algn="l"/>
            <a:r>
              <a:rPr lang="en-US" sz="2400" b="1" dirty="0">
                <a:latin typeface="Times New Roman" panose="02020603050405020304" pitchFamily="18" charset="0"/>
                <a:cs typeface="Times New Roman" panose="02020603050405020304" pitchFamily="18" charset="0"/>
              </a:rPr>
              <a:t>Limitations:</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Low accuracy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Cannot handle complex patterns</a:t>
            </a:r>
          </a:p>
          <a:p>
            <a:pPr marL="152400" indent="0" algn="l"/>
            <a:r>
              <a:rPr lang="en-US" sz="2400" dirty="0">
                <a:latin typeface="Times New Roman" panose="02020603050405020304" pitchFamily="18" charset="0"/>
                <a:cs typeface="Times New Roman" panose="02020603050405020304" pitchFamily="18" charset="0"/>
              </a:rPr>
              <a:t> </a:t>
            </a:r>
          </a:p>
          <a:p>
            <a:pPr marL="152400" indent="0" algn="l"/>
            <a:r>
              <a:rPr lang="en-US" sz="2400" b="1" dirty="0">
                <a:latin typeface="Times New Roman" panose="02020603050405020304" pitchFamily="18" charset="0"/>
                <a:cs typeface="Times New Roman" panose="02020603050405020304" pitchFamily="18" charset="0"/>
              </a:rPr>
              <a:t>Machine Learning Models:</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Random Forest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 Vector Machine</a:t>
            </a:r>
          </a:p>
        </p:txBody>
      </p:sp>
      <p:pic>
        <p:nvPicPr>
          <p:cNvPr id="4098" name="Picture 2" descr="Significance of machine learning in healthcare: Features, pillars and  applications - ScienceDirect">
            <a:extLst>
              <a:ext uri="{FF2B5EF4-FFF2-40B4-BE49-F238E27FC236}">
                <a16:creationId xmlns:a16="http://schemas.microsoft.com/office/drawing/2014/main" id="{0FA2C393-F262-ED8D-7DF0-9D94D4F4C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7862" y="795131"/>
            <a:ext cx="3738492" cy="39889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MITS Deemed to be University (Declared under section 3 of UGC Act, 1956 by  Govt. of India-MoE)">
            <a:extLst>
              <a:ext uri="{FF2B5EF4-FFF2-40B4-BE49-F238E27FC236}">
                <a16:creationId xmlns:a16="http://schemas.microsoft.com/office/drawing/2014/main" id="{EE2D1D88-E513-658D-782D-60AA15A3A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11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E50CB-54DD-EEF8-0444-931766A08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7BB3F-EEC6-283A-D40A-514E7D73EE48}"/>
              </a:ext>
            </a:extLst>
          </p:cNvPr>
          <p:cNvSpPr>
            <a:spLocks noGrp="1"/>
          </p:cNvSpPr>
          <p:nvPr>
            <p:ph type="title"/>
          </p:nvPr>
        </p:nvSpPr>
        <p:spPr>
          <a:xfrm>
            <a:off x="1284000" y="-138792"/>
            <a:ext cx="6576000" cy="1108200"/>
          </a:xfrm>
        </p:spPr>
        <p:txBody>
          <a:bodyPr/>
          <a:lstStyle/>
          <a:p>
            <a:r>
              <a:rPr lang="en-IN" sz="4000" dirty="0">
                <a:solidFill>
                  <a:srgbClr val="002060"/>
                </a:solidFill>
                <a:latin typeface="Times New Roman" panose="02020603050405020304" pitchFamily="18" charset="0"/>
                <a:cs typeface="Times New Roman" panose="02020603050405020304" pitchFamily="18" charset="0"/>
              </a:rPr>
              <a:t>4.Literature Survey</a:t>
            </a:r>
          </a:p>
        </p:txBody>
      </p:sp>
      <p:sp>
        <p:nvSpPr>
          <p:cNvPr id="3" name="Subtitle 2">
            <a:extLst>
              <a:ext uri="{FF2B5EF4-FFF2-40B4-BE49-F238E27FC236}">
                <a16:creationId xmlns:a16="http://schemas.microsoft.com/office/drawing/2014/main" id="{BD271413-BE62-EF34-C10A-B61118A0812E}"/>
              </a:ext>
            </a:extLst>
          </p:cNvPr>
          <p:cNvSpPr>
            <a:spLocks noGrp="1"/>
          </p:cNvSpPr>
          <p:nvPr>
            <p:ph type="subTitle" idx="1"/>
          </p:nvPr>
        </p:nvSpPr>
        <p:spPr>
          <a:xfrm>
            <a:off x="413774" y="1224514"/>
            <a:ext cx="7334329" cy="431100"/>
          </a:xfrm>
        </p:spPr>
        <p:txBody>
          <a:bodyPr/>
          <a:lstStyle/>
          <a:p>
            <a:pPr marL="152400" indent="0" algn="l"/>
            <a:r>
              <a:rPr lang="en-US" sz="2400" b="1" dirty="0">
                <a:latin typeface="Times New Roman" panose="02020603050405020304" pitchFamily="18" charset="0"/>
                <a:cs typeface="Times New Roman" panose="02020603050405020304" pitchFamily="18" charset="0"/>
              </a:rPr>
              <a:t>ML Limitations:</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feature understanding </a:t>
            </a:r>
          </a:p>
          <a:p>
            <a:pPr marL="152400" indent="0" algn="l"/>
            <a:endParaRPr lang="en-US" sz="2400" dirty="0">
              <a:latin typeface="Times New Roman" panose="02020603050405020304" pitchFamily="18" charset="0"/>
              <a:cs typeface="Times New Roman" panose="02020603050405020304" pitchFamily="18" charset="0"/>
            </a:endParaRPr>
          </a:p>
          <a:p>
            <a:pPr marL="152400" indent="0" algn="l"/>
            <a:r>
              <a:rPr lang="en-US" sz="2400" b="1" dirty="0">
                <a:latin typeface="Times New Roman" panose="02020603050405020304" pitchFamily="18" charset="0"/>
                <a:cs typeface="Times New Roman" panose="02020603050405020304" pitchFamily="18" charset="0"/>
              </a:rPr>
              <a:t>Deep Learning Approaches:</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LSTM for sequential medical data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CNN for feature extraction </a:t>
            </a:r>
          </a:p>
          <a:p>
            <a:pPr marL="152400" indent="0" algn="l"/>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5122" name="Picture 2" descr="A call for deep-learning healthcare | Nature Medicine">
            <a:extLst>
              <a:ext uri="{FF2B5EF4-FFF2-40B4-BE49-F238E27FC236}">
                <a16:creationId xmlns:a16="http://schemas.microsoft.com/office/drawing/2014/main" id="{E84127C0-BBA9-F717-E39F-ED7D86929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35" y="1046922"/>
            <a:ext cx="3723861" cy="351624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MITS Deemed to be University (Declared under section 3 of UGC Act, 1956 by  Govt. of India-MoE)">
            <a:extLst>
              <a:ext uri="{FF2B5EF4-FFF2-40B4-BE49-F238E27FC236}">
                <a16:creationId xmlns:a16="http://schemas.microsoft.com/office/drawing/2014/main" id="{5773B7FE-359B-CCF3-2E34-9ADC5AEF6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672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A68F9-D9E7-583F-E63A-947A5AC78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69F59-568E-4B38-EBDF-0047AD5FBD7D}"/>
              </a:ext>
            </a:extLst>
          </p:cNvPr>
          <p:cNvSpPr>
            <a:spLocks noGrp="1"/>
          </p:cNvSpPr>
          <p:nvPr>
            <p:ph type="title"/>
          </p:nvPr>
        </p:nvSpPr>
        <p:spPr>
          <a:xfrm>
            <a:off x="1284000" y="-138792"/>
            <a:ext cx="6576000" cy="1108200"/>
          </a:xfrm>
        </p:spPr>
        <p:txBody>
          <a:bodyPr/>
          <a:lstStyle/>
          <a:p>
            <a:r>
              <a:rPr lang="en-IN" sz="4000" dirty="0">
                <a:solidFill>
                  <a:srgbClr val="002060"/>
                </a:solidFill>
                <a:latin typeface="Times New Roman" panose="02020603050405020304" pitchFamily="18" charset="0"/>
                <a:cs typeface="Times New Roman" panose="02020603050405020304" pitchFamily="18" charset="0"/>
              </a:rPr>
              <a:t>4.Literature Survey</a:t>
            </a:r>
          </a:p>
        </p:txBody>
      </p:sp>
      <p:sp>
        <p:nvSpPr>
          <p:cNvPr id="3" name="Subtitle 2">
            <a:extLst>
              <a:ext uri="{FF2B5EF4-FFF2-40B4-BE49-F238E27FC236}">
                <a16:creationId xmlns:a16="http://schemas.microsoft.com/office/drawing/2014/main" id="{743A99FB-4D53-9018-28A4-CEAE8E877958}"/>
              </a:ext>
            </a:extLst>
          </p:cNvPr>
          <p:cNvSpPr>
            <a:spLocks noGrp="1"/>
          </p:cNvSpPr>
          <p:nvPr>
            <p:ph type="subTitle" idx="1"/>
          </p:nvPr>
        </p:nvSpPr>
        <p:spPr>
          <a:xfrm>
            <a:off x="1102887" y="1122913"/>
            <a:ext cx="7334329" cy="431100"/>
          </a:xfrm>
        </p:spPr>
        <p:txBody>
          <a:bodyPr/>
          <a:lstStyle/>
          <a:p>
            <a:pPr marL="152400" indent="0" algn="l"/>
            <a:r>
              <a:rPr lang="en-US" sz="2400" b="1" dirty="0">
                <a:latin typeface="Times New Roman" panose="02020603050405020304" pitchFamily="18" charset="0"/>
                <a:cs typeface="Times New Roman" panose="02020603050405020304" pitchFamily="18" charset="0"/>
              </a:rPr>
              <a:t>Deep Learning Limitations:</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interpretability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Poor handling of text data</a:t>
            </a:r>
          </a:p>
          <a:p>
            <a:pPr marL="152400" indent="0" algn="l"/>
            <a:r>
              <a:rPr lang="en-US" sz="2400" dirty="0">
                <a:latin typeface="Times New Roman" panose="02020603050405020304" pitchFamily="18" charset="0"/>
                <a:cs typeface="Times New Roman" panose="02020603050405020304" pitchFamily="18" charset="0"/>
              </a:rPr>
              <a:t> </a:t>
            </a:r>
          </a:p>
          <a:p>
            <a:pPr marL="152400" indent="0" algn="l"/>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Hybrid models improve performance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NLP embeddings enhance text understanding </a:t>
            </a:r>
          </a:p>
          <a:p>
            <a:pPr marL="495300" indent="-342900" algn="l">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Combination leads to better accuracy and prediction </a:t>
            </a:r>
          </a:p>
        </p:txBody>
      </p:sp>
      <p:pic>
        <p:nvPicPr>
          <p:cNvPr id="4" name="Picture 3" descr="MITS Deemed to be University (Declared under section 3 of UGC Act, 1956 by  Govt. of India-MoE)">
            <a:extLst>
              <a:ext uri="{FF2B5EF4-FFF2-40B4-BE49-F238E27FC236}">
                <a16:creationId xmlns:a16="http://schemas.microsoft.com/office/drawing/2014/main" id="{D87D302F-1636-82DF-1258-8BCC277CA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9365"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688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BEC48-35A0-3976-5AE9-82CE82896F6C}"/>
              </a:ext>
            </a:extLst>
          </p:cNvPr>
          <p:cNvSpPr>
            <a:spLocks noGrp="1"/>
          </p:cNvSpPr>
          <p:nvPr>
            <p:ph type="title"/>
          </p:nvPr>
        </p:nvSpPr>
        <p:spPr>
          <a:xfrm>
            <a:off x="720000" y="241825"/>
            <a:ext cx="77040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5. System Architecture</a:t>
            </a:r>
            <a:br>
              <a:rPr lang="en-IN" sz="4000" dirty="0">
                <a:solidFill>
                  <a:srgbClr val="002060"/>
                </a:solidFill>
                <a:latin typeface="Times New Roman" panose="02020603050405020304" pitchFamily="18" charset="0"/>
                <a:cs typeface="Times New Roman" panose="02020603050405020304" pitchFamily="18" charset="0"/>
              </a:rPr>
            </a:br>
            <a:endParaRPr lang="en-IN" sz="4000"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2E00419-E40D-9F7A-42BB-B1091DC0FCA5}"/>
              </a:ext>
            </a:extLst>
          </p:cNvPr>
          <p:cNvPicPr>
            <a:picLocks noChangeAspect="1"/>
          </p:cNvPicPr>
          <p:nvPr/>
        </p:nvPicPr>
        <p:blipFill>
          <a:blip r:embed="rId2"/>
          <a:srcRect t="14568" b="4914"/>
          <a:stretch>
            <a:fillRect/>
          </a:stretch>
        </p:blipFill>
        <p:spPr>
          <a:xfrm>
            <a:off x="2363305" y="967408"/>
            <a:ext cx="4417390" cy="3984487"/>
          </a:xfrm>
          <a:prstGeom prst="rect">
            <a:avLst/>
          </a:prstGeom>
        </p:spPr>
      </p:pic>
      <p:pic>
        <p:nvPicPr>
          <p:cNvPr id="3" name="Picture 2" descr="MITS Deemed to be University (Declared under section 3 of UGC Act, 1956 by  Govt. of India-MoE)">
            <a:extLst>
              <a:ext uri="{FF2B5EF4-FFF2-40B4-BE49-F238E27FC236}">
                <a16:creationId xmlns:a16="http://schemas.microsoft.com/office/drawing/2014/main" id="{9953F436-7AF7-7577-AB1E-AA8ACA797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72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467A7-04E4-6BA3-7419-21C879A69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CE75D-6BBC-0868-1926-5A23DFA11A3C}"/>
              </a:ext>
            </a:extLst>
          </p:cNvPr>
          <p:cNvSpPr>
            <a:spLocks noGrp="1"/>
          </p:cNvSpPr>
          <p:nvPr>
            <p:ph type="title"/>
          </p:nvPr>
        </p:nvSpPr>
        <p:spPr>
          <a:xfrm>
            <a:off x="716550" y="82799"/>
            <a:ext cx="77109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5. System Architecture</a:t>
            </a:r>
          </a:p>
        </p:txBody>
      </p:sp>
      <p:sp>
        <p:nvSpPr>
          <p:cNvPr id="3" name="Subtitle 2">
            <a:extLst>
              <a:ext uri="{FF2B5EF4-FFF2-40B4-BE49-F238E27FC236}">
                <a16:creationId xmlns:a16="http://schemas.microsoft.com/office/drawing/2014/main" id="{3EB0B42D-C79D-5DF0-07C7-12AFCF147649}"/>
              </a:ext>
            </a:extLst>
          </p:cNvPr>
          <p:cNvSpPr>
            <a:spLocks noGrp="1"/>
          </p:cNvSpPr>
          <p:nvPr>
            <p:ph type="subTitle" idx="1"/>
          </p:nvPr>
        </p:nvSpPr>
        <p:spPr>
          <a:xfrm>
            <a:off x="732028" y="939202"/>
            <a:ext cx="7679943" cy="1826400"/>
          </a:xfrm>
        </p:spPr>
        <p:txBody>
          <a:bodyPr/>
          <a:lstStyle/>
          <a:p>
            <a:r>
              <a:rPr lang="en-US" sz="1800" dirty="0">
                <a:latin typeface="Times New Roman" panose="02020603050405020304" pitchFamily="18" charset="0"/>
                <a:cs typeface="Times New Roman" panose="02020603050405020304" pitchFamily="18" charset="0"/>
              </a:rPr>
              <a:t>Represents the overall workflow of the proposed system </a:t>
            </a:r>
          </a:p>
          <a:p>
            <a:r>
              <a:rPr lang="en-US" sz="1800" dirty="0">
                <a:latin typeface="Times New Roman" panose="02020603050405020304" pitchFamily="18" charset="0"/>
                <a:cs typeface="Times New Roman" panose="02020603050405020304" pitchFamily="18" charset="0"/>
              </a:rPr>
              <a:t>Data is collected from multiple sources: </a:t>
            </a:r>
          </a:p>
          <a:p>
            <a:pPr lvl="1" algn="l"/>
            <a:r>
              <a:rPr lang="en-US" sz="1800" dirty="0">
                <a:latin typeface="Times New Roman" panose="02020603050405020304" pitchFamily="18" charset="0"/>
                <a:cs typeface="Times New Roman" panose="02020603050405020304" pitchFamily="18" charset="0"/>
              </a:rPr>
              <a:t>Structured data (medical records) </a:t>
            </a:r>
          </a:p>
          <a:p>
            <a:pPr lvl="1" algn="l"/>
            <a:r>
              <a:rPr lang="en-US" sz="1800" dirty="0">
                <a:latin typeface="Times New Roman" panose="02020603050405020304" pitchFamily="18" charset="0"/>
                <a:cs typeface="Times New Roman" panose="02020603050405020304" pitchFamily="18" charset="0"/>
              </a:rPr>
              <a:t>Unstructured data (clinical text, reports) </a:t>
            </a:r>
          </a:p>
          <a:p>
            <a:r>
              <a:rPr lang="en-US" sz="1800" dirty="0">
                <a:latin typeface="Times New Roman" panose="02020603050405020304" pitchFamily="18" charset="0"/>
                <a:cs typeface="Times New Roman" panose="02020603050405020304" pitchFamily="18" charset="0"/>
              </a:rPr>
              <a:t>Data preprocessing is performed: </a:t>
            </a:r>
          </a:p>
          <a:p>
            <a:pPr lvl="1" algn="l"/>
            <a:r>
              <a:rPr lang="en-US" sz="1800" dirty="0">
                <a:latin typeface="Times New Roman" panose="02020603050405020304" pitchFamily="18" charset="0"/>
                <a:cs typeface="Times New Roman" panose="02020603050405020304" pitchFamily="18" charset="0"/>
              </a:rPr>
              <a:t>Cleaning noise and missing values </a:t>
            </a:r>
          </a:p>
          <a:p>
            <a:r>
              <a:rPr lang="en-US" sz="1800" dirty="0">
                <a:latin typeface="Times New Roman" panose="02020603050405020304" pitchFamily="18" charset="0"/>
                <a:cs typeface="Times New Roman" panose="02020603050405020304" pitchFamily="18" charset="0"/>
              </a:rPr>
              <a:t>Feature extraction techniques used: </a:t>
            </a:r>
          </a:p>
          <a:p>
            <a:pPr lvl="1" algn="l"/>
            <a:r>
              <a:rPr lang="en-US" sz="1800" dirty="0">
                <a:latin typeface="Times New Roman" panose="02020603050405020304" pitchFamily="18" charset="0"/>
                <a:cs typeface="Times New Roman" panose="02020603050405020304" pitchFamily="18" charset="0"/>
              </a:rPr>
              <a:t>TF-IDF </a:t>
            </a:r>
          </a:p>
          <a:p>
            <a:pPr lvl="1" algn="l"/>
            <a:r>
              <a:rPr lang="en-US" sz="1800" dirty="0">
                <a:latin typeface="Times New Roman" panose="02020603050405020304" pitchFamily="18" charset="0"/>
                <a:cs typeface="Times New Roman" panose="02020603050405020304" pitchFamily="18" charset="0"/>
              </a:rPr>
              <a:t>NLP embeddings </a:t>
            </a:r>
          </a:p>
          <a:p>
            <a:r>
              <a:rPr lang="en-US" sz="1800" dirty="0">
                <a:latin typeface="Times New Roman" panose="02020603050405020304" pitchFamily="18" charset="0"/>
                <a:cs typeface="Times New Roman" panose="02020603050405020304" pitchFamily="18" charset="0"/>
              </a:rPr>
              <a:t>Transformer-based embeddings capture text meaning </a:t>
            </a:r>
          </a:p>
          <a:p>
            <a:r>
              <a:rPr lang="en-US" sz="1800" dirty="0">
                <a:latin typeface="Times New Roman" panose="02020603050405020304" pitchFamily="18" charset="0"/>
                <a:cs typeface="Times New Roman" panose="02020603050405020304" pitchFamily="18" charset="0"/>
              </a:rPr>
              <a:t>Processed data is fed into the hybrid model </a:t>
            </a:r>
          </a:p>
          <a:p>
            <a:r>
              <a:rPr lang="en-US" sz="1800" dirty="0">
                <a:latin typeface="Times New Roman" panose="02020603050405020304" pitchFamily="18" charset="0"/>
                <a:cs typeface="Times New Roman" panose="02020603050405020304" pitchFamily="18" charset="0"/>
              </a:rPr>
              <a:t>Hybrid model generates predictions </a:t>
            </a:r>
          </a:p>
          <a:p>
            <a:r>
              <a:rPr lang="en-US" sz="1800" dirty="0">
                <a:latin typeface="Times New Roman" panose="02020603050405020304" pitchFamily="18" charset="0"/>
                <a:cs typeface="Times New Roman" panose="02020603050405020304" pitchFamily="18" charset="0"/>
              </a:rPr>
              <a:t>Explainability module (SHAP/LIME) provides interpretation of results </a:t>
            </a:r>
          </a:p>
          <a:p>
            <a:pPr marL="152400" indent="0">
              <a:buNone/>
            </a:pPr>
            <a:endParaRPr lang="en-IN" sz="18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B4A0EC27-ED40-BAD4-AC1C-4B5E3390C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9365"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531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F155B-75B1-D196-627C-867BAF814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5B252-8590-C1E4-06AF-9B65563BED9A}"/>
              </a:ext>
            </a:extLst>
          </p:cNvPr>
          <p:cNvSpPr>
            <a:spLocks noGrp="1"/>
          </p:cNvSpPr>
          <p:nvPr>
            <p:ph type="title"/>
          </p:nvPr>
        </p:nvSpPr>
        <p:spPr>
          <a:xfrm>
            <a:off x="720000" y="197651"/>
            <a:ext cx="77040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6. Proposed Methodology </a:t>
            </a:r>
            <a:br>
              <a:rPr lang="en-IN" sz="4000" dirty="0">
                <a:solidFill>
                  <a:srgbClr val="002060"/>
                </a:solidFill>
                <a:latin typeface="Times New Roman" panose="02020603050405020304" pitchFamily="18" charset="0"/>
                <a:cs typeface="Times New Roman" panose="02020603050405020304" pitchFamily="18" charset="0"/>
              </a:rPr>
            </a:br>
            <a:endParaRPr lang="en-IN" sz="4000" dirty="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281E8DE-B1CE-7EE8-B6BF-2CEC2FD52D43}"/>
              </a:ext>
            </a:extLst>
          </p:cNvPr>
          <p:cNvPicPr>
            <a:picLocks noChangeAspect="1"/>
          </p:cNvPicPr>
          <p:nvPr/>
        </p:nvPicPr>
        <p:blipFill>
          <a:blip r:embed="rId2"/>
          <a:stretch>
            <a:fillRect/>
          </a:stretch>
        </p:blipFill>
        <p:spPr>
          <a:xfrm>
            <a:off x="701326" y="985011"/>
            <a:ext cx="7741348" cy="3666502"/>
          </a:xfrm>
          <a:prstGeom prst="rect">
            <a:avLst/>
          </a:prstGeom>
        </p:spPr>
      </p:pic>
      <p:pic>
        <p:nvPicPr>
          <p:cNvPr id="3" name="Picture 2" descr="MITS Deemed to be University (Declared under section 3 of UGC Act, 1956 by  Govt. of India-MoE)">
            <a:extLst>
              <a:ext uri="{FF2B5EF4-FFF2-40B4-BE49-F238E27FC236}">
                <a16:creationId xmlns:a16="http://schemas.microsoft.com/office/drawing/2014/main" id="{EB8F615C-2C33-2469-3396-EDD53373D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224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DD53-8AE7-70DF-6EB9-E9CD81553D24}"/>
              </a:ext>
            </a:extLst>
          </p:cNvPr>
          <p:cNvSpPr>
            <a:spLocks noGrp="1"/>
          </p:cNvSpPr>
          <p:nvPr>
            <p:ph type="title"/>
          </p:nvPr>
        </p:nvSpPr>
        <p:spPr>
          <a:xfrm>
            <a:off x="716550" y="210903"/>
            <a:ext cx="77109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6. Proposed Methodology </a:t>
            </a:r>
          </a:p>
        </p:txBody>
      </p:sp>
      <p:sp>
        <p:nvSpPr>
          <p:cNvPr id="4" name="Rectangle 1">
            <a:extLst>
              <a:ext uri="{FF2B5EF4-FFF2-40B4-BE49-F238E27FC236}">
                <a16:creationId xmlns:a16="http://schemas.microsoft.com/office/drawing/2014/main" id="{81FF3D91-42ED-054D-0107-12F8F5481013}"/>
              </a:ext>
            </a:extLst>
          </p:cNvPr>
          <p:cNvSpPr>
            <a:spLocks noGrp="1" noChangeArrowheads="1"/>
          </p:cNvSpPr>
          <p:nvPr>
            <p:ph type="subTitle" idx="1"/>
          </p:nvPr>
        </p:nvSpPr>
        <p:spPr bwMode="auto">
          <a:xfrm>
            <a:off x="684695" y="1072759"/>
            <a:ext cx="872434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Step-by-step process to build the proposed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both structured and unstructured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 and preprocess the data to ensure quality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feature extraction techniques (TF-IDF and embeddings)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hybrid model combining ML and DL techniques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model using accuracy and F1-score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SHAP and LIME for explainability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final prediction output for disease detection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descr="MITS Deemed to be University (Declared under section 3 of UGC Act, 1956 by  Govt. of India-MoE)">
            <a:extLst>
              <a:ext uri="{FF2B5EF4-FFF2-40B4-BE49-F238E27FC236}">
                <a16:creationId xmlns:a16="http://schemas.microsoft.com/office/drawing/2014/main" id="{03855E20-556B-99EA-9A14-3C959B013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389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139D6-B2EE-6C06-1A5E-B9A0FEEBA556}"/>
              </a:ext>
            </a:extLst>
          </p:cNvPr>
          <p:cNvSpPr>
            <a:spLocks noGrp="1"/>
          </p:cNvSpPr>
          <p:nvPr>
            <p:ph type="title"/>
          </p:nvPr>
        </p:nvSpPr>
        <p:spPr>
          <a:xfrm>
            <a:off x="716550" y="299251"/>
            <a:ext cx="77109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7. Tools &amp; Technologies</a:t>
            </a:r>
          </a:p>
        </p:txBody>
      </p:sp>
      <p:sp>
        <p:nvSpPr>
          <p:cNvPr id="3" name="Subtitle 2">
            <a:extLst>
              <a:ext uri="{FF2B5EF4-FFF2-40B4-BE49-F238E27FC236}">
                <a16:creationId xmlns:a16="http://schemas.microsoft.com/office/drawing/2014/main" id="{4C50A09B-A67C-CC5B-C1BA-B6B03D9907EB}"/>
              </a:ext>
            </a:extLst>
          </p:cNvPr>
          <p:cNvSpPr>
            <a:spLocks noGrp="1"/>
          </p:cNvSpPr>
          <p:nvPr>
            <p:ph type="subTitle" idx="1"/>
          </p:nvPr>
        </p:nvSpPr>
        <p:spPr>
          <a:xfrm>
            <a:off x="1542470" y="1182157"/>
            <a:ext cx="6629703" cy="1826400"/>
          </a:xfrm>
        </p:spPr>
        <p:txBody>
          <a:bodyPr/>
          <a:lstStyle/>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Programming Language: Python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Libraries: </a:t>
            </a:r>
          </a:p>
          <a:p>
            <a:pPr lvl="1"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Scikit-learn </a:t>
            </a:r>
          </a:p>
          <a:p>
            <a:pPr lvl="1"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TensorFlow / </a:t>
            </a:r>
            <a:r>
              <a:rPr lang="en-IN" sz="2400" dirty="0" err="1">
                <a:latin typeface="Times New Roman" panose="02020603050405020304" pitchFamily="18" charset="0"/>
                <a:cs typeface="Times New Roman" panose="02020603050405020304" pitchFamily="18" charset="0"/>
              </a:rPr>
              <a:t>Keras</a:t>
            </a:r>
            <a:r>
              <a:rPr lang="en-IN" sz="2400" dirty="0">
                <a:latin typeface="Times New Roman" panose="02020603050405020304" pitchFamily="18" charset="0"/>
                <a:cs typeface="Times New Roman" panose="02020603050405020304" pitchFamily="18" charset="0"/>
              </a:rPr>
              <a:t> </a:t>
            </a:r>
          </a:p>
          <a:p>
            <a:pPr lvl="1"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Pandas, NumPy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NLP: </a:t>
            </a:r>
          </a:p>
          <a:p>
            <a:pPr lvl="1"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Transformers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 </a:t>
            </a:r>
          </a:p>
          <a:p>
            <a:pPr lvl="1"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Matplotlib, Seaborn </a:t>
            </a:r>
          </a:p>
          <a:p>
            <a:pPr marL="152400" indent="0">
              <a:buNone/>
            </a:pP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E61C2687-B732-E902-BC70-7F0CEA732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750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C64F-A40E-E3C1-B1DE-C4D321DC3D44}"/>
              </a:ext>
            </a:extLst>
          </p:cNvPr>
          <p:cNvSpPr>
            <a:spLocks noGrp="1"/>
          </p:cNvSpPr>
          <p:nvPr>
            <p:ph type="title"/>
          </p:nvPr>
        </p:nvSpPr>
        <p:spPr>
          <a:xfrm>
            <a:off x="720000" y="215320"/>
            <a:ext cx="7704000" cy="572700"/>
          </a:xfrm>
        </p:spPr>
        <p:txBody>
          <a:bodyPr/>
          <a:lstStyle/>
          <a:p>
            <a:pPr algn="ctr"/>
            <a:r>
              <a:rPr lang="en-US" sz="4000" dirty="0">
                <a:solidFill>
                  <a:srgbClr val="002060"/>
                </a:solidFill>
                <a:latin typeface="Times New Roman" panose="02020603050405020304" pitchFamily="18" charset="0"/>
                <a:cs typeface="Times New Roman" panose="02020603050405020304" pitchFamily="18" charset="0"/>
              </a:rPr>
              <a:t>8. ER Diagram</a:t>
            </a:r>
            <a:endParaRPr lang="en-IN" sz="4000"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C82FADA-C5E1-03B4-B53A-8191CFE9522E}"/>
              </a:ext>
            </a:extLst>
          </p:cNvPr>
          <p:cNvPicPr>
            <a:picLocks noChangeAspect="1"/>
          </p:cNvPicPr>
          <p:nvPr/>
        </p:nvPicPr>
        <p:blipFill>
          <a:blip r:embed="rId2"/>
          <a:stretch>
            <a:fillRect/>
          </a:stretch>
        </p:blipFill>
        <p:spPr>
          <a:xfrm>
            <a:off x="1178700" y="981102"/>
            <a:ext cx="6786599" cy="3665994"/>
          </a:xfrm>
          <a:prstGeom prst="rect">
            <a:avLst/>
          </a:prstGeom>
        </p:spPr>
      </p:pic>
      <p:pic>
        <p:nvPicPr>
          <p:cNvPr id="5" name="Picture 4" descr="MITS Deemed to be University (Declared under section 3 of UGC Act, 1956 by  Govt. of India-MoE)">
            <a:extLst>
              <a:ext uri="{FF2B5EF4-FFF2-40B4-BE49-F238E27FC236}">
                <a16:creationId xmlns:a16="http://schemas.microsoft.com/office/drawing/2014/main" id="{ADEBDC2C-FE9B-7A5D-D0F5-4503A980E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3792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E417-B826-BB9D-15BC-E1DBA1FF9285}"/>
              </a:ext>
            </a:extLst>
          </p:cNvPr>
          <p:cNvSpPr>
            <a:spLocks noGrp="1"/>
          </p:cNvSpPr>
          <p:nvPr>
            <p:ph type="title"/>
          </p:nvPr>
        </p:nvSpPr>
        <p:spPr>
          <a:xfrm>
            <a:off x="716550" y="321338"/>
            <a:ext cx="7710900" cy="572700"/>
          </a:xfrm>
        </p:spPr>
        <p:txBody>
          <a:bodyPr/>
          <a:lstStyle/>
          <a:p>
            <a:pPr algn="ctr"/>
            <a:r>
              <a:rPr lang="en-US" sz="4000" dirty="0">
                <a:solidFill>
                  <a:srgbClr val="002060"/>
                </a:solidFill>
                <a:latin typeface="Times New Roman" panose="02020603050405020304" pitchFamily="18" charset="0"/>
                <a:cs typeface="Times New Roman" panose="02020603050405020304" pitchFamily="18" charset="0"/>
              </a:rPr>
              <a:t>8. ER Diagram</a:t>
            </a: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5325F28-7B59-9F55-8561-1BEC1A8160FC}"/>
              </a:ext>
            </a:extLst>
          </p:cNvPr>
          <p:cNvSpPr>
            <a:spLocks noGrp="1"/>
          </p:cNvSpPr>
          <p:nvPr>
            <p:ph type="subTitle" idx="1"/>
          </p:nvPr>
        </p:nvSpPr>
        <p:spPr>
          <a:xfrm>
            <a:off x="437322" y="1151236"/>
            <a:ext cx="8962887" cy="1826400"/>
          </a:xfrm>
        </p:spPr>
        <p:txBody>
          <a:bodyPr/>
          <a:lstStyle/>
          <a:p>
            <a:pPr marL="152400" indent="0" algn="ctr">
              <a:buNone/>
            </a:pPr>
            <a:r>
              <a:rPr lang="en-US" sz="20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Relationships Between Entities</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Patient → Medical Record (HAS)</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Each patient </a:t>
            </a:r>
            <a:r>
              <a:rPr lang="en-US" sz="2000" b="1" dirty="0">
                <a:latin typeface="Times New Roman" panose="02020603050405020304" pitchFamily="18" charset="0"/>
                <a:cs typeface="Times New Roman" panose="02020603050405020304" pitchFamily="18" charset="0"/>
              </a:rPr>
              <a:t>has one or more medical records</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This shows data collection from patients. </a:t>
            </a:r>
          </a:p>
          <a:p>
            <a:r>
              <a:rPr lang="en-US" sz="2000" b="1" dirty="0">
                <a:latin typeface="Times New Roman" panose="02020603050405020304" pitchFamily="18" charset="0"/>
                <a:cs typeface="Times New Roman" panose="02020603050405020304" pitchFamily="18" charset="0"/>
              </a:rPr>
              <a:t>Medical Record → Disease (RELATES TO)</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Medical records are </a:t>
            </a:r>
            <a:r>
              <a:rPr lang="en-US" sz="2000" b="1" dirty="0">
                <a:latin typeface="Times New Roman" panose="02020603050405020304" pitchFamily="18" charset="0"/>
                <a:cs typeface="Times New Roman" panose="02020603050405020304" pitchFamily="18" charset="0"/>
              </a:rPr>
              <a:t>linked to specific diseases</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Helps in identifying existing or past health conditions. </a:t>
            </a:r>
          </a:p>
          <a:p>
            <a:r>
              <a:rPr lang="en-US" sz="2000" b="1" dirty="0">
                <a:latin typeface="Times New Roman" panose="02020603050405020304" pitchFamily="18" charset="0"/>
                <a:cs typeface="Times New Roman" panose="02020603050405020304" pitchFamily="18" charset="0"/>
              </a:rPr>
              <a:t>Medical Record → Prediction (GENERATES)</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The system uses medical records to </a:t>
            </a:r>
            <a:r>
              <a:rPr lang="en-US" sz="2000" b="1" dirty="0">
                <a:latin typeface="Times New Roman" panose="02020603050405020304" pitchFamily="18" charset="0"/>
                <a:cs typeface="Times New Roman" panose="02020603050405020304" pitchFamily="18" charset="0"/>
              </a:rPr>
              <a:t>generate predictions</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Prediction is based on ML/DL models analyzing the data.</a:t>
            </a:r>
          </a:p>
          <a:p>
            <a:pPr marL="152400" indent="0">
              <a:buNone/>
            </a:pPr>
            <a:endParaRPr lang="en-IN" sz="20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081DCF6E-421E-F438-1B94-E0BA1FDE3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509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1160-A7E9-E0C1-9083-9D04795C78D6}"/>
              </a:ext>
            </a:extLst>
          </p:cNvPr>
          <p:cNvSpPr>
            <a:spLocks noGrp="1"/>
          </p:cNvSpPr>
          <p:nvPr>
            <p:ph type="title"/>
          </p:nvPr>
        </p:nvSpPr>
        <p:spPr>
          <a:xfrm>
            <a:off x="720000" y="188816"/>
            <a:ext cx="7704000" cy="572700"/>
          </a:xfrm>
        </p:spPr>
        <p:txBody>
          <a:bodyPr/>
          <a:lstStyle/>
          <a:p>
            <a:pPr algn="ctr"/>
            <a:r>
              <a:rPr lang="en-US" sz="4000" dirty="0">
                <a:solidFill>
                  <a:srgbClr val="002060"/>
                </a:solidFill>
                <a:latin typeface="Times New Roman" panose="02020603050405020304" pitchFamily="18" charset="0"/>
                <a:cs typeface="Times New Roman" panose="02020603050405020304" pitchFamily="18" charset="0"/>
              </a:rPr>
              <a:t>9. UML Diagram</a:t>
            </a:r>
            <a:endParaRPr lang="en-IN" sz="4000"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2B1D3AB-403D-0972-094F-4889EBD2A5E0}"/>
              </a:ext>
            </a:extLst>
          </p:cNvPr>
          <p:cNvPicPr>
            <a:picLocks noChangeAspect="1"/>
          </p:cNvPicPr>
          <p:nvPr/>
        </p:nvPicPr>
        <p:blipFill>
          <a:blip r:embed="rId2"/>
          <a:stretch>
            <a:fillRect/>
          </a:stretch>
        </p:blipFill>
        <p:spPr>
          <a:xfrm>
            <a:off x="1635460" y="1011583"/>
            <a:ext cx="5873080" cy="3751069"/>
          </a:xfrm>
          <a:prstGeom prst="rect">
            <a:avLst/>
          </a:prstGeom>
        </p:spPr>
      </p:pic>
      <p:pic>
        <p:nvPicPr>
          <p:cNvPr id="5" name="Picture 4" descr="MITS Deemed to be University (Declared under section 3 of UGC Act, 1956 by  Govt. of India-MoE)">
            <a:extLst>
              <a:ext uri="{FF2B5EF4-FFF2-40B4-BE49-F238E27FC236}">
                <a16:creationId xmlns:a16="http://schemas.microsoft.com/office/drawing/2014/main" id="{8D97B96F-F95A-A5A7-E186-E804749D2C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563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F4232-C5B4-7BEF-C14E-FABBCA8F1E5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0F91711-3426-C88D-1B3B-135706922562}"/>
              </a:ext>
            </a:extLst>
          </p:cNvPr>
          <p:cNvSpPr>
            <a:spLocks noGrp="1"/>
          </p:cNvSpPr>
          <p:nvPr>
            <p:ph type="subTitle" idx="1"/>
          </p:nvPr>
        </p:nvSpPr>
        <p:spPr>
          <a:xfrm>
            <a:off x="812800" y="1160070"/>
            <a:ext cx="7385878" cy="1826400"/>
          </a:xfrm>
        </p:spPr>
        <p:txBody>
          <a:bodyPr/>
          <a:lstStyle/>
          <a:p>
            <a:r>
              <a:rPr lang="en-US" sz="2000" b="1" dirty="0">
                <a:latin typeface="Times New Roman" panose="02020603050405020304" pitchFamily="18" charset="0"/>
                <a:cs typeface="Times New Roman" panose="02020603050405020304" pitchFamily="18" charset="0"/>
              </a:rPr>
              <a:t>Actor: Admin / Doctor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Person who interacts with the system </a:t>
            </a:r>
          </a:p>
          <a:p>
            <a:r>
              <a:rPr lang="en-US" sz="2000" b="1" dirty="0">
                <a:latin typeface="Times New Roman" panose="02020603050405020304" pitchFamily="18" charset="0"/>
                <a:cs typeface="Times New Roman" panose="02020603050405020304" pitchFamily="18" charset="0"/>
              </a:rPr>
              <a:t>Upload Data</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Adds patient data into the system </a:t>
            </a:r>
          </a:p>
          <a:p>
            <a:r>
              <a:rPr lang="en-US" sz="2000" b="1" dirty="0">
                <a:latin typeface="Times New Roman" panose="02020603050405020304" pitchFamily="18" charset="0"/>
                <a:cs typeface="Times New Roman" panose="02020603050405020304" pitchFamily="18" charset="0"/>
              </a:rPr>
              <a:t>Train Model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Trains the ML/DL model using data </a:t>
            </a:r>
          </a:p>
          <a:p>
            <a:r>
              <a:rPr lang="en-US" sz="2000" b="1" dirty="0">
                <a:latin typeface="Times New Roman" panose="02020603050405020304" pitchFamily="18" charset="0"/>
                <a:cs typeface="Times New Roman" panose="02020603050405020304" pitchFamily="18" charset="0"/>
              </a:rPr>
              <a:t>Predict Disease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System predicts disease based on input </a:t>
            </a:r>
          </a:p>
          <a:p>
            <a:r>
              <a:rPr lang="en-US" sz="2000" b="1" dirty="0">
                <a:latin typeface="Times New Roman" panose="02020603050405020304" pitchFamily="18" charset="0"/>
                <a:cs typeface="Times New Roman" panose="02020603050405020304" pitchFamily="18" charset="0"/>
              </a:rPr>
              <a:t>View Results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Displays prediction output </a:t>
            </a:r>
          </a:p>
          <a:p>
            <a:pPr marL="152400" indent="0">
              <a:buNone/>
            </a:pPr>
            <a:endParaRPr lang="en-IN" sz="20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2548DE1F-B1F3-7F42-4355-8CB2B6A0A05C}"/>
              </a:ext>
            </a:extLst>
          </p:cNvPr>
          <p:cNvSpPr txBox="1">
            <a:spLocks/>
          </p:cNvSpPr>
          <p:nvPr/>
        </p:nvSpPr>
        <p:spPr>
          <a:xfrm>
            <a:off x="720000" y="188816"/>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9pPr>
          </a:lstStyle>
          <a:p>
            <a:pPr algn="ctr"/>
            <a:r>
              <a:rPr lang="en-US" sz="4000" dirty="0">
                <a:solidFill>
                  <a:srgbClr val="002060"/>
                </a:solidFill>
                <a:latin typeface="Times New Roman" panose="02020603050405020304" pitchFamily="18" charset="0"/>
                <a:cs typeface="Times New Roman" panose="02020603050405020304" pitchFamily="18" charset="0"/>
              </a:rPr>
              <a:t>9. UML Diagram</a:t>
            </a:r>
            <a:endParaRPr lang="en-IN" sz="4000" dirty="0">
              <a:solidFill>
                <a:srgbClr val="002060"/>
              </a:solidFill>
              <a:latin typeface="Times New Roman" panose="02020603050405020304" pitchFamily="18" charset="0"/>
              <a:cs typeface="Times New Roman" panose="02020603050405020304" pitchFamily="18" charset="0"/>
            </a:endParaRPr>
          </a:p>
        </p:txBody>
      </p:sp>
      <p:pic>
        <p:nvPicPr>
          <p:cNvPr id="7" name="Picture 6" descr="MITS Deemed to be University (Declared under section 3 of UGC Act, 1956 by  Govt. of India-MoE)">
            <a:extLst>
              <a:ext uri="{FF2B5EF4-FFF2-40B4-BE49-F238E27FC236}">
                <a16:creationId xmlns:a16="http://schemas.microsoft.com/office/drawing/2014/main" id="{A368F4C8-ABC5-4D2A-B90F-7F3BDBABD3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242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6248-3377-A02A-47AA-1860E7249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9006D-1833-EE0B-0B6A-9476AD35A3F1}"/>
              </a:ext>
            </a:extLst>
          </p:cNvPr>
          <p:cNvSpPr>
            <a:spLocks noGrp="1"/>
          </p:cNvSpPr>
          <p:nvPr>
            <p:ph type="title"/>
          </p:nvPr>
        </p:nvSpPr>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10. DFD Diagram (Level 0)</a:t>
            </a:r>
          </a:p>
        </p:txBody>
      </p:sp>
      <p:pic>
        <p:nvPicPr>
          <p:cNvPr id="5" name="Picture 4">
            <a:extLst>
              <a:ext uri="{FF2B5EF4-FFF2-40B4-BE49-F238E27FC236}">
                <a16:creationId xmlns:a16="http://schemas.microsoft.com/office/drawing/2014/main" id="{1E45E70E-8447-50C8-792B-7B5BB792E572}"/>
              </a:ext>
            </a:extLst>
          </p:cNvPr>
          <p:cNvPicPr>
            <a:picLocks noChangeAspect="1"/>
          </p:cNvPicPr>
          <p:nvPr/>
        </p:nvPicPr>
        <p:blipFill>
          <a:blip r:embed="rId2"/>
          <a:stretch>
            <a:fillRect/>
          </a:stretch>
        </p:blipFill>
        <p:spPr>
          <a:xfrm>
            <a:off x="653774" y="1644484"/>
            <a:ext cx="7867373" cy="2419518"/>
          </a:xfrm>
          <a:prstGeom prst="rect">
            <a:avLst/>
          </a:prstGeom>
        </p:spPr>
      </p:pic>
      <p:pic>
        <p:nvPicPr>
          <p:cNvPr id="6" name="Picture 5" descr="MITS Deemed to be University (Declared under section 3 of UGC Act, 1956 by  Govt. of India-MoE)">
            <a:extLst>
              <a:ext uri="{FF2B5EF4-FFF2-40B4-BE49-F238E27FC236}">
                <a16:creationId xmlns:a16="http://schemas.microsoft.com/office/drawing/2014/main" id="{5EB8F403-CA2D-4DB4-97C2-AFE38C134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444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0C0CD-9D29-3714-52F5-C5175333671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BBB6C0A-9EAE-0DB2-7C2C-61C0CC33D6C8}"/>
              </a:ext>
            </a:extLst>
          </p:cNvPr>
          <p:cNvPicPr>
            <a:picLocks noChangeAspect="1"/>
          </p:cNvPicPr>
          <p:nvPr/>
        </p:nvPicPr>
        <p:blipFill>
          <a:blip r:embed="rId2"/>
          <a:srcRect t="7497"/>
          <a:stretch>
            <a:fillRect/>
          </a:stretch>
        </p:blipFill>
        <p:spPr>
          <a:xfrm>
            <a:off x="3048001" y="777461"/>
            <a:ext cx="2694608" cy="4203727"/>
          </a:xfrm>
          <a:prstGeom prst="rect">
            <a:avLst/>
          </a:prstGeom>
        </p:spPr>
      </p:pic>
      <p:sp>
        <p:nvSpPr>
          <p:cNvPr id="10" name="Title 1">
            <a:extLst>
              <a:ext uri="{FF2B5EF4-FFF2-40B4-BE49-F238E27FC236}">
                <a16:creationId xmlns:a16="http://schemas.microsoft.com/office/drawing/2014/main" id="{E22B7A14-0A08-A7AB-8E24-B88812C9CD7D}"/>
              </a:ext>
            </a:extLst>
          </p:cNvPr>
          <p:cNvSpPr txBox="1">
            <a:spLocks/>
          </p:cNvSpPr>
          <p:nvPr/>
        </p:nvSpPr>
        <p:spPr>
          <a:xfrm>
            <a:off x="867982" y="894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Raleway"/>
              <a:buNone/>
              <a:defRPr sz="3000" b="1" i="0" u="none" strike="noStrike" cap="none">
                <a:solidFill>
                  <a:schemeClr val="dk1"/>
                </a:solidFill>
                <a:latin typeface="Raleway"/>
                <a:ea typeface="Raleway"/>
                <a:cs typeface="Raleway"/>
                <a:sym typeface="Raleway"/>
              </a:defRPr>
            </a:lvl1pPr>
            <a:lvl2pPr marR="0" lvl="1"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3500"/>
              <a:buFont typeface="Raleway"/>
              <a:buNone/>
              <a:defRPr sz="3500" b="1" i="0" u="none" strike="noStrike" cap="none">
                <a:solidFill>
                  <a:schemeClr val="dk1"/>
                </a:solidFill>
                <a:latin typeface="Raleway"/>
                <a:ea typeface="Raleway"/>
                <a:cs typeface="Raleway"/>
                <a:sym typeface="Raleway"/>
              </a:defRPr>
            </a:lvl9pPr>
          </a:lstStyle>
          <a:p>
            <a:pPr algn="ctr"/>
            <a:r>
              <a:rPr lang="en-IN" sz="4000" dirty="0">
                <a:solidFill>
                  <a:srgbClr val="002060"/>
                </a:solidFill>
                <a:latin typeface="Times New Roman" panose="02020603050405020304" pitchFamily="18" charset="0"/>
                <a:cs typeface="Times New Roman" panose="02020603050405020304" pitchFamily="18" charset="0"/>
              </a:rPr>
              <a:t>10. DFD Diagram (Level 1)</a:t>
            </a:r>
          </a:p>
        </p:txBody>
      </p:sp>
      <p:pic>
        <p:nvPicPr>
          <p:cNvPr id="11" name="Picture 10" descr="MITS Deemed to be University (Declared under section 3 of UGC Act, 1956 by  Govt. of India-MoE)">
            <a:extLst>
              <a:ext uri="{FF2B5EF4-FFF2-40B4-BE49-F238E27FC236}">
                <a16:creationId xmlns:a16="http://schemas.microsoft.com/office/drawing/2014/main" id="{238CCBA8-1957-2A8C-0A24-7C91F8027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4069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27F1-F593-5D08-A121-FA14FC0AA3A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E5EC78D-63F3-070B-078E-8C18B865AA27}"/>
              </a:ext>
            </a:extLst>
          </p:cNvPr>
          <p:cNvSpPr>
            <a:spLocks noGrp="1"/>
          </p:cNvSpPr>
          <p:nvPr>
            <p:ph type="subTitle" idx="1"/>
          </p:nvPr>
        </p:nvSpPr>
        <p:spPr>
          <a:xfrm>
            <a:off x="492539" y="1341183"/>
            <a:ext cx="8158921" cy="2263408"/>
          </a:xfrm>
        </p:spPr>
        <p:txBody>
          <a:bodyPr/>
          <a:lstStyle/>
          <a:p>
            <a:r>
              <a:rPr lang="en-US" sz="2000" b="1" dirty="0">
                <a:latin typeface="Times New Roman" panose="02020603050405020304" pitchFamily="18" charset="0"/>
                <a:cs typeface="Times New Roman" panose="02020603050405020304" pitchFamily="18" charset="0"/>
              </a:rPr>
              <a:t>Input Data - </a:t>
            </a:r>
            <a:r>
              <a:rPr lang="en-US" sz="2000" dirty="0">
                <a:latin typeface="Times New Roman" panose="02020603050405020304" pitchFamily="18" charset="0"/>
                <a:cs typeface="Times New Roman" panose="02020603050405020304" pitchFamily="18" charset="0"/>
              </a:rPr>
              <a:t>Raw patient data is collected (reports, symptoms, history) </a:t>
            </a:r>
          </a:p>
          <a:p>
            <a:r>
              <a:rPr lang="en-US" sz="2000" b="1" dirty="0">
                <a:latin typeface="Times New Roman" panose="02020603050405020304" pitchFamily="18" charset="0"/>
                <a:cs typeface="Times New Roman" panose="02020603050405020304" pitchFamily="18" charset="0"/>
              </a:rPr>
              <a:t>Preprocessing - </a:t>
            </a:r>
            <a:r>
              <a:rPr lang="en-US" sz="2000" dirty="0">
                <a:latin typeface="Times New Roman" panose="02020603050405020304" pitchFamily="18" charset="0"/>
                <a:cs typeface="Times New Roman" panose="02020603050405020304" pitchFamily="18" charset="0"/>
              </a:rPr>
              <a:t>Data is cleaned, formatted, and converted into usable form </a:t>
            </a:r>
          </a:p>
          <a:p>
            <a:r>
              <a:rPr lang="en-US" sz="2000" b="1" dirty="0">
                <a:latin typeface="Times New Roman" panose="02020603050405020304" pitchFamily="18" charset="0"/>
                <a:cs typeface="Times New Roman" panose="02020603050405020304" pitchFamily="18" charset="0"/>
              </a:rPr>
              <a:t>Model - </a:t>
            </a:r>
            <a:r>
              <a:rPr lang="en-US" sz="2000" dirty="0">
                <a:latin typeface="Times New Roman" panose="02020603050405020304" pitchFamily="18" charset="0"/>
                <a:cs typeface="Times New Roman" panose="02020603050405020304" pitchFamily="18" charset="0"/>
              </a:rPr>
              <a:t>ML/DL model analyzes the processed data </a:t>
            </a:r>
          </a:p>
          <a:p>
            <a:r>
              <a:rPr lang="en-US" sz="2000" b="1" dirty="0">
                <a:latin typeface="Times New Roman" panose="02020603050405020304" pitchFamily="18" charset="0"/>
                <a:cs typeface="Times New Roman" panose="02020603050405020304" pitchFamily="18" charset="0"/>
              </a:rPr>
              <a:t>Prediction - </a:t>
            </a:r>
            <a:r>
              <a:rPr lang="en-US" sz="2000" dirty="0">
                <a:latin typeface="Times New Roman" panose="02020603050405020304" pitchFamily="18" charset="0"/>
                <a:cs typeface="Times New Roman" panose="02020603050405020304" pitchFamily="18" charset="0"/>
              </a:rPr>
              <a:t>System predicts disease or risk level </a:t>
            </a:r>
          </a:p>
          <a:p>
            <a:r>
              <a:rPr lang="en-US" sz="2000" b="1" dirty="0">
                <a:latin typeface="Times New Roman" panose="02020603050405020304" pitchFamily="18" charset="0"/>
                <a:cs typeface="Times New Roman" panose="02020603050405020304" pitchFamily="18" charset="0"/>
              </a:rPr>
              <a:t>Output - </a:t>
            </a:r>
            <a:r>
              <a:rPr lang="en-US" sz="2000" dirty="0">
                <a:latin typeface="Times New Roman" panose="02020603050405020304" pitchFamily="18" charset="0"/>
                <a:cs typeface="Times New Roman" panose="02020603050405020304" pitchFamily="18" charset="0"/>
              </a:rPr>
              <a:t>Final result is displayed to the user </a:t>
            </a:r>
          </a:p>
          <a:p>
            <a:pPr marL="152400" indent="0">
              <a:buNone/>
            </a:pPr>
            <a:endParaRPr lang="en-IN"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F3BF0FF1-7C6B-0A78-11AE-2FA444C3E988}"/>
              </a:ext>
            </a:extLst>
          </p:cNvPr>
          <p:cNvSpPr>
            <a:spLocks noGrp="1"/>
          </p:cNvSpPr>
          <p:nvPr>
            <p:ph type="title"/>
          </p:nvPr>
        </p:nvSpPr>
        <p:spPr>
          <a:xfrm>
            <a:off x="720000" y="219738"/>
            <a:ext cx="77040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10. DFD Diagram</a:t>
            </a:r>
          </a:p>
        </p:txBody>
      </p:sp>
      <p:pic>
        <p:nvPicPr>
          <p:cNvPr id="8" name="Picture 7" descr="MITS Deemed to be University (Declared under section 3 of UGC Act, 1956 by  Govt. of India-MoE)">
            <a:extLst>
              <a:ext uri="{FF2B5EF4-FFF2-40B4-BE49-F238E27FC236}">
                <a16:creationId xmlns:a16="http://schemas.microsoft.com/office/drawing/2014/main" id="{9A0C9E71-5573-51F2-C356-2317D3340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7734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8"/>
          <p:cNvSpPr txBox="1">
            <a:spLocks noGrp="1"/>
          </p:cNvSpPr>
          <p:nvPr>
            <p:ph type="title"/>
          </p:nvPr>
        </p:nvSpPr>
        <p:spPr>
          <a:xfrm>
            <a:off x="-238557" y="343425"/>
            <a:ext cx="8843652" cy="572700"/>
          </a:xfrm>
          <a:prstGeom prst="rect">
            <a:avLst/>
          </a:prstGeom>
        </p:spPr>
        <p:txBody>
          <a:bodyPr spcFirstLastPara="1" wrap="square" lIns="91425" tIns="91425" rIns="91425" bIns="91425" anchor="t" anchorCtr="0">
            <a:noAutofit/>
          </a:bodyPr>
          <a:lstStyle/>
          <a:p>
            <a:pPr lvl="0" algn="ctr"/>
            <a:r>
              <a:rPr lang="en-IN" sz="3200" dirty="0">
                <a:solidFill>
                  <a:srgbClr val="002060"/>
                </a:solidFill>
                <a:latin typeface="Times New Roman" panose="02020603050405020304" pitchFamily="18" charset="0"/>
                <a:cs typeface="Times New Roman" panose="02020603050405020304" pitchFamily="18" charset="0"/>
              </a:rPr>
              <a:t>11. Software Requirement Specification</a:t>
            </a:r>
            <a:endParaRPr sz="3200" dirty="0">
              <a:solidFill>
                <a:srgbClr val="002060"/>
              </a:solidFill>
              <a:latin typeface="Times New Roman" panose="02020603050405020304" pitchFamily="18" charset="0"/>
              <a:cs typeface="Times New Roman" panose="02020603050405020304" pitchFamily="18" charset="0"/>
            </a:endParaRPr>
          </a:p>
        </p:txBody>
      </p:sp>
      <p:sp>
        <p:nvSpPr>
          <p:cNvPr id="361" name="Google Shape;361;p48"/>
          <p:cNvSpPr txBox="1">
            <a:spLocks noGrp="1"/>
          </p:cNvSpPr>
          <p:nvPr>
            <p:ph type="subTitle" idx="1"/>
          </p:nvPr>
        </p:nvSpPr>
        <p:spPr>
          <a:xfrm>
            <a:off x="4898325" y="2188025"/>
            <a:ext cx="2460900" cy="16623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Accuracy </a:t>
            </a:r>
          </a:p>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Scalability </a:t>
            </a:r>
          </a:p>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Security </a:t>
            </a:r>
          </a:p>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Performance </a:t>
            </a:r>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62" name="Google Shape;362;p48"/>
          <p:cNvSpPr txBox="1">
            <a:spLocks noGrp="1"/>
          </p:cNvSpPr>
          <p:nvPr>
            <p:ph type="subTitle" idx="2"/>
          </p:nvPr>
        </p:nvSpPr>
        <p:spPr>
          <a:xfrm>
            <a:off x="459676" y="2125645"/>
            <a:ext cx="4041913" cy="16623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input and processing </a:t>
            </a:r>
          </a:p>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training </a:t>
            </a:r>
          </a:p>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Prediction generation </a:t>
            </a:r>
          </a:p>
          <a:p>
            <a:pPr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 visualization </a:t>
            </a:r>
          </a:p>
        </p:txBody>
      </p:sp>
      <p:sp>
        <p:nvSpPr>
          <p:cNvPr id="363" name="Google Shape;363;p48"/>
          <p:cNvSpPr txBox="1">
            <a:spLocks noGrp="1"/>
          </p:cNvSpPr>
          <p:nvPr>
            <p:ph type="subTitle" idx="3"/>
          </p:nvPr>
        </p:nvSpPr>
        <p:spPr>
          <a:xfrm>
            <a:off x="715616" y="1586094"/>
            <a:ext cx="3530034" cy="492600"/>
          </a:xfrm>
          <a:prstGeom prst="rect">
            <a:avLst/>
          </a:prstGeom>
        </p:spPr>
        <p:txBody>
          <a:bodyPr spcFirstLastPara="1" wrap="square" lIns="91425" tIns="91425" rIns="91425" bIns="91425" anchor="b" anchorCtr="0">
            <a:noAutofit/>
          </a:bodyPr>
          <a:lstStyle/>
          <a:p>
            <a:pPr marL="0" indent="0"/>
            <a:r>
              <a:rPr lang="en-US" sz="2400" dirty="0">
                <a:latin typeface="Times New Roman" panose="02020603050405020304" pitchFamily="18" charset="0"/>
                <a:cs typeface="Times New Roman" panose="02020603050405020304" pitchFamily="18" charset="0"/>
              </a:rPr>
              <a:t>Functional Requirements</a:t>
            </a:r>
          </a:p>
        </p:txBody>
      </p:sp>
      <p:sp>
        <p:nvSpPr>
          <p:cNvPr id="364" name="Google Shape;364;p48"/>
          <p:cNvSpPr txBox="1">
            <a:spLocks noGrp="1"/>
          </p:cNvSpPr>
          <p:nvPr>
            <p:ph type="subTitle" idx="4"/>
          </p:nvPr>
        </p:nvSpPr>
        <p:spPr>
          <a:xfrm>
            <a:off x="4572000" y="1617016"/>
            <a:ext cx="4404676" cy="492600"/>
          </a:xfrm>
          <a:prstGeom prst="rect">
            <a:avLst/>
          </a:prstGeom>
        </p:spPr>
        <p:txBody>
          <a:bodyPr spcFirstLastPara="1" wrap="square" lIns="91425" tIns="91425" rIns="91425" bIns="91425" anchor="b" anchorCtr="0">
            <a:noAutofit/>
          </a:bodyPr>
          <a:lstStyle/>
          <a:p>
            <a:r>
              <a:rPr lang="en-US" sz="2400" dirty="0">
                <a:latin typeface="Times New Roman" panose="02020603050405020304" pitchFamily="18" charset="0"/>
                <a:cs typeface="Times New Roman" panose="02020603050405020304" pitchFamily="18" charset="0"/>
              </a:rPr>
              <a:t>Non-Functional Requirements</a:t>
            </a:r>
          </a:p>
        </p:txBody>
      </p:sp>
      <p:pic>
        <p:nvPicPr>
          <p:cNvPr id="2" name="Picture 1" descr="MITS Deemed to be University (Declared under section 3 of UGC Act, 1956 by  Govt. of India-MoE)">
            <a:extLst>
              <a:ext uri="{FF2B5EF4-FFF2-40B4-BE49-F238E27FC236}">
                <a16:creationId xmlns:a16="http://schemas.microsoft.com/office/drawing/2014/main" id="{8CA2E23F-190E-9DD4-45E7-91587F10E9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33614-7BC7-F908-91BA-071744D96CDB}"/>
              </a:ext>
            </a:extLst>
          </p:cNvPr>
          <p:cNvSpPr>
            <a:spLocks noGrp="1"/>
          </p:cNvSpPr>
          <p:nvPr>
            <p:ph type="title"/>
          </p:nvPr>
        </p:nvSpPr>
        <p:spPr>
          <a:xfrm>
            <a:off x="716550" y="201220"/>
            <a:ext cx="7710900" cy="572700"/>
          </a:xfrm>
        </p:spPr>
        <p:txBody>
          <a:bodyPr/>
          <a:lstStyle/>
          <a:p>
            <a:pPr algn="ctr"/>
            <a:r>
              <a:rPr lang="en-US" sz="4000" dirty="0">
                <a:solidFill>
                  <a:srgbClr val="002060"/>
                </a:solidFill>
                <a:latin typeface="Times New Roman" panose="02020603050405020304" pitchFamily="18" charset="0"/>
                <a:cs typeface="Times New Roman" panose="02020603050405020304" pitchFamily="18" charset="0"/>
              </a:rPr>
              <a:t>12. Future Work Timeline</a:t>
            </a:r>
            <a:endParaRPr lang="en-IN" sz="4000" dirty="0">
              <a:solidFill>
                <a:srgbClr val="00206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F0AB27B-1A3A-CF04-0C87-0722D81448F7}"/>
              </a:ext>
            </a:extLst>
          </p:cNvPr>
          <p:cNvSpPr>
            <a:spLocks noGrp="1"/>
          </p:cNvSpPr>
          <p:nvPr>
            <p:ph type="subTitle" idx="1"/>
          </p:nvPr>
        </p:nvSpPr>
        <p:spPr>
          <a:xfrm>
            <a:off x="190747" y="1901506"/>
            <a:ext cx="4725810" cy="1826400"/>
          </a:xfrm>
        </p:spPr>
        <p:txBody>
          <a:bodyPr/>
          <a:lstStyle/>
          <a:p>
            <a:pPr marL="152400" indent="0">
              <a:buNone/>
            </a:pPr>
            <a:r>
              <a:rPr lang="en-US" sz="2000" b="1" dirty="0">
                <a:latin typeface="Times New Roman" panose="02020603050405020304" pitchFamily="18" charset="0"/>
                <a:cs typeface="Times New Roman" panose="02020603050405020304" pitchFamily="18" charset="0"/>
              </a:rPr>
              <a:t>Phase 1:</a:t>
            </a:r>
            <a:r>
              <a:rPr lang="en-US" sz="2000" dirty="0">
                <a:latin typeface="Times New Roman" panose="02020603050405020304" pitchFamily="18" charset="0"/>
                <a:cs typeface="Times New Roman" panose="02020603050405020304" pitchFamily="18" charset="0"/>
              </a:rPr>
              <a:t> Data Collection &amp; Preprocessing</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Phase 2:</a:t>
            </a:r>
            <a:r>
              <a:rPr lang="en-US" sz="2000" dirty="0">
                <a:latin typeface="Times New Roman" panose="02020603050405020304" pitchFamily="18" charset="0"/>
                <a:cs typeface="Times New Roman" panose="02020603050405020304" pitchFamily="18" charset="0"/>
              </a:rPr>
              <a:t> Model Development</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Phase 3:</a:t>
            </a:r>
            <a:r>
              <a:rPr lang="en-US" sz="2000" dirty="0">
                <a:latin typeface="Times New Roman" panose="02020603050405020304" pitchFamily="18" charset="0"/>
                <a:cs typeface="Times New Roman" panose="02020603050405020304" pitchFamily="18" charset="0"/>
              </a:rPr>
              <a:t> Evaluation &amp; Optimization</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Phase 4:</a:t>
            </a:r>
            <a:r>
              <a:rPr lang="en-US" sz="2000" dirty="0">
                <a:latin typeface="Times New Roman" panose="02020603050405020304" pitchFamily="18" charset="0"/>
                <a:cs typeface="Times New Roman" panose="02020603050405020304" pitchFamily="18" charset="0"/>
              </a:rPr>
              <a:t> Deployment</a:t>
            </a:r>
          </a:p>
          <a:p>
            <a:pPr marL="15240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57B0A0D-9D34-5B52-E616-C545DFA5C880}"/>
              </a:ext>
            </a:extLst>
          </p:cNvPr>
          <p:cNvPicPr>
            <a:picLocks noChangeAspect="1"/>
          </p:cNvPicPr>
          <p:nvPr/>
        </p:nvPicPr>
        <p:blipFill>
          <a:blip r:embed="rId2"/>
          <a:srcRect b="6216"/>
          <a:stretch>
            <a:fillRect/>
          </a:stretch>
        </p:blipFill>
        <p:spPr>
          <a:xfrm>
            <a:off x="4386470" y="936487"/>
            <a:ext cx="4619313" cy="3962400"/>
          </a:xfrm>
          <a:prstGeom prst="rect">
            <a:avLst/>
          </a:prstGeom>
        </p:spPr>
      </p:pic>
      <p:pic>
        <p:nvPicPr>
          <p:cNvPr id="6" name="Picture 5" descr="MITS Deemed to be University (Declared under section 3 of UGC Act, 1956 by  Govt. of India-MoE)">
            <a:extLst>
              <a:ext uri="{FF2B5EF4-FFF2-40B4-BE49-F238E27FC236}">
                <a16:creationId xmlns:a16="http://schemas.microsoft.com/office/drawing/2014/main" id="{CFF8C9E9-6191-09E1-F935-D2933E20A7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7613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562A7-0D5D-FEBD-155F-5A38B6DD6669}"/>
              </a:ext>
            </a:extLst>
          </p:cNvPr>
          <p:cNvSpPr>
            <a:spLocks noGrp="1"/>
          </p:cNvSpPr>
          <p:nvPr>
            <p:ph type="title"/>
          </p:nvPr>
        </p:nvSpPr>
        <p:spPr>
          <a:xfrm>
            <a:off x="720000" y="308086"/>
            <a:ext cx="7704000" cy="572700"/>
          </a:xfrm>
        </p:spPr>
        <p:txBody>
          <a:bodyPr/>
          <a:lstStyle/>
          <a:p>
            <a:pPr algn="ctr"/>
            <a:r>
              <a:rPr lang="en-IN" sz="4000" dirty="0">
                <a:solidFill>
                  <a:srgbClr val="002060"/>
                </a:solidFill>
                <a:latin typeface="Times New Roman" panose="02020603050405020304" pitchFamily="18" charset="0"/>
                <a:cs typeface="Times New Roman" panose="02020603050405020304" pitchFamily="18" charset="0"/>
              </a:rPr>
              <a:t>13. Conclusion</a:t>
            </a:r>
          </a:p>
        </p:txBody>
      </p:sp>
      <p:sp>
        <p:nvSpPr>
          <p:cNvPr id="3" name="Subtitle 2">
            <a:extLst>
              <a:ext uri="{FF2B5EF4-FFF2-40B4-BE49-F238E27FC236}">
                <a16:creationId xmlns:a16="http://schemas.microsoft.com/office/drawing/2014/main" id="{38DBD591-B300-4A08-493B-1938F08DAF9F}"/>
              </a:ext>
            </a:extLst>
          </p:cNvPr>
          <p:cNvSpPr>
            <a:spLocks noGrp="1"/>
          </p:cNvSpPr>
          <p:nvPr>
            <p:ph type="subTitle" idx="1"/>
          </p:nvPr>
        </p:nvSpPr>
        <p:spPr>
          <a:xfrm>
            <a:off x="720000" y="1753174"/>
            <a:ext cx="7704000" cy="369300"/>
          </a:xfrm>
        </p:spPr>
        <p:txBody>
          <a:bodyPr/>
          <a:lstStyle/>
          <a:p>
            <a:pPr marL="4953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Hybrid AI model improves disease prediction </a:t>
            </a:r>
          </a:p>
          <a:p>
            <a:pPr marL="4953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Transformer embeddings enhance text analysis </a:t>
            </a:r>
          </a:p>
          <a:p>
            <a:pPr marL="4953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Explainable AI builds trust </a:t>
            </a:r>
          </a:p>
          <a:p>
            <a:pPr marL="4953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Useful for early diagnosis and healthcare improvement </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495300" indent="-342900" algn="l">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pic>
        <p:nvPicPr>
          <p:cNvPr id="4" name="Picture 3" descr="MITS Deemed to be University (Declared under section 3 of UGC Act, 1956 by  Govt. of India-MoE)">
            <a:extLst>
              <a:ext uri="{FF2B5EF4-FFF2-40B4-BE49-F238E27FC236}">
                <a16:creationId xmlns:a16="http://schemas.microsoft.com/office/drawing/2014/main" id="{C7CE1E7F-943E-0EEC-31E5-4C6CE94EB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4948" y="68249"/>
            <a:ext cx="1144577" cy="943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383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79CF46-85DA-BBBC-B874-80DAC3FC5C2E}"/>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262142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156,200+ Black Background Stock Illustrations, Royalty-Free Vector Graphics  &amp; Clip Art - iStock | Black background texture, Portrait black background,  Red and black background">
            <a:extLst>
              <a:ext uri="{FF2B5EF4-FFF2-40B4-BE49-F238E27FC236}">
                <a16:creationId xmlns:a16="http://schemas.microsoft.com/office/drawing/2014/main" id="{C7356DE6-4179-2BD1-C8C9-AA1873CDD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2" y="-38669"/>
            <a:ext cx="9264202" cy="52889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62791E0-54C3-E1E9-9B64-52704798A910}"/>
              </a:ext>
            </a:extLst>
          </p:cNvPr>
          <p:cNvSpPr txBox="1"/>
          <p:nvPr/>
        </p:nvSpPr>
        <p:spPr>
          <a:xfrm>
            <a:off x="2434107" y="1893195"/>
            <a:ext cx="5593724" cy="1107996"/>
          </a:xfrm>
          <a:prstGeom prst="rect">
            <a:avLst/>
          </a:prstGeom>
          <a:noFill/>
        </p:spPr>
        <p:txBody>
          <a:bodyPr wrap="square" rtlCol="0">
            <a:spAutoFit/>
          </a:bodyPr>
          <a:lstStyle/>
          <a:p>
            <a:r>
              <a:rPr lang="en-US" sz="6600" b="1" dirty="0">
                <a:solidFill>
                  <a:schemeClr val="bg1"/>
                </a:solidFill>
                <a:latin typeface="Arial Black" panose="020B0A04020102020204" pitchFamily="34" charset="0"/>
              </a:rPr>
              <a:t>Thank You</a:t>
            </a:r>
            <a:endParaRPr lang="en-IN" sz="6600"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271396414"/>
      </p:ext>
    </p:extLst>
  </p:cSld>
  <p:clrMapOvr>
    <a:masterClrMapping/>
  </p:clrMapOvr>
</p:sld>
</file>

<file path=ppt/theme/theme1.xml><?xml version="1.0" encoding="utf-8"?>
<a:theme xmlns:a="http://schemas.openxmlformats.org/drawingml/2006/main" name="Emerging Therapies in Nephrotic Syndrome by Slidesgo">
  <a:themeElements>
    <a:clrScheme name="Simple Light">
      <a:dk1>
        <a:srgbClr val="1D1D1C"/>
      </a:dk1>
      <a:lt1>
        <a:srgbClr val="FFFFFF"/>
      </a:lt1>
      <a:dk2>
        <a:srgbClr val="4A4A48"/>
      </a:dk2>
      <a:lt2>
        <a:srgbClr val="73736F"/>
      </a:lt2>
      <a:accent1>
        <a:srgbClr val="C4C4BE"/>
      </a:accent1>
      <a:accent2>
        <a:srgbClr val="FFFFFF"/>
      </a:accent2>
      <a:accent3>
        <a:srgbClr val="FFFFFF"/>
      </a:accent3>
      <a:accent4>
        <a:srgbClr val="FFFFFF"/>
      </a:accent4>
      <a:accent5>
        <a:srgbClr val="FFFFFF"/>
      </a:accent5>
      <a:accent6>
        <a:srgbClr val="FFFFFF"/>
      </a:accent6>
      <a:hlink>
        <a:srgbClr val="1D1D1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823</Words>
  <Application>Microsoft Office PowerPoint</Application>
  <PresentationFormat>On-screen Show (16:9)</PresentationFormat>
  <Paragraphs>140</Paragraphs>
  <Slides>25</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Anaheim</vt:lpstr>
      <vt:lpstr>Bebas Neue</vt:lpstr>
      <vt:lpstr>Nunito</vt:lpstr>
      <vt:lpstr>Open Sans Light</vt:lpstr>
      <vt:lpstr>Arial Black</vt:lpstr>
      <vt:lpstr>Times New Roman</vt:lpstr>
      <vt:lpstr>Raleway</vt:lpstr>
      <vt:lpstr>Wingdings</vt:lpstr>
      <vt:lpstr>Nunito Light</vt:lpstr>
      <vt:lpstr>Emerging Therapies in Nephrotic Syndrome by Slidesgo</vt:lpstr>
      <vt:lpstr>Next-Generation Hybrid Deep Learning and Machine Learning Model with Transformer-Based NLP Embeddings for Early Detection of Chronic and Lifestyle-Related Diseases</vt:lpstr>
      <vt:lpstr>Table of contents</vt:lpstr>
      <vt:lpstr>1. Project Domain</vt:lpstr>
      <vt:lpstr>Chronic diseases such as diabetes, heart disease, and hypertension are increasing rapidly and have become a major health concern. Early detection of these diseases is challenging because medical data is often complex and existing systems do not provide personalized analysis for patients. Most traditional models focus only on structured data and tend to ignore important clinical text like medical reports and doctor’s notes. Therefore, there is a need for a more accurate and interpretable system that can combine both structured and unstructured data using a hybrid prediction model for better early detection.</vt:lpstr>
      <vt:lpstr>3. Objectives</vt:lpstr>
      <vt:lpstr>4.Literature Survey</vt:lpstr>
      <vt:lpstr>4.Literature Survey</vt:lpstr>
      <vt:lpstr>4.Literature Survey</vt:lpstr>
      <vt:lpstr>5. System Architecture </vt:lpstr>
      <vt:lpstr>5. System Architecture</vt:lpstr>
      <vt:lpstr>6. Proposed Methodology  </vt:lpstr>
      <vt:lpstr>6. Proposed Methodology </vt:lpstr>
      <vt:lpstr>7. Tools &amp; Technologies</vt:lpstr>
      <vt:lpstr>8. ER Diagram</vt:lpstr>
      <vt:lpstr>8. ER Diagram</vt:lpstr>
      <vt:lpstr>9. UML Diagram</vt:lpstr>
      <vt:lpstr>PowerPoint Presentation</vt:lpstr>
      <vt:lpstr>10. DFD Diagram (Level 0)</vt:lpstr>
      <vt:lpstr>PowerPoint Presentation</vt:lpstr>
      <vt:lpstr>10. DFD Diagram</vt:lpstr>
      <vt:lpstr>11. Software Requirement Specification</vt:lpstr>
      <vt:lpstr>12. Future Work Timeline</vt:lpstr>
      <vt:lpstr>13. 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Neeharika Reddy G</dc:creator>
  <cp:lastModifiedBy>Neeharika Reddy Gadikota</cp:lastModifiedBy>
  <cp:revision>3</cp:revision>
  <dcterms:modified xsi:type="dcterms:W3CDTF">2026-03-28T08:12:58Z</dcterms:modified>
</cp:coreProperties>
</file>